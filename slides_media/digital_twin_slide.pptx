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from one real recorded pass: the scanned building, our real robots and sensor mounts, the trajectories they drove, and the Wi-Fi link we measured. The digital twin in Isaac Sim keeps all of that real and lets us change one thing at a time: the comms (latency, loss, bursts, bandwidth), sensor dropouts, where the poses come from (ground truth, noisy, or a SLAM algorithm's output), people and furniture, robot paths, and sensor models. Each setting is a scenario that comes with sensor data from every robot, ground-truth boxes for free, and the link per frame, so we can make as many training scenarios as we want. The models are then tested on a held-out real recording with its own measured link. Built today: comms, people and objects, robot paths, sensor models. Planned: sensor dropouts, SLAM as the pose source, and the training step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09AD8"/>
          </a:solidFill>
          <a:ln w="12700">
            <a:solidFill>
              <a:srgbClr val="009AD8"/>
            </a:solidFill>
            <a:prstDash val="solid"/>
          </a:ln>
        </p:spPr>
      </p:sp>
      <p:sp>
        <p:nvSpPr>
          <p:cNvPr id="3" name="band strip"/>
          <p:cNvSpPr/>
          <p:nvPr/>
        </p:nvSpPr>
        <p:spPr>
          <a:xfrm>
            <a:off x="0" y="621792"/>
            <a:ext cx="9144000" cy="54864"/>
          </a:xfrm>
          <a:prstGeom prst="rect">
            <a:avLst/>
          </a:prstGeom>
          <a:solidFill>
            <a:srgbClr val="5EC4EB"/>
          </a:solidFill>
          <a:ln w="12700">
            <a:solidFill>
              <a:srgbClr val="5EC4EB"/>
            </a:solidFill>
            <a:prstDash val="solid"/>
          </a:ln>
        </p:spPr>
      </p:sp>
      <p:sp>
        <p:nvSpPr>
          <p:cNvPr id="4" name="band strip 2"/>
          <p:cNvSpPr/>
          <p:nvPr/>
        </p:nvSpPr>
        <p:spPr>
          <a:xfrm>
            <a:off x="0" y="676656"/>
            <a:ext cx="9144000" cy="54864"/>
          </a:xfrm>
          <a:prstGeom prst="rect">
            <a:avLst/>
          </a:prstGeom>
          <a:solidFill>
            <a:srgbClr val="D9F1FB"/>
          </a:solidFill>
          <a:ln w="12700">
            <a:solidFill>
              <a:srgbClr val="D9F1FB"/>
            </a:solidFill>
            <a:prstDash val="solid"/>
          </a:ln>
        </p:spPr>
      </p:sp>
      <p:sp>
        <p:nvSpPr>
          <p:cNvPr id="5" name="title"/>
          <p:cNvSpPr txBox="1"/>
          <p:nvPr/>
        </p:nvSpPr>
        <p:spPr>
          <a:xfrm>
            <a:off x="274320" y="36576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 from Real Data</a:t>
            </a:r>
            <a:endParaRPr lang="en-US" sz="2800" dirty="0"/>
          </a:p>
        </p:txBody>
      </p:sp>
      <p:sp>
        <p:nvSpPr>
          <p:cNvPr id="6" name="page"/>
          <p:cNvSpPr txBox="1"/>
          <p:nvPr/>
        </p:nvSpPr>
        <p:spPr>
          <a:xfrm>
            <a:off x="8138160" y="48280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2/40</a:t>
            </a:r>
            <a:endParaRPr lang="en-US" sz="1200" dirty="0"/>
          </a:p>
        </p:txBody>
      </p:sp>
      <p:sp>
        <p:nvSpPr>
          <p:cNvPr id="7" name="real data shadow"/>
          <p:cNvSpPr/>
          <p:nvPr/>
        </p:nvSpPr>
        <p:spPr>
          <a:xfrm>
            <a:off x="585216" y="905256"/>
            <a:ext cx="8183880" cy="731520"/>
          </a:xfrm>
          <a:prstGeom prst="roundRect">
            <a:avLst>
              <a:gd name="adj" fmla="val 10000"/>
            </a:avLst>
          </a:prstGeom>
          <a:solidFill>
            <a:srgbClr val="DADCE0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" name="real data"/>
          <p:cNvSpPr/>
          <p:nvPr/>
        </p:nvSpPr>
        <p:spPr>
          <a:xfrm>
            <a:off x="548640" y="868680"/>
            <a:ext cx="8183880" cy="731520"/>
          </a:xfrm>
          <a:prstGeom prst="roundRect">
            <a:avLst>
              <a:gd name="adj" fmla="val 10000"/>
            </a:avLst>
          </a:prstGeom>
          <a:solidFill>
            <a:srgbClr val="E9EAEC"/>
          </a:solidFill>
          <a:ln w="12700">
            <a:solidFill>
              <a:srgbClr val="B9BEC6"/>
            </a:solidFill>
            <a:prstDash val="solid"/>
          </a:ln>
        </p:spPr>
      </p:sp>
      <p:sp>
        <p:nvSpPr>
          <p:cNvPr id="9" name="real data title"/>
          <p:cNvSpPr txBox="1"/>
          <p:nvPr/>
        </p:nvSpPr>
        <p:spPr>
          <a:xfrm>
            <a:off x="685800" y="9144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Real data</a:t>
            </a:r>
            <a:pPr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one recorded pass</a:t>
            </a:r>
            <a:endParaRPr lang="en-US" sz="1300" dirty="0"/>
          </a:p>
        </p:txBody>
      </p:sp>
      <p:sp>
        <p:nvSpPr>
          <p:cNvPr id="10" name="real item 1"/>
          <p:cNvSpPr/>
          <p:nvPr/>
        </p:nvSpPr>
        <p:spPr>
          <a:xfrm>
            <a:off x="685800" y="1179576"/>
            <a:ext cx="190881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1430">
            <a:solidFill>
              <a:srgbClr val="B9BEC6"/>
            </a:solidFill>
            <a:prstDash val="solid"/>
          </a:ln>
        </p:spPr>
      </p:sp>
      <p:sp>
        <p:nvSpPr>
          <p:cNvPr id="11" name="real dot 1"/>
          <p:cNvSpPr/>
          <p:nvPr/>
        </p:nvSpPr>
        <p:spPr>
          <a:xfrm>
            <a:off x="777240" y="1303020"/>
            <a:ext cx="100584" cy="100584"/>
          </a:xfrm>
          <a:prstGeom prst="ellipse">
            <a:avLst/>
          </a:prstGeom>
          <a:solidFill>
            <a:srgbClr val="C2571A"/>
          </a:solidFill>
          <a:ln w="15875">
            <a:solidFill>
              <a:srgbClr val="C2571A"/>
            </a:solidFill>
            <a:prstDash val="solid"/>
          </a:ln>
        </p:spPr>
      </p:sp>
      <p:sp>
        <p:nvSpPr>
          <p:cNvPr id="12" name="real item text 1"/>
          <p:cNvSpPr txBox="1"/>
          <p:nvPr/>
        </p:nvSpPr>
        <p:spPr>
          <a:xfrm>
            <a:off x="941832" y="1197864"/>
            <a:ext cx="16162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Scanned building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map, cm-level</a:t>
            </a:r>
            <a:endParaRPr lang="en-US" sz="1050" dirty="0"/>
          </a:p>
        </p:txBody>
      </p:sp>
      <p:sp>
        <p:nvSpPr>
          <p:cNvPr id="13" name="real item 2"/>
          <p:cNvSpPr/>
          <p:nvPr/>
        </p:nvSpPr>
        <p:spPr>
          <a:xfrm>
            <a:off x="2686050" y="1179576"/>
            <a:ext cx="190881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1430">
            <a:solidFill>
              <a:srgbClr val="B9BEC6"/>
            </a:solidFill>
            <a:prstDash val="solid"/>
          </a:ln>
        </p:spPr>
      </p:sp>
      <p:sp>
        <p:nvSpPr>
          <p:cNvPr id="14" name="real dot 2"/>
          <p:cNvSpPr/>
          <p:nvPr/>
        </p:nvSpPr>
        <p:spPr>
          <a:xfrm>
            <a:off x="2777490" y="1303020"/>
            <a:ext cx="100584" cy="100584"/>
          </a:xfrm>
          <a:prstGeom prst="ellipse">
            <a:avLst/>
          </a:prstGeom>
          <a:solidFill>
            <a:srgbClr val="C2571A"/>
          </a:solidFill>
          <a:ln w="15875">
            <a:solidFill>
              <a:srgbClr val="C2571A"/>
            </a:solidFill>
            <a:prstDash val="solid"/>
          </a:ln>
        </p:spPr>
      </p:sp>
      <p:sp>
        <p:nvSpPr>
          <p:cNvPr id="15" name="real item text 2"/>
          <p:cNvSpPr txBox="1"/>
          <p:nvPr/>
        </p:nvSpPr>
        <p:spPr>
          <a:xfrm>
            <a:off x="2942082" y="1197864"/>
            <a:ext cx="16162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Robots and sensors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LiDARs, cameras, mounts</a:t>
            </a:r>
            <a:endParaRPr lang="en-US" sz="1050" dirty="0"/>
          </a:p>
        </p:txBody>
      </p:sp>
      <p:sp>
        <p:nvSpPr>
          <p:cNvPr id="16" name="real item 3"/>
          <p:cNvSpPr/>
          <p:nvPr/>
        </p:nvSpPr>
        <p:spPr>
          <a:xfrm>
            <a:off x="4686300" y="1179576"/>
            <a:ext cx="190881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1430">
            <a:solidFill>
              <a:srgbClr val="B9BEC6"/>
            </a:solidFill>
            <a:prstDash val="solid"/>
          </a:ln>
        </p:spPr>
      </p:sp>
      <p:sp>
        <p:nvSpPr>
          <p:cNvPr id="17" name="real dot 3"/>
          <p:cNvSpPr/>
          <p:nvPr/>
        </p:nvSpPr>
        <p:spPr>
          <a:xfrm>
            <a:off x="4777740" y="1303020"/>
            <a:ext cx="100584" cy="100584"/>
          </a:xfrm>
          <a:prstGeom prst="ellipse">
            <a:avLst/>
          </a:prstGeom>
          <a:solidFill>
            <a:srgbClr val="C2571A"/>
          </a:solidFill>
          <a:ln w="15875">
            <a:solidFill>
              <a:srgbClr val="C2571A"/>
            </a:solidFill>
            <a:prstDash val="solid"/>
          </a:ln>
        </p:spPr>
      </p:sp>
      <p:sp>
        <p:nvSpPr>
          <p:cNvPr id="18" name="real item text 3"/>
          <p:cNvSpPr txBox="1"/>
          <p:nvPr/>
        </p:nvSpPr>
        <p:spPr>
          <a:xfrm>
            <a:off x="4942332" y="1197864"/>
            <a:ext cx="16162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trajectories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robots drove</a:t>
            </a:r>
            <a:endParaRPr lang="en-US" sz="1050" dirty="0"/>
          </a:p>
        </p:txBody>
      </p:sp>
      <p:sp>
        <p:nvSpPr>
          <p:cNvPr id="19" name="real item 4"/>
          <p:cNvSpPr/>
          <p:nvPr/>
        </p:nvSpPr>
        <p:spPr>
          <a:xfrm>
            <a:off x="6686550" y="1179576"/>
            <a:ext cx="190881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1430">
            <a:solidFill>
              <a:srgbClr val="B9BEC6"/>
            </a:solidFill>
            <a:prstDash val="solid"/>
          </a:ln>
        </p:spPr>
      </p:sp>
      <p:sp>
        <p:nvSpPr>
          <p:cNvPr id="20" name="real dot 4"/>
          <p:cNvSpPr/>
          <p:nvPr/>
        </p:nvSpPr>
        <p:spPr>
          <a:xfrm>
            <a:off x="6777990" y="1303020"/>
            <a:ext cx="100584" cy="100584"/>
          </a:xfrm>
          <a:prstGeom prst="ellipse">
            <a:avLst/>
          </a:prstGeom>
          <a:solidFill>
            <a:srgbClr val="C2571A"/>
          </a:solidFill>
          <a:ln w="15875">
            <a:solidFill>
              <a:srgbClr val="C2571A"/>
            </a:solidFill>
            <a:prstDash val="solid"/>
          </a:ln>
        </p:spPr>
      </p:sp>
      <p:sp>
        <p:nvSpPr>
          <p:cNvPr id="21" name="real item text 4"/>
          <p:cNvSpPr txBox="1"/>
          <p:nvPr/>
        </p:nvSpPr>
        <p:spPr>
          <a:xfrm>
            <a:off x="6942582" y="1197864"/>
            <a:ext cx="16162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Wi-Fi link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RTT, goodput, outages</a:t>
            </a:r>
            <a:endParaRPr lang="en-US" sz="1050" dirty="0"/>
          </a:p>
        </p:txBody>
      </p:sp>
      <p:sp>
        <p:nvSpPr>
          <p:cNvPr id="22" name="digital twin shadow"/>
          <p:cNvSpPr/>
          <p:nvPr/>
        </p:nvSpPr>
        <p:spPr>
          <a:xfrm>
            <a:off x="585216" y="1773936"/>
            <a:ext cx="8183880" cy="1783080"/>
          </a:xfrm>
          <a:prstGeom prst="roundRect">
            <a:avLst>
              <a:gd name="adj" fmla="val 4103"/>
            </a:avLst>
          </a:prstGeom>
          <a:solidFill>
            <a:srgbClr val="F1E1C2"/>
          </a:solidFill>
          <a:ln w="12700">
            <a:solidFill>
              <a:srgbClr val="F1E1C2"/>
            </a:solidFill>
            <a:prstDash val="solid"/>
          </a:ln>
        </p:spPr>
      </p:sp>
      <p:sp>
        <p:nvSpPr>
          <p:cNvPr id="23" name="digital twin"/>
          <p:cNvSpPr/>
          <p:nvPr/>
        </p:nvSpPr>
        <p:spPr>
          <a:xfrm>
            <a:off x="548640" y="1737360"/>
            <a:ext cx="8183880" cy="1783080"/>
          </a:xfrm>
          <a:prstGeom prst="roundRect">
            <a:avLst>
              <a:gd name="adj" fmla="val 4103"/>
            </a:avLst>
          </a:prstGeom>
          <a:solidFill>
            <a:srgbClr val="FBEFD9"/>
          </a:solidFill>
          <a:ln w="12700">
            <a:solidFill>
              <a:srgbClr val="E2C58E"/>
            </a:solidFill>
            <a:prstDash val="solid"/>
          </a:ln>
        </p:spPr>
      </p:sp>
      <p:sp>
        <p:nvSpPr>
          <p:cNvPr id="24" name="digital twin title"/>
          <p:cNvSpPr txBox="1"/>
          <p:nvPr/>
        </p:nvSpPr>
        <p:spPr>
          <a:xfrm>
            <a:off x="685800" y="1783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Digital Twin · Isaac Sim</a:t>
            </a:r>
            <a:pPr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change what you want, keep the rest real</a:t>
            </a:r>
            <a:endParaRPr lang="en-US" sz="1300" dirty="0"/>
          </a:p>
        </p:txBody>
      </p:sp>
      <p:sp>
        <p:nvSpPr>
          <p:cNvPr id="25" name="knob Comms"/>
          <p:cNvSpPr/>
          <p:nvPr/>
        </p:nvSpPr>
        <p:spPr>
          <a:xfrm>
            <a:off x="685800" y="2084832"/>
            <a:ext cx="157276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E2C58E"/>
            </a:solidFill>
            <a:prstDash val="solid"/>
          </a:ln>
        </p:spPr>
      </p:sp>
      <p:sp>
        <p:nvSpPr>
          <p:cNvPr id="26" name="knob dot Comms"/>
          <p:cNvSpPr/>
          <p:nvPr/>
        </p:nvSpPr>
        <p:spPr>
          <a:xfrm>
            <a:off x="777240" y="2194560"/>
            <a:ext cx="100584" cy="100584"/>
          </a:xfrm>
          <a:prstGeom prst="ellipse">
            <a:avLst/>
          </a:prstGeom>
          <a:solidFill>
            <a:srgbClr val="C2571A"/>
          </a:solidFill>
          <a:ln w="15875">
            <a:solidFill>
              <a:srgbClr val="C2571A"/>
            </a:solidFill>
            <a:prstDash val="solid"/>
          </a:ln>
        </p:spPr>
      </p:sp>
      <p:sp>
        <p:nvSpPr>
          <p:cNvPr id="27" name="knob title Comms"/>
          <p:cNvSpPr txBox="1"/>
          <p:nvPr/>
        </p:nvSpPr>
        <p:spPr>
          <a:xfrm>
            <a:off x="932688" y="2130552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Comms</a:t>
            </a:r>
            <a:endParaRPr lang="en-US" sz="1050" dirty="0"/>
          </a:p>
        </p:txBody>
      </p:sp>
      <p:sp>
        <p:nvSpPr>
          <p:cNvPr id="28" name="knob text Comms"/>
          <p:cNvSpPr txBox="1"/>
          <p:nvPr/>
        </p:nvSpPr>
        <p:spPr>
          <a:xfrm>
            <a:off x="777240" y="2359152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latency · loss · bandwidth</a:t>
            </a:r>
            <a:endParaRPr lang="en-US" sz="900" dirty="0"/>
          </a:p>
        </p:txBody>
      </p:sp>
      <p:sp>
        <p:nvSpPr>
          <p:cNvPr id="29" name="knob Sensor dropouts"/>
          <p:cNvSpPr/>
          <p:nvPr/>
        </p:nvSpPr>
        <p:spPr>
          <a:xfrm>
            <a:off x="2331720" y="2084832"/>
            <a:ext cx="157276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E2C58E"/>
            </a:solidFill>
            <a:prstDash val="solid"/>
          </a:ln>
        </p:spPr>
      </p:sp>
      <p:sp>
        <p:nvSpPr>
          <p:cNvPr id="30" name="knob dot Sensor dropouts"/>
          <p:cNvSpPr/>
          <p:nvPr/>
        </p:nvSpPr>
        <p:spPr>
          <a:xfrm>
            <a:off x="2423160" y="219456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2571A"/>
            </a:solidFill>
            <a:prstDash val="solid"/>
          </a:ln>
        </p:spPr>
      </p:sp>
      <p:sp>
        <p:nvSpPr>
          <p:cNvPr id="31" name="knob title Sensor dropouts"/>
          <p:cNvSpPr txBox="1"/>
          <p:nvPr/>
        </p:nvSpPr>
        <p:spPr>
          <a:xfrm>
            <a:off x="2578608" y="2130552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dropouts</a:t>
            </a:r>
            <a:endParaRPr lang="en-US" sz="1050" dirty="0"/>
          </a:p>
        </p:txBody>
      </p:sp>
      <p:sp>
        <p:nvSpPr>
          <p:cNvPr id="32" name="knob text Sensor dropouts"/>
          <p:cNvSpPr txBox="1"/>
          <p:nvPr/>
        </p:nvSpPr>
        <p:spPr>
          <a:xfrm>
            <a:off x="2423160" y="2359152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or camera off</a:t>
            </a:r>
            <a:endParaRPr lang="en-US" sz="900" dirty="0"/>
          </a:p>
        </p:txBody>
      </p:sp>
      <p:sp>
        <p:nvSpPr>
          <p:cNvPr id="33" name="knob Pose source"/>
          <p:cNvSpPr/>
          <p:nvPr/>
        </p:nvSpPr>
        <p:spPr>
          <a:xfrm>
            <a:off x="3977640" y="2084832"/>
            <a:ext cx="157276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E2C58E"/>
            </a:solidFill>
            <a:prstDash val="solid"/>
          </a:ln>
        </p:spPr>
      </p:sp>
      <p:sp>
        <p:nvSpPr>
          <p:cNvPr id="34" name="knob dot Pose source"/>
          <p:cNvSpPr/>
          <p:nvPr/>
        </p:nvSpPr>
        <p:spPr>
          <a:xfrm>
            <a:off x="4069080" y="219456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2571A"/>
            </a:solidFill>
            <a:prstDash val="solid"/>
          </a:ln>
        </p:spPr>
      </p:sp>
      <p:sp>
        <p:nvSpPr>
          <p:cNvPr id="35" name="knob title Pose source"/>
          <p:cNvSpPr txBox="1"/>
          <p:nvPr/>
        </p:nvSpPr>
        <p:spPr>
          <a:xfrm>
            <a:off x="4224528" y="2130552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source</a:t>
            </a:r>
            <a:endParaRPr lang="en-US" sz="1050" dirty="0"/>
          </a:p>
        </p:txBody>
      </p:sp>
      <p:sp>
        <p:nvSpPr>
          <p:cNvPr id="36" name="knob text Pose source"/>
          <p:cNvSpPr txBox="1"/>
          <p:nvPr/>
        </p:nvSpPr>
        <p:spPr>
          <a:xfrm>
            <a:off x="4069080" y="2359152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truth · noisy · SLAM</a:t>
            </a:r>
            <a:endParaRPr lang="en-US" sz="900" dirty="0"/>
          </a:p>
        </p:txBody>
      </p:sp>
      <p:sp>
        <p:nvSpPr>
          <p:cNvPr id="37" name="knob People and objects"/>
          <p:cNvSpPr/>
          <p:nvPr/>
        </p:nvSpPr>
        <p:spPr>
          <a:xfrm>
            <a:off x="685800" y="2706624"/>
            <a:ext cx="157276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E2C58E"/>
            </a:solidFill>
            <a:prstDash val="solid"/>
          </a:ln>
        </p:spPr>
      </p:sp>
      <p:sp>
        <p:nvSpPr>
          <p:cNvPr id="38" name="knob dot People and objects"/>
          <p:cNvSpPr/>
          <p:nvPr/>
        </p:nvSpPr>
        <p:spPr>
          <a:xfrm>
            <a:off x="777240" y="2816352"/>
            <a:ext cx="100584" cy="100584"/>
          </a:xfrm>
          <a:prstGeom prst="ellipse">
            <a:avLst/>
          </a:prstGeom>
          <a:solidFill>
            <a:srgbClr val="C2571A"/>
          </a:solidFill>
          <a:ln w="15875">
            <a:solidFill>
              <a:srgbClr val="C2571A"/>
            </a:solidFill>
            <a:prstDash val="solid"/>
          </a:ln>
        </p:spPr>
      </p:sp>
      <p:sp>
        <p:nvSpPr>
          <p:cNvPr id="39" name="knob title People and objects"/>
          <p:cNvSpPr txBox="1"/>
          <p:nvPr/>
        </p:nvSpPr>
        <p:spPr>
          <a:xfrm>
            <a:off x="932688" y="2752344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and objects</a:t>
            </a:r>
            <a:endParaRPr lang="en-US" sz="1050" dirty="0"/>
          </a:p>
        </p:txBody>
      </p:sp>
      <p:sp>
        <p:nvSpPr>
          <p:cNvPr id="40" name="knob text People and objects"/>
          <p:cNvSpPr txBox="1"/>
          <p:nvPr/>
        </p:nvSpPr>
        <p:spPr>
          <a:xfrm>
            <a:off x="777240" y="2980944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walkers · furniture</a:t>
            </a:r>
            <a:endParaRPr lang="en-US" sz="900" dirty="0"/>
          </a:p>
        </p:txBody>
      </p:sp>
      <p:sp>
        <p:nvSpPr>
          <p:cNvPr id="41" name="knob Robot paths"/>
          <p:cNvSpPr/>
          <p:nvPr/>
        </p:nvSpPr>
        <p:spPr>
          <a:xfrm>
            <a:off x="2331720" y="2706624"/>
            <a:ext cx="157276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E2C58E"/>
            </a:solidFill>
            <a:prstDash val="solid"/>
          </a:ln>
        </p:spPr>
      </p:sp>
      <p:sp>
        <p:nvSpPr>
          <p:cNvPr id="42" name="knob dot Robot paths"/>
          <p:cNvSpPr/>
          <p:nvPr/>
        </p:nvSpPr>
        <p:spPr>
          <a:xfrm>
            <a:off x="2423160" y="2816352"/>
            <a:ext cx="100584" cy="100584"/>
          </a:xfrm>
          <a:prstGeom prst="ellipse">
            <a:avLst/>
          </a:prstGeom>
          <a:solidFill>
            <a:srgbClr val="C2571A"/>
          </a:solidFill>
          <a:ln w="15875">
            <a:solidFill>
              <a:srgbClr val="C2571A"/>
            </a:solidFill>
            <a:prstDash val="solid"/>
          </a:ln>
        </p:spPr>
      </p:sp>
      <p:sp>
        <p:nvSpPr>
          <p:cNvPr id="43" name="knob title Robot paths"/>
          <p:cNvSpPr txBox="1"/>
          <p:nvPr/>
        </p:nvSpPr>
        <p:spPr>
          <a:xfrm>
            <a:off x="2578608" y="2752344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Robot paths</a:t>
            </a:r>
            <a:endParaRPr lang="en-US" sz="1050" dirty="0"/>
          </a:p>
        </p:txBody>
      </p:sp>
      <p:sp>
        <p:nvSpPr>
          <p:cNvPr id="44" name="knob text Robot paths"/>
          <p:cNvSpPr txBox="1"/>
          <p:nvPr/>
        </p:nvSpPr>
        <p:spPr>
          <a:xfrm>
            <a:off x="2423160" y="2980944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routes · speed</a:t>
            </a:r>
            <a:endParaRPr lang="en-US" sz="900" dirty="0"/>
          </a:p>
        </p:txBody>
      </p:sp>
      <p:sp>
        <p:nvSpPr>
          <p:cNvPr id="45" name="knob Sensor models"/>
          <p:cNvSpPr/>
          <p:nvPr/>
        </p:nvSpPr>
        <p:spPr>
          <a:xfrm>
            <a:off x="3977640" y="2706624"/>
            <a:ext cx="1572768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E2C58E"/>
            </a:solidFill>
            <a:prstDash val="solid"/>
          </a:ln>
        </p:spPr>
      </p:sp>
      <p:sp>
        <p:nvSpPr>
          <p:cNvPr id="46" name="knob dot Sensor models"/>
          <p:cNvSpPr/>
          <p:nvPr/>
        </p:nvSpPr>
        <p:spPr>
          <a:xfrm>
            <a:off x="4069080" y="2816352"/>
            <a:ext cx="100584" cy="100584"/>
          </a:xfrm>
          <a:prstGeom prst="ellipse">
            <a:avLst/>
          </a:prstGeom>
          <a:solidFill>
            <a:srgbClr val="C2571A"/>
          </a:solidFill>
          <a:ln w="15875">
            <a:solidFill>
              <a:srgbClr val="C2571A"/>
            </a:solidFill>
            <a:prstDash val="solid"/>
          </a:ln>
        </p:spPr>
      </p:sp>
      <p:sp>
        <p:nvSpPr>
          <p:cNvPr id="47" name="knob title Sensor models"/>
          <p:cNvSpPr txBox="1"/>
          <p:nvPr/>
        </p:nvSpPr>
        <p:spPr>
          <a:xfrm>
            <a:off x="4224528" y="2752344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 models</a:t>
            </a:r>
            <a:endParaRPr lang="en-US" sz="1050" dirty="0"/>
          </a:p>
        </p:txBody>
      </p:sp>
      <p:sp>
        <p:nvSpPr>
          <p:cNvPr id="48" name="knob text Sensor models"/>
          <p:cNvSpPr txBox="1"/>
          <p:nvPr/>
        </p:nvSpPr>
        <p:spPr>
          <a:xfrm>
            <a:off x="4069080" y="2980944"/>
            <a:ext cx="14356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beams · resolution</a:t>
            </a:r>
            <a:endParaRPr lang="en-US" sz="900" dirty="0"/>
          </a:p>
        </p:txBody>
      </p:sp>
      <p:sp>
        <p:nvSpPr>
          <p:cNvPr id="49" name="legend built dot"/>
          <p:cNvSpPr/>
          <p:nvPr/>
        </p:nvSpPr>
        <p:spPr>
          <a:xfrm>
            <a:off x="704088" y="3291840"/>
            <a:ext cx="100584" cy="100584"/>
          </a:xfrm>
          <a:prstGeom prst="ellipse">
            <a:avLst/>
          </a:prstGeom>
          <a:solidFill>
            <a:srgbClr val="C2571A"/>
          </a:solidFill>
          <a:ln w="15875">
            <a:solidFill>
              <a:srgbClr val="C2571A"/>
            </a:solidFill>
            <a:prstDash val="solid"/>
          </a:ln>
        </p:spPr>
      </p:sp>
      <p:sp>
        <p:nvSpPr>
          <p:cNvPr id="50" name="legend built"/>
          <p:cNvSpPr txBox="1"/>
          <p:nvPr/>
        </p:nvSpPr>
        <p:spPr>
          <a:xfrm>
            <a:off x="850392" y="3236976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endParaRPr lang="en-US" sz="900" dirty="0"/>
          </a:p>
        </p:txBody>
      </p:sp>
      <p:sp>
        <p:nvSpPr>
          <p:cNvPr id="51" name="legend planned dot"/>
          <p:cNvSpPr/>
          <p:nvPr/>
        </p:nvSpPr>
        <p:spPr>
          <a:xfrm>
            <a:off x="1280160" y="329184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2571A"/>
            </a:solidFill>
            <a:prstDash val="solid"/>
          </a:ln>
        </p:spPr>
      </p:sp>
      <p:sp>
        <p:nvSpPr>
          <p:cNvPr id="52" name="legend planned"/>
          <p:cNvSpPr txBox="1"/>
          <p:nvPr/>
        </p:nvSpPr>
        <p:spPr>
          <a:xfrm>
            <a:off x="1426464" y="3236976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900" dirty="0"/>
          </a:p>
        </p:txBody>
      </p:sp>
      <p:sp>
        <p:nvSpPr>
          <p:cNvPr id="53" name="scenario card 3"/>
          <p:cNvSpPr/>
          <p:nvPr/>
        </p:nvSpPr>
        <p:spPr>
          <a:xfrm>
            <a:off x="5824728" y="2194560"/>
            <a:ext cx="2633472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1430">
            <a:solidFill>
              <a:srgbClr val="E2C58E"/>
            </a:solidFill>
            <a:prstDash val="solid"/>
          </a:ln>
        </p:spPr>
      </p:sp>
      <p:sp>
        <p:nvSpPr>
          <p:cNvPr id="54" name="scenario card 2"/>
          <p:cNvSpPr/>
          <p:nvPr/>
        </p:nvSpPr>
        <p:spPr>
          <a:xfrm>
            <a:off x="5769864" y="2139696"/>
            <a:ext cx="2633472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1430">
            <a:solidFill>
              <a:srgbClr val="E2C58E"/>
            </a:solidFill>
            <a:prstDash val="solid"/>
          </a:ln>
        </p:spPr>
      </p:sp>
      <p:sp>
        <p:nvSpPr>
          <p:cNvPr id="55" name="scenario card 1"/>
          <p:cNvSpPr/>
          <p:nvPr/>
        </p:nvSpPr>
        <p:spPr>
          <a:xfrm>
            <a:off x="5715000" y="2084832"/>
            <a:ext cx="2633472" cy="1078992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11430">
            <a:solidFill>
              <a:srgbClr val="E2C58E"/>
            </a:solidFill>
            <a:prstDash val="solid"/>
          </a:ln>
        </p:spPr>
      </p:sp>
      <p:sp>
        <p:nvSpPr>
          <p:cNvPr id="56" name="scenario title"/>
          <p:cNvSpPr txBox="1"/>
          <p:nvPr/>
        </p:nvSpPr>
        <p:spPr>
          <a:xfrm>
            <a:off x="5852160" y="213969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1</a:t>
            </a:r>
            <a:endParaRPr lang="en-US" sz="1200" dirty="0"/>
          </a:p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people · 30% loss · camera off · SLAM poses</a:t>
            </a:r>
            <a:endParaRPr lang="en-US" sz="1200" dirty="0"/>
          </a:p>
        </p:txBody>
      </p:sp>
      <p:sp>
        <p:nvSpPr>
          <p:cNvPr id="57" name="scenario check 1"/>
          <p:cNvSpPr txBox="1"/>
          <p:nvPr/>
        </p:nvSpPr>
        <p:spPr>
          <a:xfrm>
            <a:off x="5852160" y="256032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+ camera data</a:t>
            </a:r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every robot</a:t>
            </a:r>
            <a:endParaRPr lang="en-US" sz="950" dirty="0"/>
          </a:p>
        </p:txBody>
      </p:sp>
      <p:sp>
        <p:nvSpPr>
          <p:cNvPr id="58" name="scenario check 2"/>
          <p:cNvSpPr txBox="1"/>
          <p:nvPr/>
        </p:nvSpPr>
        <p:spPr>
          <a:xfrm>
            <a:off x="5852160" y="274320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Ground-truth boxes</a:t>
            </a:r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every frame, free</a:t>
            </a:r>
            <a:endParaRPr lang="en-US" sz="950" dirty="0"/>
          </a:p>
        </p:txBody>
      </p:sp>
      <p:sp>
        <p:nvSpPr>
          <p:cNvPr id="59" name="scenario check 3"/>
          <p:cNvSpPr txBox="1"/>
          <p:nvPr/>
        </p:nvSpPr>
        <p:spPr>
          <a:xfrm>
            <a:off x="5852160" y="29260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per frame</a:t>
            </a:r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measured or tuned</a:t>
            </a:r>
            <a:endParaRPr lang="en-US" sz="950" dirty="0"/>
          </a:p>
        </p:txBody>
      </p:sp>
      <p:sp>
        <p:nvSpPr>
          <p:cNvPr id="60" name="n scenarios"/>
          <p:cNvSpPr txBox="1"/>
          <p:nvPr/>
        </p:nvSpPr>
        <p:spPr>
          <a:xfrm>
            <a:off x="6903720" y="3218688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257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 N scenarios</a:t>
            </a:r>
            <a:endParaRPr lang="en-US" sz="1300" dirty="0"/>
          </a:p>
        </p:txBody>
      </p:sp>
      <p:sp>
        <p:nvSpPr>
          <p:cNvPr id="61" name="train shadow"/>
          <p:cNvSpPr/>
          <p:nvPr/>
        </p:nvSpPr>
        <p:spPr>
          <a:xfrm>
            <a:off x="585216" y="3694176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CCDAEE"/>
          </a:solidFill>
          <a:ln w="12700">
            <a:solidFill>
              <a:srgbClr val="CCDAEE"/>
            </a:solidFill>
            <a:prstDash val="solid"/>
          </a:ln>
        </p:spPr>
      </p:sp>
      <p:sp>
        <p:nvSpPr>
          <p:cNvPr id="62" name="train"/>
          <p:cNvSpPr/>
          <p:nvPr/>
        </p:nvSpPr>
        <p:spPr>
          <a:xfrm>
            <a:off x="548640" y="3657600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DDE8F6"/>
          </a:solidFill>
          <a:ln w="12700">
            <a:solidFill>
              <a:srgbClr val="9DB7DD"/>
            </a:solidFill>
            <a:prstDash val="solid"/>
          </a:ln>
        </p:spPr>
      </p:sp>
      <p:sp>
        <p:nvSpPr>
          <p:cNvPr id="63" name="train text"/>
          <p:cNvSpPr txBox="1"/>
          <p:nvPr/>
        </p:nvSpPr>
        <p:spPr>
          <a:xfrm>
            <a:off x="685800" y="3657600"/>
            <a:ext cx="6995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Train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collaborative perception models on digital-twin scenarios built from real data</a:t>
            </a:r>
            <a:endParaRPr lang="en-US" sz="1300" dirty="0"/>
          </a:p>
        </p:txBody>
      </p:sp>
      <p:sp>
        <p:nvSpPr>
          <p:cNvPr id="64" name="train status"/>
          <p:cNvSpPr txBox="1"/>
          <p:nvPr/>
        </p:nvSpPr>
        <p:spPr>
          <a:xfrm>
            <a:off x="7680960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</a:t>
            </a:r>
            <a:endParaRPr lang="en-US" sz="950" dirty="0"/>
          </a:p>
        </p:txBody>
      </p:sp>
      <p:sp>
        <p:nvSpPr>
          <p:cNvPr id="65" name="test on real shadow"/>
          <p:cNvSpPr/>
          <p:nvPr/>
        </p:nvSpPr>
        <p:spPr>
          <a:xfrm>
            <a:off x="585216" y="4288536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CDE5D3"/>
          </a:solidFill>
          <a:ln w="12700">
            <a:solidFill>
              <a:srgbClr val="CDE5D3"/>
            </a:solidFill>
            <a:prstDash val="solid"/>
          </a:ln>
        </p:spPr>
      </p:sp>
      <p:sp>
        <p:nvSpPr>
          <p:cNvPr id="66" name="test on real"/>
          <p:cNvSpPr/>
          <p:nvPr/>
        </p:nvSpPr>
        <p:spPr>
          <a:xfrm>
            <a:off x="548640" y="4251960"/>
            <a:ext cx="8183880" cy="457200"/>
          </a:xfrm>
          <a:prstGeom prst="roundRect">
            <a:avLst>
              <a:gd name="adj" fmla="val 16000"/>
            </a:avLst>
          </a:prstGeom>
          <a:solidFill>
            <a:srgbClr val="DFF0E3"/>
          </a:solidFill>
          <a:ln w="12700">
            <a:solidFill>
              <a:srgbClr val="9CCBA8"/>
            </a:solidFill>
            <a:prstDash val="solid"/>
          </a:ln>
        </p:spPr>
      </p:sp>
      <p:sp>
        <p:nvSpPr>
          <p:cNvPr id="67" name="test text"/>
          <p:cNvSpPr txBox="1"/>
          <p:nvPr/>
        </p:nvSpPr>
        <p:spPr>
          <a:xfrm>
            <a:off x="685800" y="4251960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Test on real</a:t>
            </a:r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a held-out real recording with its measured link</a:t>
            </a:r>
            <a:endParaRPr lang="en-US" sz="1300" dirty="0"/>
          </a:p>
        </p:txBody>
      </p:sp>
      <p:sp>
        <p:nvSpPr>
          <p:cNvPr id="68" name="test note"/>
          <p:cNvSpPr txBox="1"/>
          <p:nvPr/>
        </p:nvSpPr>
        <p:spPr>
          <a:xfrm>
            <a:off x="6309360" y="42519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sim-trained vs real-trained</a:t>
            </a:r>
            <a:endParaRPr lang="en-US" sz="950" dirty="0"/>
          </a:p>
        </p:txBody>
      </p:sp>
      <p:sp>
        <p:nvSpPr>
          <p:cNvPr id="69" name="arrow real to twin"/>
          <p:cNvSpPr/>
          <p:nvPr/>
        </p:nvSpPr>
        <p:spPr>
          <a:xfrm>
            <a:off x="4640580" y="1600200"/>
            <a:ext cx="0" cy="13716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70" name="arrow twin to train"/>
          <p:cNvSpPr/>
          <p:nvPr/>
        </p:nvSpPr>
        <p:spPr>
          <a:xfrm>
            <a:off x="4640580" y="3520440"/>
            <a:ext cx="0" cy="13716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71" name="arrow train to test"/>
          <p:cNvSpPr/>
          <p:nvPr/>
        </p:nvSpPr>
        <p:spPr>
          <a:xfrm>
            <a:off x="4640580" y="4114800"/>
            <a:ext cx="0" cy="137160"/>
          </a:xfrm>
          <a:prstGeom prst="line">
            <a:avLst/>
          </a:prstGeom>
          <a:noFill/>
          <a:ln w="19050">
            <a:solidFill>
              <a:srgbClr val="1B2430"/>
            </a:solidFill>
            <a:prstDash val="solid"/>
            <a:tailEnd type="triangle"/>
          </a:ln>
        </p:spPr>
      </p:sp>
      <p:sp>
        <p:nvSpPr>
          <p:cNvPr id="72" name="held-out top"/>
          <p:cNvSpPr/>
          <p:nvPr/>
        </p:nvSpPr>
        <p:spPr>
          <a:xfrm>
            <a:off x="384048" y="1234440"/>
            <a:ext cx="164592" cy="0"/>
          </a:xfrm>
          <a:prstGeom prst="line">
            <a:avLst/>
          </a:prstGeom>
          <a:noFill/>
          <a:ln w="15875">
            <a:solidFill>
              <a:srgbClr val="5A6472"/>
            </a:solidFill>
            <a:prstDash val="dash"/>
          </a:ln>
        </p:spPr>
      </p:sp>
      <p:sp>
        <p:nvSpPr>
          <p:cNvPr id="73" name="held-out down"/>
          <p:cNvSpPr/>
          <p:nvPr/>
        </p:nvSpPr>
        <p:spPr>
          <a:xfrm>
            <a:off x="384048" y="1234440"/>
            <a:ext cx="0" cy="3246120"/>
          </a:xfrm>
          <a:prstGeom prst="line">
            <a:avLst/>
          </a:prstGeom>
          <a:noFill/>
          <a:ln w="15875">
            <a:solidFill>
              <a:srgbClr val="5A6472"/>
            </a:solidFill>
            <a:prstDash val="dash"/>
          </a:ln>
        </p:spPr>
      </p:sp>
      <p:sp>
        <p:nvSpPr>
          <p:cNvPr id="74" name="held-out in"/>
          <p:cNvSpPr/>
          <p:nvPr/>
        </p:nvSpPr>
        <p:spPr>
          <a:xfrm>
            <a:off x="384048" y="4480560"/>
            <a:ext cx="164592" cy="0"/>
          </a:xfrm>
          <a:prstGeom prst="line">
            <a:avLst/>
          </a:prstGeom>
          <a:noFill/>
          <a:ln w="15875">
            <a:solidFill>
              <a:srgbClr val="5A6472"/>
            </a:solidFill>
            <a:prstDash val="dash"/>
            <a:tailEnd type="triangle"/>
          </a:ln>
        </p:spPr>
      </p:sp>
      <p:sp>
        <p:nvSpPr>
          <p:cNvPr id="75" name="held-out label"/>
          <p:cNvSpPr txBox="1"/>
          <p:nvPr/>
        </p:nvSpPr>
        <p:spPr>
          <a:xfrm>
            <a:off x="109728" y="1828800"/>
            <a:ext cx="219456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real recording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Twin from Real Data</dc:title>
  <dc:subject>PptxGenJS Presentation</dc:subject>
  <dc:creator>Jorich Loquero</dc:creator>
  <cp:lastModifiedBy>Jorich Loquero</cp:lastModifiedBy>
  <cp:revision>1</cp:revision>
  <dcterms:created xsi:type="dcterms:W3CDTF">2026-10-26T14:24:48Z</dcterms:created>
  <dcterms:modified xsi:type="dcterms:W3CDTF">2026-10-26T14:24:48Z</dcterms:modified>
</cp:coreProperties>
</file>