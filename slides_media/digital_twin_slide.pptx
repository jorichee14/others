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from one real recorded pass: the scanned building, our real robots and sensor mounts, the trajectories they drove, and the Wi-Fi link we measured. The digital twin in Isaac Sim keeps all of that real and lets us change one thing at a time: the comms (latency, loss, bursts, bandwidth), sensor dropouts, where the poses come from (ground truth, noisy, or a SLAM algorithm's output), people and furniture, robot paths, and sensor models. Each setting is a scenario that comes with sensor data from every robot, ground-truth boxes for free, and the link per frame, so we can make as many training scenarios as we want. The models are then tested on a held-out real recording with its own measured link, so sim-trained and real-trained models can be compared on the same scene. Built today: comms, people and objects, robot paths, sensor models. Planned: sensor dropouts, SLAM as the pose source, and the training step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9AD8"/>
          </a:solidFill>
          <a:ln w="12700">
            <a:solidFill>
              <a:srgbClr val="009AD8"/>
            </a:solidFill>
            <a:prstDash val="solid"/>
          </a:ln>
        </p:spPr>
      </p:sp>
      <p:sp>
        <p:nvSpPr>
          <p:cNvPr id="3" name="band strip"/>
          <p:cNvSpPr/>
          <p:nvPr/>
        </p:nvSpPr>
        <p:spPr>
          <a:xfrm>
            <a:off x="0" y="621792"/>
            <a:ext cx="9144000" cy="54864"/>
          </a:xfrm>
          <a:prstGeom prst="rect">
            <a:avLst/>
          </a:prstGeom>
          <a:solidFill>
            <a:srgbClr val="5EC4EB"/>
          </a:solidFill>
          <a:ln w="12700">
            <a:solidFill>
              <a:srgbClr val="5EC4EB"/>
            </a:solidFill>
            <a:prstDash val="solid"/>
          </a:ln>
        </p:spPr>
      </p:sp>
      <p:sp>
        <p:nvSpPr>
          <p:cNvPr id="4" name="band strip 2"/>
          <p:cNvSpPr/>
          <p:nvPr/>
        </p:nvSpPr>
        <p:spPr>
          <a:xfrm>
            <a:off x="0" y="676656"/>
            <a:ext cx="9144000" cy="54864"/>
          </a:xfrm>
          <a:prstGeom prst="rect">
            <a:avLst/>
          </a:prstGeom>
          <a:solidFill>
            <a:srgbClr val="D9F1FB"/>
          </a:solidFill>
          <a:ln w="12700">
            <a:solidFill>
              <a:srgbClr val="D9F1FB"/>
            </a:solidFill>
            <a:prstDash val="solid"/>
          </a:ln>
        </p:spPr>
      </p:sp>
      <p:sp>
        <p:nvSpPr>
          <p:cNvPr id="5" name="title"/>
          <p:cNvSpPr txBox="1"/>
          <p:nvPr/>
        </p:nvSpPr>
        <p:spPr>
          <a:xfrm>
            <a:off x="274320" y="3657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from Real Data</a:t>
            </a:r>
            <a:endParaRPr lang="en-US" sz="2800" dirty="0"/>
          </a:p>
        </p:txBody>
      </p:sp>
      <p:sp>
        <p:nvSpPr>
          <p:cNvPr id="6" name="page"/>
          <p:cNvSpPr txBox="1"/>
          <p:nvPr/>
        </p:nvSpPr>
        <p:spPr>
          <a:xfrm>
            <a:off x="8138160" y="48280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2/40</a:t>
            </a:r>
            <a:endParaRPr lang="en-US" sz="1200" dirty="0"/>
          </a:p>
        </p:txBody>
      </p:sp>
      <p:sp>
        <p:nvSpPr>
          <p:cNvPr id="7" name="real data shadow"/>
          <p:cNvSpPr/>
          <p:nvPr/>
        </p:nvSpPr>
        <p:spPr>
          <a:xfrm>
            <a:off x="576072" y="896112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DADCE0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8" name="real data"/>
          <p:cNvSpPr/>
          <p:nvPr/>
        </p:nvSpPr>
        <p:spPr>
          <a:xfrm>
            <a:off x="548640" y="868680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E9EAEC"/>
          </a:solidFill>
          <a:ln w="12700">
            <a:solidFill>
              <a:srgbClr val="B9BEC6"/>
            </a:solidFill>
            <a:prstDash val="solid"/>
          </a:ln>
        </p:spPr>
      </p:sp>
      <p:sp>
        <p:nvSpPr>
          <p:cNvPr id="9" name="real data title"/>
          <p:cNvSpPr txBox="1"/>
          <p:nvPr/>
        </p:nvSpPr>
        <p:spPr>
          <a:xfrm>
            <a:off x="658368" y="896112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Real data</a:t>
            </a:r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one recorded pass</a:t>
            </a:r>
            <a:endParaRPr lang="en-US" sz="1200" dirty="0"/>
          </a:p>
        </p:txBody>
      </p:sp>
      <p:sp>
        <p:nvSpPr>
          <p:cNvPr id="10" name="real item 1"/>
          <p:cNvSpPr/>
          <p:nvPr/>
        </p:nvSpPr>
        <p:spPr>
          <a:xfrm>
            <a:off x="658368" y="1143000"/>
            <a:ext cx="184251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9BEC6"/>
            </a:solidFill>
            <a:prstDash val="solid"/>
          </a:ln>
        </p:spPr>
      </p:sp>
      <p:sp>
        <p:nvSpPr>
          <p:cNvPr id="11" name="real dot 1"/>
          <p:cNvSpPr/>
          <p:nvPr/>
        </p:nvSpPr>
        <p:spPr>
          <a:xfrm>
            <a:off x="731520" y="1239012"/>
            <a:ext cx="82296" cy="82296"/>
          </a:xfrm>
          <a:prstGeom prst="ellipse">
            <a:avLst/>
          </a:prstGeom>
          <a:solidFill>
            <a:srgbClr val="C2571A"/>
          </a:solidFill>
          <a:ln w="13970">
            <a:solidFill>
              <a:srgbClr val="C2571A"/>
            </a:solidFill>
            <a:prstDash val="solid"/>
          </a:ln>
        </p:spPr>
      </p:sp>
      <p:sp>
        <p:nvSpPr>
          <p:cNvPr id="12" name="real item text 1"/>
          <p:cNvSpPr txBox="1"/>
          <p:nvPr/>
        </p:nvSpPr>
        <p:spPr>
          <a:xfrm>
            <a:off x="877824" y="1161288"/>
            <a:ext cx="1595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Scanned building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map, cm-level</a:t>
            </a:r>
            <a:endParaRPr lang="en-US" sz="950" dirty="0"/>
          </a:p>
        </p:txBody>
      </p:sp>
      <p:sp>
        <p:nvSpPr>
          <p:cNvPr id="13" name="real item 2"/>
          <p:cNvSpPr/>
          <p:nvPr/>
        </p:nvSpPr>
        <p:spPr>
          <a:xfrm>
            <a:off x="2574036" y="1143000"/>
            <a:ext cx="184251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9BEC6"/>
            </a:solidFill>
            <a:prstDash val="solid"/>
          </a:ln>
        </p:spPr>
      </p:sp>
      <p:sp>
        <p:nvSpPr>
          <p:cNvPr id="14" name="real dot 2"/>
          <p:cNvSpPr/>
          <p:nvPr/>
        </p:nvSpPr>
        <p:spPr>
          <a:xfrm>
            <a:off x="2647188" y="1239012"/>
            <a:ext cx="82296" cy="82296"/>
          </a:xfrm>
          <a:prstGeom prst="ellipse">
            <a:avLst/>
          </a:prstGeom>
          <a:solidFill>
            <a:srgbClr val="C2571A"/>
          </a:solidFill>
          <a:ln w="13970">
            <a:solidFill>
              <a:srgbClr val="C2571A"/>
            </a:solidFill>
            <a:prstDash val="solid"/>
          </a:ln>
        </p:spPr>
      </p:sp>
      <p:sp>
        <p:nvSpPr>
          <p:cNvPr id="15" name="real item text 2"/>
          <p:cNvSpPr txBox="1"/>
          <p:nvPr/>
        </p:nvSpPr>
        <p:spPr>
          <a:xfrm>
            <a:off x="2793492" y="1161288"/>
            <a:ext cx="1595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and sensors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LiDARs, cameras, mounts</a:t>
            </a:r>
            <a:endParaRPr lang="en-US" sz="950" dirty="0"/>
          </a:p>
        </p:txBody>
      </p:sp>
      <p:sp>
        <p:nvSpPr>
          <p:cNvPr id="16" name="real item 3"/>
          <p:cNvSpPr/>
          <p:nvPr/>
        </p:nvSpPr>
        <p:spPr>
          <a:xfrm>
            <a:off x="658368" y="1444752"/>
            <a:ext cx="184251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9BEC6"/>
            </a:solidFill>
            <a:prstDash val="solid"/>
          </a:ln>
        </p:spPr>
      </p:sp>
      <p:sp>
        <p:nvSpPr>
          <p:cNvPr id="17" name="real dot 3"/>
          <p:cNvSpPr/>
          <p:nvPr/>
        </p:nvSpPr>
        <p:spPr>
          <a:xfrm>
            <a:off x="731520" y="1540764"/>
            <a:ext cx="82296" cy="82296"/>
          </a:xfrm>
          <a:prstGeom prst="ellipse">
            <a:avLst/>
          </a:prstGeom>
          <a:solidFill>
            <a:srgbClr val="C2571A"/>
          </a:solidFill>
          <a:ln w="13970">
            <a:solidFill>
              <a:srgbClr val="C2571A"/>
            </a:solidFill>
            <a:prstDash val="solid"/>
          </a:ln>
        </p:spPr>
      </p:sp>
      <p:sp>
        <p:nvSpPr>
          <p:cNvPr id="18" name="real item text 3"/>
          <p:cNvSpPr txBox="1"/>
          <p:nvPr/>
        </p:nvSpPr>
        <p:spPr>
          <a:xfrm>
            <a:off x="877824" y="1463040"/>
            <a:ext cx="1595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trajectories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robots drove</a:t>
            </a:r>
            <a:endParaRPr lang="en-US" sz="950" dirty="0"/>
          </a:p>
        </p:txBody>
      </p:sp>
      <p:sp>
        <p:nvSpPr>
          <p:cNvPr id="19" name="real item 4"/>
          <p:cNvSpPr/>
          <p:nvPr/>
        </p:nvSpPr>
        <p:spPr>
          <a:xfrm>
            <a:off x="2574036" y="1444752"/>
            <a:ext cx="1842516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9BEC6"/>
            </a:solidFill>
            <a:prstDash val="solid"/>
          </a:ln>
        </p:spPr>
      </p:sp>
      <p:sp>
        <p:nvSpPr>
          <p:cNvPr id="20" name="real dot 4"/>
          <p:cNvSpPr/>
          <p:nvPr/>
        </p:nvSpPr>
        <p:spPr>
          <a:xfrm>
            <a:off x="2647188" y="1540764"/>
            <a:ext cx="82296" cy="82296"/>
          </a:xfrm>
          <a:prstGeom prst="ellipse">
            <a:avLst/>
          </a:prstGeom>
          <a:solidFill>
            <a:srgbClr val="C2571A"/>
          </a:solidFill>
          <a:ln w="13970">
            <a:solidFill>
              <a:srgbClr val="C2571A"/>
            </a:solidFill>
            <a:prstDash val="solid"/>
          </a:ln>
        </p:spPr>
      </p:sp>
      <p:sp>
        <p:nvSpPr>
          <p:cNvPr id="21" name="real item text 4"/>
          <p:cNvSpPr txBox="1"/>
          <p:nvPr/>
        </p:nvSpPr>
        <p:spPr>
          <a:xfrm>
            <a:off x="2793492" y="1463040"/>
            <a:ext cx="1595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Wi-Fi link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RTT, goodput, outages</a:t>
            </a:r>
            <a:endParaRPr lang="en-US" sz="950" dirty="0"/>
          </a:p>
        </p:txBody>
      </p:sp>
      <p:sp>
        <p:nvSpPr>
          <p:cNvPr id="22" name="digital twin shadow"/>
          <p:cNvSpPr/>
          <p:nvPr/>
        </p:nvSpPr>
        <p:spPr>
          <a:xfrm>
            <a:off x="576072" y="1901952"/>
            <a:ext cx="3977640" cy="1920240"/>
          </a:xfrm>
          <a:prstGeom prst="roundRect">
            <a:avLst>
              <a:gd name="adj" fmla="val 3333"/>
            </a:avLst>
          </a:prstGeom>
          <a:solidFill>
            <a:srgbClr val="F1E1C2"/>
          </a:solidFill>
          <a:ln w="12700">
            <a:solidFill>
              <a:srgbClr val="F1E1C2"/>
            </a:solidFill>
            <a:prstDash val="solid"/>
          </a:ln>
        </p:spPr>
      </p:sp>
      <p:sp>
        <p:nvSpPr>
          <p:cNvPr id="23" name="digital twin"/>
          <p:cNvSpPr/>
          <p:nvPr/>
        </p:nvSpPr>
        <p:spPr>
          <a:xfrm>
            <a:off x="548640" y="1874520"/>
            <a:ext cx="3977640" cy="1920240"/>
          </a:xfrm>
          <a:prstGeom prst="roundRect">
            <a:avLst>
              <a:gd name="adj" fmla="val 3333"/>
            </a:avLst>
          </a:prstGeom>
          <a:solidFill>
            <a:srgbClr val="FBEFD9"/>
          </a:solidFill>
          <a:ln w="12700">
            <a:solidFill>
              <a:srgbClr val="E2C58E"/>
            </a:solidFill>
            <a:prstDash val="solid"/>
          </a:ln>
        </p:spPr>
      </p:sp>
      <p:sp>
        <p:nvSpPr>
          <p:cNvPr id="24" name="digital twin title"/>
          <p:cNvSpPr txBox="1"/>
          <p:nvPr/>
        </p:nvSpPr>
        <p:spPr>
          <a:xfrm>
            <a:off x="658368" y="19019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Digital Twin · Isaac Sim</a:t>
            </a:r>
            <a:endParaRPr lang="en-US" sz="1200" dirty="0"/>
          </a:p>
        </p:txBody>
      </p:sp>
      <p:sp>
        <p:nvSpPr>
          <p:cNvPr id="25" name="knob Comms"/>
          <p:cNvSpPr/>
          <p:nvPr/>
        </p:nvSpPr>
        <p:spPr>
          <a:xfrm>
            <a:off x="658368" y="2167128"/>
            <a:ext cx="184251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2C58E"/>
            </a:solidFill>
            <a:prstDash val="solid"/>
          </a:ln>
        </p:spPr>
      </p:sp>
      <p:sp>
        <p:nvSpPr>
          <p:cNvPr id="26" name="knob dot Comms"/>
          <p:cNvSpPr/>
          <p:nvPr/>
        </p:nvSpPr>
        <p:spPr>
          <a:xfrm>
            <a:off x="731520" y="2272284"/>
            <a:ext cx="82296" cy="82296"/>
          </a:xfrm>
          <a:prstGeom prst="ellipse">
            <a:avLst/>
          </a:prstGeom>
          <a:solidFill>
            <a:srgbClr val="C2571A"/>
          </a:solidFill>
          <a:ln w="13970">
            <a:solidFill>
              <a:srgbClr val="C2571A"/>
            </a:solidFill>
            <a:prstDash val="solid"/>
          </a:ln>
        </p:spPr>
      </p:sp>
      <p:sp>
        <p:nvSpPr>
          <p:cNvPr id="27" name="knob text Comms"/>
          <p:cNvSpPr txBox="1"/>
          <p:nvPr/>
        </p:nvSpPr>
        <p:spPr>
          <a:xfrm>
            <a:off x="877824" y="2189988"/>
            <a:ext cx="15956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· loss · bandwidth</a:t>
            </a:r>
            <a:endParaRPr lang="en-US" sz="950" dirty="0"/>
          </a:p>
        </p:txBody>
      </p:sp>
      <p:sp>
        <p:nvSpPr>
          <p:cNvPr id="28" name="knob Sensor dropouts"/>
          <p:cNvSpPr/>
          <p:nvPr/>
        </p:nvSpPr>
        <p:spPr>
          <a:xfrm>
            <a:off x="2574036" y="2167128"/>
            <a:ext cx="184251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2C58E"/>
            </a:solidFill>
            <a:prstDash val="solid"/>
          </a:ln>
        </p:spPr>
      </p:sp>
      <p:sp>
        <p:nvSpPr>
          <p:cNvPr id="29" name="knob dot Sensor dropouts"/>
          <p:cNvSpPr/>
          <p:nvPr/>
        </p:nvSpPr>
        <p:spPr>
          <a:xfrm>
            <a:off x="2647188" y="2272284"/>
            <a:ext cx="82296" cy="822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571A"/>
            </a:solidFill>
            <a:prstDash val="solid"/>
          </a:ln>
        </p:spPr>
      </p:sp>
      <p:sp>
        <p:nvSpPr>
          <p:cNvPr id="30" name="knob text Sensor dropouts"/>
          <p:cNvSpPr txBox="1"/>
          <p:nvPr/>
        </p:nvSpPr>
        <p:spPr>
          <a:xfrm>
            <a:off x="2793492" y="2189988"/>
            <a:ext cx="15956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dropouts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or camera off</a:t>
            </a:r>
            <a:endParaRPr lang="en-US" sz="950" dirty="0"/>
          </a:p>
        </p:txBody>
      </p:sp>
      <p:sp>
        <p:nvSpPr>
          <p:cNvPr id="31" name="knob Pose source"/>
          <p:cNvSpPr/>
          <p:nvPr/>
        </p:nvSpPr>
        <p:spPr>
          <a:xfrm>
            <a:off x="658368" y="2496312"/>
            <a:ext cx="184251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2C58E"/>
            </a:solidFill>
            <a:prstDash val="solid"/>
          </a:ln>
        </p:spPr>
      </p:sp>
      <p:sp>
        <p:nvSpPr>
          <p:cNvPr id="32" name="knob dot Pose source"/>
          <p:cNvSpPr/>
          <p:nvPr/>
        </p:nvSpPr>
        <p:spPr>
          <a:xfrm>
            <a:off x="731520" y="2601468"/>
            <a:ext cx="82296" cy="822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571A"/>
            </a:solidFill>
            <a:prstDash val="solid"/>
          </a:ln>
        </p:spPr>
      </p:sp>
      <p:sp>
        <p:nvSpPr>
          <p:cNvPr id="33" name="knob text Pose source"/>
          <p:cNvSpPr txBox="1"/>
          <p:nvPr/>
        </p:nvSpPr>
        <p:spPr>
          <a:xfrm>
            <a:off x="877824" y="2519172"/>
            <a:ext cx="15956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source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· noisy · SLAM</a:t>
            </a:r>
            <a:endParaRPr lang="en-US" sz="950" dirty="0"/>
          </a:p>
        </p:txBody>
      </p:sp>
      <p:sp>
        <p:nvSpPr>
          <p:cNvPr id="34" name="knob People and objects"/>
          <p:cNvSpPr/>
          <p:nvPr/>
        </p:nvSpPr>
        <p:spPr>
          <a:xfrm>
            <a:off x="2574036" y="2496312"/>
            <a:ext cx="184251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2C58E"/>
            </a:solidFill>
            <a:prstDash val="solid"/>
          </a:ln>
        </p:spPr>
      </p:sp>
      <p:sp>
        <p:nvSpPr>
          <p:cNvPr id="35" name="knob dot People and objects"/>
          <p:cNvSpPr/>
          <p:nvPr/>
        </p:nvSpPr>
        <p:spPr>
          <a:xfrm>
            <a:off x="2647188" y="2601468"/>
            <a:ext cx="82296" cy="82296"/>
          </a:xfrm>
          <a:prstGeom prst="ellipse">
            <a:avLst/>
          </a:prstGeom>
          <a:solidFill>
            <a:srgbClr val="C2571A"/>
          </a:solidFill>
          <a:ln w="13970">
            <a:solidFill>
              <a:srgbClr val="C2571A"/>
            </a:solidFill>
            <a:prstDash val="solid"/>
          </a:ln>
        </p:spPr>
      </p:sp>
      <p:sp>
        <p:nvSpPr>
          <p:cNvPr id="36" name="knob text People and objects"/>
          <p:cNvSpPr txBox="1"/>
          <p:nvPr/>
        </p:nvSpPr>
        <p:spPr>
          <a:xfrm>
            <a:off x="2793492" y="2519172"/>
            <a:ext cx="15956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objects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walkers · furniture</a:t>
            </a:r>
            <a:endParaRPr lang="en-US" sz="950" dirty="0"/>
          </a:p>
        </p:txBody>
      </p:sp>
      <p:sp>
        <p:nvSpPr>
          <p:cNvPr id="37" name="knob Robot paths"/>
          <p:cNvSpPr/>
          <p:nvPr/>
        </p:nvSpPr>
        <p:spPr>
          <a:xfrm>
            <a:off x="658368" y="2825496"/>
            <a:ext cx="184251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2C58E"/>
            </a:solidFill>
            <a:prstDash val="solid"/>
          </a:ln>
        </p:spPr>
      </p:sp>
      <p:sp>
        <p:nvSpPr>
          <p:cNvPr id="38" name="knob dot Robot paths"/>
          <p:cNvSpPr/>
          <p:nvPr/>
        </p:nvSpPr>
        <p:spPr>
          <a:xfrm>
            <a:off x="731520" y="2930652"/>
            <a:ext cx="82296" cy="82296"/>
          </a:xfrm>
          <a:prstGeom prst="ellipse">
            <a:avLst/>
          </a:prstGeom>
          <a:solidFill>
            <a:srgbClr val="C2571A"/>
          </a:solidFill>
          <a:ln w="13970">
            <a:solidFill>
              <a:srgbClr val="C2571A"/>
            </a:solidFill>
            <a:prstDash val="solid"/>
          </a:ln>
        </p:spPr>
      </p:sp>
      <p:sp>
        <p:nvSpPr>
          <p:cNvPr id="39" name="knob text Robot paths"/>
          <p:cNvSpPr txBox="1"/>
          <p:nvPr/>
        </p:nvSpPr>
        <p:spPr>
          <a:xfrm>
            <a:off x="877824" y="2848356"/>
            <a:ext cx="15956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paths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routes · speed</a:t>
            </a:r>
            <a:endParaRPr lang="en-US" sz="950" dirty="0"/>
          </a:p>
        </p:txBody>
      </p:sp>
      <p:sp>
        <p:nvSpPr>
          <p:cNvPr id="40" name="knob Sensor models"/>
          <p:cNvSpPr/>
          <p:nvPr/>
        </p:nvSpPr>
        <p:spPr>
          <a:xfrm>
            <a:off x="2574036" y="2825496"/>
            <a:ext cx="1842516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2C58E"/>
            </a:solidFill>
            <a:prstDash val="solid"/>
          </a:ln>
        </p:spPr>
      </p:sp>
      <p:sp>
        <p:nvSpPr>
          <p:cNvPr id="41" name="knob dot Sensor models"/>
          <p:cNvSpPr/>
          <p:nvPr/>
        </p:nvSpPr>
        <p:spPr>
          <a:xfrm>
            <a:off x="2647188" y="2930652"/>
            <a:ext cx="82296" cy="82296"/>
          </a:xfrm>
          <a:prstGeom prst="ellipse">
            <a:avLst/>
          </a:prstGeom>
          <a:solidFill>
            <a:srgbClr val="C2571A"/>
          </a:solidFill>
          <a:ln w="13970">
            <a:solidFill>
              <a:srgbClr val="C2571A"/>
            </a:solidFill>
            <a:prstDash val="solid"/>
          </a:ln>
        </p:spPr>
      </p:sp>
      <p:sp>
        <p:nvSpPr>
          <p:cNvPr id="42" name="knob text Sensor models"/>
          <p:cNvSpPr txBox="1"/>
          <p:nvPr/>
        </p:nvSpPr>
        <p:spPr>
          <a:xfrm>
            <a:off x="2793492" y="2848356"/>
            <a:ext cx="15956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models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beams · resolution</a:t>
            </a:r>
            <a:endParaRPr lang="en-US" sz="950" dirty="0"/>
          </a:p>
        </p:txBody>
      </p:sp>
      <p:sp>
        <p:nvSpPr>
          <p:cNvPr id="43" name="scenario card 3"/>
          <p:cNvSpPr/>
          <p:nvPr/>
        </p:nvSpPr>
        <p:spPr>
          <a:xfrm>
            <a:off x="731520" y="3264408"/>
            <a:ext cx="366674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C58E"/>
            </a:solidFill>
            <a:prstDash val="solid"/>
          </a:ln>
        </p:spPr>
      </p:sp>
      <p:sp>
        <p:nvSpPr>
          <p:cNvPr id="44" name="scenario card 2"/>
          <p:cNvSpPr/>
          <p:nvPr/>
        </p:nvSpPr>
        <p:spPr>
          <a:xfrm>
            <a:off x="694944" y="3227832"/>
            <a:ext cx="366674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C58E"/>
            </a:solidFill>
            <a:prstDash val="solid"/>
          </a:ln>
        </p:spPr>
      </p:sp>
      <p:sp>
        <p:nvSpPr>
          <p:cNvPr id="45" name="scenario card 1"/>
          <p:cNvSpPr/>
          <p:nvPr/>
        </p:nvSpPr>
        <p:spPr>
          <a:xfrm>
            <a:off x="658368" y="3191256"/>
            <a:ext cx="3666744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C58E"/>
            </a:solidFill>
            <a:prstDash val="solid"/>
          </a:ln>
        </p:spPr>
      </p:sp>
      <p:sp>
        <p:nvSpPr>
          <p:cNvPr id="46" name="scenario text"/>
          <p:cNvSpPr txBox="1"/>
          <p:nvPr/>
        </p:nvSpPr>
        <p:spPr>
          <a:xfrm>
            <a:off x="749808" y="3227832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</a:t>
            </a:r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 people · 30% loss · camera off · SLAM poses</a:t>
            </a:r>
            <a:endParaRPr lang="en-US" sz="950" dirty="0"/>
          </a:p>
          <a:p>
            <a:pPr indent="0" marL="0">
              <a:buNone/>
            </a:pPr>
            <a:r>
              <a:rPr lang="en-US" sz="85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data   </a:t>
            </a:r>
            <a:pPr indent="0" marL="0">
              <a:buNone/>
            </a:pPr>
            <a:r>
              <a:rPr lang="en-US" sz="85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 boxes   </a:t>
            </a:r>
            <a:pPr indent="0" marL="0">
              <a:buNone/>
            </a:pPr>
            <a:r>
              <a:rPr lang="en-US" sz="85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buNone/>
            </a:pPr>
            <a:r>
              <a:rPr lang="en-US" sz="8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per frame</a:t>
            </a:r>
            <a:endParaRPr lang="en-US" sz="950" dirty="0"/>
          </a:p>
        </p:txBody>
      </p:sp>
      <p:sp>
        <p:nvSpPr>
          <p:cNvPr id="47" name="n scenarios"/>
          <p:cNvSpPr txBox="1"/>
          <p:nvPr/>
        </p:nvSpPr>
        <p:spPr>
          <a:xfrm>
            <a:off x="3822192" y="319125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25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N</a:t>
            </a:r>
            <a:endParaRPr lang="en-US" sz="1400" dirty="0"/>
          </a:p>
        </p:txBody>
      </p:sp>
      <p:sp>
        <p:nvSpPr>
          <p:cNvPr id="48" name="legend built dot"/>
          <p:cNvSpPr/>
          <p:nvPr/>
        </p:nvSpPr>
        <p:spPr>
          <a:xfrm>
            <a:off x="3447288" y="1979676"/>
            <a:ext cx="82296" cy="82296"/>
          </a:xfrm>
          <a:prstGeom prst="ellipse">
            <a:avLst/>
          </a:prstGeom>
          <a:solidFill>
            <a:srgbClr val="C2571A"/>
          </a:solidFill>
          <a:ln w="13970">
            <a:solidFill>
              <a:srgbClr val="C2571A"/>
            </a:solidFill>
            <a:prstDash val="solid"/>
          </a:ln>
        </p:spPr>
      </p:sp>
      <p:sp>
        <p:nvSpPr>
          <p:cNvPr id="49" name="legend built"/>
          <p:cNvSpPr txBox="1"/>
          <p:nvPr/>
        </p:nvSpPr>
        <p:spPr>
          <a:xfrm>
            <a:off x="3557016" y="19293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/>
          </a:p>
        </p:txBody>
      </p:sp>
      <p:sp>
        <p:nvSpPr>
          <p:cNvPr id="50" name="legend planned dot"/>
          <p:cNvSpPr/>
          <p:nvPr/>
        </p:nvSpPr>
        <p:spPr>
          <a:xfrm>
            <a:off x="3886200" y="1979676"/>
            <a:ext cx="82296" cy="822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C2571A"/>
            </a:solidFill>
            <a:prstDash val="solid"/>
          </a:ln>
        </p:spPr>
      </p:sp>
      <p:sp>
        <p:nvSpPr>
          <p:cNvPr id="51" name="legend planned"/>
          <p:cNvSpPr txBox="1"/>
          <p:nvPr/>
        </p:nvSpPr>
        <p:spPr>
          <a:xfrm>
            <a:off x="3995928" y="1929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00" dirty="0"/>
          </a:p>
        </p:txBody>
      </p:sp>
      <p:sp>
        <p:nvSpPr>
          <p:cNvPr id="52" name="train shadow"/>
          <p:cNvSpPr/>
          <p:nvPr/>
        </p:nvSpPr>
        <p:spPr>
          <a:xfrm>
            <a:off x="576072" y="3931920"/>
            <a:ext cx="3977640" cy="384048"/>
          </a:xfrm>
          <a:prstGeom prst="roundRect">
            <a:avLst>
              <a:gd name="adj" fmla="val 16667"/>
            </a:avLst>
          </a:prstGeom>
          <a:solidFill>
            <a:srgbClr val="CCDAEE"/>
          </a:solidFill>
          <a:ln w="12700">
            <a:solidFill>
              <a:srgbClr val="CCDAEE"/>
            </a:solidFill>
            <a:prstDash val="solid"/>
          </a:ln>
        </p:spPr>
      </p:sp>
      <p:sp>
        <p:nvSpPr>
          <p:cNvPr id="53" name="train"/>
          <p:cNvSpPr/>
          <p:nvPr/>
        </p:nvSpPr>
        <p:spPr>
          <a:xfrm>
            <a:off x="548640" y="3904488"/>
            <a:ext cx="3977640" cy="384048"/>
          </a:xfrm>
          <a:prstGeom prst="roundRect">
            <a:avLst>
              <a:gd name="adj" fmla="val 16667"/>
            </a:avLst>
          </a:prstGeom>
          <a:solidFill>
            <a:srgbClr val="DDE8F6"/>
          </a:solidFill>
          <a:ln w="12700">
            <a:solidFill>
              <a:srgbClr val="9DB7DD"/>
            </a:solidFill>
            <a:prstDash val="solid"/>
          </a:ln>
        </p:spPr>
      </p:sp>
      <p:sp>
        <p:nvSpPr>
          <p:cNvPr id="54" name="train text"/>
          <p:cNvSpPr txBox="1"/>
          <p:nvPr/>
        </p:nvSpPr>
        <p:spPr>
          <a:xfrm>
            <a:off x="658368" y="39044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Train</a:t>
            </a:r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on digital-twin scenarios</a:t>
            </a:r>
            <a:endParaRPr lang="en-US" sz="1200" dirty="0"/>
          </a:p>
        </p:txBody>
      </p:sp>
      <p:sp>
        <p:nvSpPr>
          <p:cNvPr id="55" name="train status"/>
          <p:cNvSpPr txBox="1"/>
          <p:nvPr/>
        </p:nvSpPr>
        <p:spPr>
          <a:xfrm>
            <a:off x="3749040" y="3904488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850" dirty="0"/>
          </a:p>
        </p:txBody>
      </p:sp>
      <p:sp>
        <p:nvSpPr>
          <p:cNvPr id="56" name="test on real shadow"/>
          <p:cNvSpPr/>
          <p:nvPr/>
        </p:nvSpPr>
        <p:spPr>
          <a:xfrm>
            <a:off x="576072" y="4425696"/>
            <a:ext cx="3977640" cy="384048"/>
          </a:xfrm>
          <a:prstGeom prst="roundRect">
            <a:avLst>
              <a:gd name="adj" fmla="val 16667"/>
            </a:avLst>
          </a:prstGeom>
          <a:solidFill>
            <a:srgbClr val="CDE5D3"/>
          </a:solidFill>
          <a:ln w="12700">
            <a:solidFill>
              <a:srgbClr val="CDE5D3"/>
            </a:solidFill>
            <a:prstDash val="solid"/>
          </a:ln>
        </p:spPr>
      </p:sp>
      <p:sp>
        <p:nvSpPr>
          <p:cNvPr id="57" name="test on real"/>
          <p:cNvSpPr/>
          <p:nvPr/>
        </p:nvSpPr>
        <p:spPr>
          <a:xfrm>
            <a:off x="548640" y="4398264"/>
            <a:ext cx="3977640" cy="384048"/>
          </a:xfrm>
          <a:prstGeom prst="roundRect">
            <a:avLst>
              <a:gd name="adj" fmla="val 16667"/>
            </a:avLst>
          </a:prstGeom>
          <a:solidFill>
            <a:srgbClr val="DFF0E3"/>
          </a:solidFill>
          <a:ln w="12700">
            <a:solidFill>
              <a:srgbClr val="9CCBA8"/>
            </a:solidFill>
            <a:prstDash val="solid"/>
          </a:ln>
        </p:spPr>
      </p:sp>
      <p:sp>
        <p:nvSpPr>
          <p:cNvPr id="58" name="test text"/>
          <p:cNvSpPr txBox="1"/>
          <p:nvPr/>
        </p:nvSpPr>
        <p:spPr>
          <a:xfrm>
            <a:off x="658368" y="4398264"/>
            <a:ext cx="3758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Test on real</a:t>
            </a:r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held-out real recording</a:t>
            </a:r>
            <a:endParaRPr lang="en-US" sz="1200" dirty="0"/>
          </a:p>
        </p:txBody>
      </p:sp>
      <p:sp>
        <p:nvSpPr>
          <p:cNvPr id="59" name="arrow real to twin"/>
          <p:cNvSpPr/>
          <p:nvPr/>
        </p:nvSpPr>
        <p:spPr>
          <a:xfrm>
            <a:off x="2537460" y="1764792"/>
            <a:ext cx="0" cy="109728"/>
          </a:xfrm>
          <a:prstGeom prst="line">
            <a:avLst/>
          </a:prstGeom>
          <a:noFill/>
          <a:ln w="1587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60" name="arrow twin to train"/>
          <p:cNvSpPr/>
          <p:nvPr/>
        </p:nvSpPr>
        <p:spPr>
          <a:xfrm>
            <a:off x="2537460" y="3794760"/>
            <a:ext cx="0" cy="109728"/>
          </a:xfrm>
          <a:prstGeom prst="line">
            <a:avLst/>
          </a:prstGeom>
          <a:noFill/>
          <a:ln w="1587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61" name="arrow train to test"/>
          <p:cNvSpPr/>
          <p:nvPr/>
        </p:nvSpPr>
        <p:spPr>
          <a:xfrm>
            <a:off x="2537460" y="4288536"/>
            <a:ext cx="0" cy="109728"/>
          </a:xfrm>
          <a:prstGeom prst="line">
            <a:avLst/>
          </a:prstGeom>
          <a:noFill/>
          <a:ln w="15875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62" name="held-out top"/>
          <p:cNvSpPr/>
          <p:nvPr/>
        </p:nvSpPr>
        <p:spPr>
          <a:xfrm>
            <a:off x="384048" y="1280160"/>
            <a:ext cx="164592" cy="0"/>
          </a:xfrm>
          <a:prstGeom prst="line">
            <a:avLst/>
          </a:prstGeom>
          <a:noFill/>
          <a:ln w="13970">
            <a:solidFill>
              <a:srgbClr val="5A6472"/>
            </a:solidFill>
            <a:prstDash val="dash"/>
          </a:ln>
        </p:spPr>
      </p:sp>
      <p:sp>
        <p:nvSpPr>
          <p:cNvPr id="63" name="held-out down"/>
          <p:cNvSpPr/>
          <p:nvPr/>
        </p:nvSpPr>
        <p:spPr>
          <a:xfrm>
            <a:off x="384048" y="1280160"/>
            <a:ext cx="0" cy="3310128"/>
          </a:xfrm>
          <a:prstGeom prst="line">
            <a:avLst/>
          </a:prstGeom>
          <a:noFill/>
          <a:ln w="13970">
            <a:solidFill>
              <a:srgbClr val="5A6472"/>
            </a:solidFill>
            <a:prstDash val="dash"/>
          </a:ln>
        </p:spPr>
      </p:sp>
      <p:sp>
        <p:nvSpPr>
          <p:cNvPr id="64" name="held-out in"/>
          <p:cNvSpPr/>
          <p:nvPr/>
        </p:nvSpPr>
        <p:spPr>
          <a:xfrm>
            <a:off x="384048" y="4590288"/>
            <a:ext cx="164592" cy="0"/>
          </a:xfrm>
          <a:prstGeom prst="line">
            <a:avLst/>
          </a:prstGeom>
          <a:noFill/>
          <a:ln w="13970">
            <a:solidFill>
              <a:srgbClr val="5A6472"/>
            </a:solidFill>
            <a:prstDash val="dash"/>
            <a:tailEnd type="triangle"/>
          </a:ln>
        </p:spPr>
      </p:sp>
      <p:sp>
        <p:nvSpPr>
          <p:cNvPr id="65" name="held-out label"/>
          <p:cNvSpPr txBox="1"/>
          <p:nvPr/>
        </p:nvSpPr>
        <p:spPr>
          <a:xfrm>
            <a:off x="137160" y="1920240"/>
            <a:ext cx="2011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real recording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 from Real Data</dc:title>
  <dc:subject>PptxGenJS Presentation</dc:subject>
  <dc:creator>Jorich Loquero</dc:creator>
  <cp:lastModifiedBy>Jorich Loquero</cp:lastModifiedBy>
  <cp:revision>1</cp:revision>
  <dcterms:created xsi:type="dcterms:W3CDTF">2026-10-26T14:27:23Z</dcterms:created>
  <dcterms:modified xsi:type="dcterms:W3CDTF">2026-10-26T14:27:23Z</dcterms:modified>
</cp:coreProperties>
</file>