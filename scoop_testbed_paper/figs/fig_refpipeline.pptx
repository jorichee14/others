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Top: the mapping session, once per site. GLIM with its pose-time correction, plane bundle adjustment and TSDF fusion give the frozen reference map and trajectory; the boards are posed in it and the infrastructure cameras placed through them. Wall thickness, loop closure, pose time and control distances check it. Bottom: every sequence is registered into the frozen map per agent, validated on held-out boards, and exported in the site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pipeline</a:t>
            </a:r>
            <a:endParaRPr lang="en-US" sz="3600" dirty="0"/>
          </a:p>
        </p:txBody>
      </p:sp>
      <p:sp>
        <p:nvSpPr>
          <p:cNvPr id="3" name="Mapping lane"/>
          <p:cNvSpPr/>
          <p:nvPr/>
        </p:nvSpPr>
        <p:spPr>
          <a:xfrm>
            <a:off x="524847" y="1667847"/>
            <a:ext cx="11139257" cy="2277460"/>
          </a:xfrm>
          <a:prstGeom prst="roundRect">
            <a:avLst>
              <a:gd name="adj" fmla="val 4015"/>
            </a:avLst>
          </a:prstGeom>
          <a:solidFill>
            <a:srgbClr val="EEF1F5"/>
          </a:solidFill>
          <a:ln w="12700">
            <a:solidFill>
              <a:srgbClr val="A7B0C0"/>
            </a:solidFill>
            <a:prstDash val="solid"/>
          </a:ln>
        </p:spPr>
      </p:sp>
      <p:sp>
        <p:nvSpPr>
          <p:cNvPr id="4" name="Mapping lane title"/>
          <p:cNvSpPr txBox="1"/>
          <p:nvPr/>
        </p:nvSpPr>
        <p:spPr>
          <a:xfrm>
            <a:off x="660142" y="1740999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session (once per site)</a:t>
            </a:r>
            <a:endParaRPr lang="en-US" sz="1400" dirty="0"/>
          </a:p>
        </p:txBody>
      </p:sp>
      <p:sp>
        <p:nvSpPr>
          <p:cNvPr id="5" name="Mapping recording"/>
          <p:cNvSpPr/>
          <p:nvPr/>
        </p:nvSpPr>
        <p:spPr>
          <a:xfrm>
            <a:off x="682691" y="2321771"/>
            <a:ext cx="1071082" cy="676473"/>
          </a:xfrm>
          <a:prstGeom prst="roundRect">
            <a:avLst>
              <a:gd name="adj" fmla="val 8110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</a:t>
            </a:r>
            <a:endParaRPr lang="en-US" sz="1200" dirty="0"/>
          </a:p>
        </p:txBody>
      </p:sp>
      <p:sp>
        <p:nvSpPr>
          <p:cNvPr id="6" name="SLAM"/>
          <p:cNvSpPr/>
          <p:nvPr/>
        </p:nvSpPr>
        <p:spPr>
          <a:xfrm>
            <a:off x="1979265" y="2321771"/>
            <a:ext cx="1916674" cy="676473"/>
          </a:xfrm>
          <a:prstGeom prst="roundRect">
            <a:avLst>
              <a:gd name="adj" fmla="val 8110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LiDAR-inertial SLAM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pose-time correction</a:t>
            </a:r>
            <a:endParaRPr lang="en-US" sz="1200" dirty="0"/>
          </a:p>
        </p:txBody>
      </p:sp>
      <p:sp>
        <p:nvSpPr>
          <p:cNvPr id="7" name="Bundle adjustment"/>
          <p:cNvSpPr/>
          <p:nvPr/>
        </p:nvSpPr>
        <p:spPr>
          <a:xfrm>
            <a:off x="4121429" y="2321771"/>
            <a:ext cx="1352946" cy="676473"/>
          </a:xfrm>
          <a:prstGeom prst="roundRect">
            <a:avLst>
              <a:gd name="adj" fmla="val 8110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 bundle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adjustment</a:t>
            </a:r>
            <a:endParaRPr lang="en-US" sz="1200" dirty="0"/>
          </a:p>
        </p:txBody>
      </p:sp>
      <p:sp>
        <p:nvSpPr>
          <p:cNvPr id="8" name="TSDF fusion"/>
          <p:cNvSpPr/>
          <p:nvPr/>
        </p:nvSpPr>
        <p:spPr>
          <a:xfrm>
            <a:off x="5699867" y="2321771"/>
            <a:ext cx="1127455" cy="676473"/>
          </a:xfrm>
          <a:prstGeom prst="roundRect">
            <a:avLst>
              <a:gd name="adj" fmla="val 8110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TSDF fusion</a:t>
            </a:r>
            <a:endParaRPr lang="en-US" sz="1200" dirty="0"/>
          </a:p>
        </p:txBody>
      </p:sp>
      <p:sp>
        <p:nvSpPr>
          <p:cNvPr id="9" name="Frozen reference"/>
          <p:cNvSpPr/>
          <p:nvPr/>
        </p:nvSpPr>
        <p:spPr>
          <a:xfrm>
            <a:off x="7052813" y="2265399"/>
            <a:ext cx="1803928" cy="789219"/>
          </a:xfrm>
          <a:prstGeom prst="parallelogram">
            <a:avLst/>
          </a:prstGeom>
          <a:solidFill>
            <a:srgbClr val="FBE6D0"/>
          </a:solidFill>
          <a:ln w="19050">
            <a:solidFill>
              <a:srgbClr val="D9822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reference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trajectory</a:t>
            </a:r>
            <a:endParaRPr lang="en-US" sz="1200" dirty="0"/>
          </a:p>
        </p:txBody>
      </p:sp>
      <p:sp>
        <p:nvSpPr>
          <p:cNvPr id="10" name="Board poses"/>
          <p:cNvSpPr/>
          <p:nvPr/>
        </p:nvSpPr>
        <p:spPr>
          <a:xfrm>
            <a:off x="9476842" y="1904613"/>
            <a:ext cx="2074518" cy="541178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poses</a:t>
            </a:r>
            <a:endParaRPr lang="en-US" sz="1200" dirty="0"/>
          </a:p>
        </p:txBody>
      </p:sp>
      <p:sp>
        <p:nvSpPr>
          <p:cNvPr id="11" name="Camera poses"/>
          <p:cNvSpPr/>
          <p:nvPr/>
        </p:nvSpPr>
        <p:spPr>
          <a:xfrm>
            <a:off x="9476842" y="3032068"/>
            <a:ext cx="2074518" cy="541178"/>
          </a:xfrm>
          <a:prstGeom prst="roundRect">
            <a:avLst>
              <a:gd name="adj" fmla="val 10138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poses</a:t>
            </a:r>
            <a:endParaRPr lang="en-US" sz="1200" dirty="0"/>
          </a:p>
        </p:txBody>
      </p:sp>
      <p:sp>
        <p:nvSpPr>
          <p:cNvPr id="12" name="Arrow 1"/>
          <p:cNvSpPr/>
          <p:nvPr/>
        </p:nvSpPr>
        <p:spPr>
          <a:xfrm>
            <a:off x="1753773" y="2660008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3" name="Arrow 2"/>
          <p:cNvSpPr/>
          <p:nvPr/>
        </p:nvSpPr>
        <p:spPr>
          <a:xfrm>
            <a:off x="3895938" y="2660008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4" name="Arrow 3"/>
          <p:cNvSpPr/>
          <p:nvPr/>
        </p:nvSpPr>
        <p:spPr>
          <a:xfrm>
            <a:off x="5474376" y="2660008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5" name="Arrow 4"/>
          <p:cNvSpPr/>
          <p:nvPr/>
        </p:nvSpPr>
        <p:spPr>
          <a:xfrm>
            <a:off x="6827322" y="2660008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6" name="Arrow to boards"/>
          <p:cNvSpPr/>
          <p:nvPr/>
        </p:nvSpPr>
        <p:spPr>
          <a:xfrm flipV="1">
            <a:off x="8800368" y="2175202"/>
            <a:ext cx="676473" cy="37206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7" name="Arrow to cameras"/>
          <p:cNvSpPr/>
          <p:nvPr/>
        </p:nvSpPr>
        <p:spPr>
          <a:xfrm>
            <a:off x="8800368" y="2772753"/>
            <a:ext cx="676473" cy="529904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8" name="Boards to cameras"/>
          <p:cNvSpPr/>
          <p:nvPr/>
        </p:nvSpPr>
        <p:spPr>
          <a:xfrm>
            <a:off x="9927824" y="2445791"/>
            <a:ext cx="0" cy="586277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19" name="Through label"/>
          <p:cNvSpPr txBox="1"/>
          <p:nvPr/>
        </p:nvSpPr>
        <p:spPr>
          <a:xfrm>
            <a:off x="10040569" y="2592361"/>
            <a:ext cx="1465692" cy="293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boards</a:t>
            </a:r>
            <a:endParaRPr lang="en-US" sz="1000" dirty="0"/>
          </a:p>
        </p:txBody>
      </p:sp>
      <p:sp>
        <p:nvSpPr>
          <p:cNvPr id="20" name="Checks"/>
          <p:cNvSpPr/>
          <p:nvPr/>
        </p:nvSpPr>
        <p:spPr>
          <a:xfrm>
            <a:off x="1979265" y="3449227"/>
            <a:ext cx="4848057" cy="338237"/>
          </a:xfrm>
          <a:prstGeom prst="roundRect">
            <a:avLst>
              <a:gd name="adj" fmla="val 13517"/>
            </a:avLst>
          </a:prstGeom>
          <a:solidFill>
            <a:srgbClr val="EEF1F5"/>
          </a:solidFill>
          <a:ln w="9525">
            <a:solidFill>
              <a:srgbClr val="5A6475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checks: wall thickness · loop closure · pose time · control distances</a:t>
            </a:r>
            <a:endParaRPr lang="en-US" sz="1100" dirty="0"/>
          </a:p>
        </p:txBody>
      </p:sp>
      <p:sp>
        <p:nvSpPr>
          <p:cNvPr id="21" name="Sequence lane"/>
          <p:cNvSpPr/>
          <p:nvPr/>
        </p:nvSpPr>
        <p:spPr>
          <a:xfrm>
            <a:off x="524847" y="4125700"/>
            <a:ext cx="11139257" cy="1916674"/>
          </a:xfrm>
          <a:prstGeom prst="roundRect">
            <a:avLst>
              <a:gd name="adj" fmla="val 4771"/>
            </a:avLst>
          </a:prstGeom>
          <a:solidFill>
            <a:srgbClr val="EEF1F5"/>
          </a:solidFill>
          <a:ln w="12700">
            <a:solidFill>
              <a:srgbClr val="A7B0C0"/>
            </a:solidFill>
            <a:prstDash val="solid"/>
          </a:ln>
        </p:spPr>
      </p:sp>
      <p:sp>
        <p:nvSpPr>
          <p:cNvPr id="22" name="Sequence lane title"/>
          <p:cNvSpPr txBox="1"/>
          <p:nvPr/>
        </p:nvSpPr>
        <p:spPr>
          <a:xfrm>
            <a:off x="660142" y="419885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sequence</a:t>
            </a:r>
            <a:endParaRPr lang="en-US" sz="1400" dirty="0"/>
          </a:p>
        </p:txBody>
      </p:sp>
      <p:sp>
        <p:nvSpPr>
          <p:cNvPr id="23" name="Sequence recording"/>
          <p:cNvSpPr/>
          <p:nvPr/>
        </p:nvSpPr>
        <p:spPr>
          <a:xfrm>
            <a:off x="682691" y="4937467"/>
            <a:ext cx="1071082" cy="676473"/>
          </a:xfrm>
          <a:prstGeom prst="roundRect">
            <a:avLst>
              <a:gd name="adj" fmla="val 8110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</a:t>
            </a:r>
            <a:endParaRPr lang="en-US" sz="1200" dirty="0"/>
          </a:p>
        </p:txBody>
      </p:sp>
      <p:sp>
        <p:nvSpPr>
          <p:cNvPr id="24" name="Sequence SLAM"/>
          <p:cNvSpPr/>
          <p:nvPr/>
        </p:nvSpPr>
        <p:spPr>
          <a:xfrm>
            <a:off x="1979265" y="4937467"/>
            <a:ext cx="1916674" cy="676473"/>
          </a:xfrm>
          <a:prstGeom prst="roundRect">
            <a:avLst>
              <a:gd name="adj" fmla="val 8110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LiDAR-inertial SLAM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pose-time check</a:t>
            </a:r>
            <a:endParaRPr lang="en-US" sz="1200" dirty="0"/>
          </a:p>
        </p:txBody>
      </p:sp>
      <p:sp>
        <p:nvSpPr>
          <p:cNvPr id="25" name="Registration"/>
          <p:cNvSpPr/>
          <p:nvPr/>
        </p:nvSpPr>
        <p:spPr>
          <a:xfrm>
            <a:off x="4121429" y="4802173"/>
            <a:ext cx="2705892" cy="947062"/>
          </a:xfrm>
          <a:prstGeom prst="roundRect">
            <a:avLst>
              <a:gd name="adj" fmla="val 5793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Per-agent registration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LiDAR: scan-to-map ICP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RGB-D: odometry + ICP + boards</a:t>
            </a:r>
            <a:endParaRPr lang="en-US" sz="1200" dirty="0"/>
          </a:p>
        </p:txBody>
      </p:sp>
      <p:sp>
        <p:nvSpPr>
          <p:cNvPr id="26" name="Validation"/>
          <p:cNvSpPr/>
          <p:nvPr/>
        </p:nvSpPr>
        <p:spPr>
          <a:xfrm>
            <a:off x="7052813" y="4802173"/>
            <a:ext cx="1522065" cy="947062"/>
          </a:xfrm>
          <a:prstGeom prst="roundRect">
            <a:avLst>
              <a:gd name="adj" fmla="val 5793"/>
            </a:avLst>
          </a:prstGeom>
          <a:solidFill>
            <a:srgbClr val="FFFFFF"/>
          </a:solidFill>
          <a:ln w="15875">
            <a:solidFill>
              <a:srgbClr val="14213D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(held-out boards)</a:t>
            </a:r>
            <a:endParaRPr lang="en-US" sz="1200" dirty="0"/>
          </a:p>
        </p:txBody>
      </p:sp>
      <p:sp>
        <p:nvSpPr>
          <p:cNvPr id="27" name="Reference poses"/>
          <p:cNvSpPr/>
          <p:nvPr/>
        </p:nvSpPr>
        <p:spPr>
          <a:xfrm>
            <a:off x="8800368" y="4881095"/>
            <a:ext cx="1522065" cy="789219"/>
          </a:xfrm>
          <a:prstGeom prst="parallelogram">
            <a:avLst/>
          </a:prstGeom>
          <a:solidFill>
            <a:srgbClr val="FBE6D0"/>
          </a:solidFill>
          <a:ln w="19050">
            <a:solidFill>
              <a:srgbClr val="D9822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poses (site)</a:t>
            </a:r>
            <a:endParaRPr lang="en-US" sz="1200" dirty="0"/>
          </a:p>
        </p:txBody>
      </p:sp>
      <p:sp>
        <p:nvSpPr>
          <p:cNvPr id="28" name="Labels"/>
          <p:cNvSpPr/>
          <p:nvPr/>
        </p:nvSpPr>
        <p:spPr>
          <a:xfrm>
            <a:off x="10491551" y="4881095"/>
            <a:ext cx="1059808" cy="789219"/>
          </a:xfrm>
          <a:prstGeom prst="parallelogram">
            <a:avLst/>
          </a:prstGeom>
          <a:solidFill>
            <a:srgbClr val="FBE6D0"/>
          </a:solidFill>
          <a:ln w="19050">
            <a:solidFill>
              <a:srgbClr val="D9822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</a:t>
            </a:r>
            <a:endParaRPr lang="en-US" sz="1200" dirty="0"/>
          </a:p>
        </p:txBody>
      </p:sp>
      <p:sp>
        <p:nvSpPr>
          <p:cNvPr id="29" name="Arrow 5"/>
          <p:cNvSpPr/>
          <p:nvPr/>
        </p:nvSpPr>
        <p:spPr>
          <a:xfrm>
            <a:off x="1753773" y="5275704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0" name="Arrow 6"/>
          <p:cNvSpPr/>
          <p:nvPr/>
        </p:nvSpPr>
        <p:spPr>
          <a:xfrm>
            <a:off x="3895938" y="5275704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1" name="Arrow 7"/>
          <p:cNvSpPr/>
          <p:nvPr/>
        </p:nvSpPr>
        <p:spPr>
          <a:xfrm>
            <a:off x="6827322" y="5275704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2" name="Arrow 8"/>
          <p:cNvSpPr/>
          <p:nvPr/>
        </p:nvSpPr>
        <p:spPr>
          <a:xfrm>
            <a:off x="8574877" y="5275704"/>
            <a:ext cx="225491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3" name="Arrow 9"/>
          <p:cNvSpPr/>
          <p:nvPr/>
        </p:nvSpPr>
        <p:spPr>
          <a:xfrm>
            <a:off x="10322433" y="5275704"/>
            <a:ext cx="169118" cy="0"/>
          </a:xfrm>
          <a:prstGeom prst="line">
            <a:avLst/>
          </a:prstGeom>
          <a:noFill/>
          <a:ln w="15875">
            <a:solidFill>
              <a:srgbClr val="14213D"/>
            </a:solidFill>
            <a:prstDash val="solid"/>
            <a:tailEnd type="triangle"/>
          </a:ln>
        </p:spPr>
      </p:sp>
      <p:sp>
        <p:nvSpPr>
          <p:cNvPr id="34" name="Bus down"/>
          <p:cNvSpPr/>
          <p:nvPr/>
        </p:nvSpPr>
        <p:spPr>
          <a:xfrm>
            <a:off x="7954777" y="3054617"/>
            <a:ext cx="0" cy="1454417"/>
          </a:xfrm>
          <a:prstGeom prst="line">
            <a:avLst/>
          </a:prstGeom>
          <a:noFill/>
          <a:ln w="19050">
            <a:solidFill>
              <a:srgbClr val="D9822B"/>
            </a:solidFill>
            <a:prstDash val="dash"/>
            <a:tailEnd type="none"/>
          </a:ln>
        </p:spPr>
      </p:sp>
      <p:sp>
        <p:nvSpPr>
          <p:cNvPr id="35" name="Bus across"/>
          <p:cNvSpPr/>
          <p:nvPr/>
        </p:nvSpPr>
        <p:spPr>
          <a:xfrm flipH="1">
            <a:off x="5474376" y="4509034"/>
            <a:ext cx="2480401" cy="0"/>
          </a:xfrm>
          <a:prstGeom prst="line">
            <a:avLst/>
          </a:prstGeom>
          <a:noFill/>
          <a:ln w="19050">
            <a:solidFill>
              <a:srgbClr val="D9822B"/>
            </a:solidFill>
            <a:prstDash val="dash"/>
            <a:tailEnd type="none"/>
          </a:ln>
        </p:spPr>
      </p:sp>
      <p:sp>
        <p:nvSpPr>
          <p:cNvPr id="36" name="To registration"/>
          <p:cNvSpPr/>
          <p:nvPr/>
        </p:nvSpPr>
        <p:spPr>
          <a:xfrm>
            <a:off x="5474376" y="4509034"/>
            <a:ext cx="0" cy="293138"/>
          </a:xfrm>
          <a:prstGeom prst="line">
            <a:avLst/>
          </a:prstGeom>
          <a:noFill/>
          <a:ln w="19050">
            <a:solidFill>
              <a:srgbClr val="D9822B"/>
            </a:solidFill>
            <a:prstDash val="dash"/>
            <a:tailEnd type="triangle"/>
          </a:ln>
        </p:spPr>
      </p:sp>
      <p:sp>
        <p:nvSpPr>
          <p:cNvPr id="37" name="To validation"/>
          <p:cNvSpPr/>
          <p:nvPr/>
        </p:nvSpPr>
        <p:spPr>
          <a:xfrm>
            <a:off x="7813845" y="4509034"/>
            <a:ext cx="0" cy="293138"/>
          </a:xfrm>
          <a:prstGeom prst="line">
            <a:avLst/>
          </a:prstGeom>
          <a:noFill/>
          <a:ln w="19050">
            <a:solidFill>
              <a:srgbClr val="D9822B"/>
            </a:solidFill>
            <a:prstDash val="dash"/>
            <a:tailEnd type="triangle"/>
          </a:ln>
        </p:spPr>
      </p:sp>
      <p:sp>
        <p:nvSpPr>
          <p:cNvPr id="38" name="Bus label"/>
          <p:cNvSpPr txBox="1"/>
          <p:nvPr/>
        </p:nvSpPr>
        <p:spPr>
          <a:xfrm>
            <a:off x="5699867" y="4204622"/>
            <a:ext cx="1916674" cy="2705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5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map, boards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Reference pipeline</dc:title>
  <dc:subject>PptxGenJS Presentation</dc:subject>
  <dc:creator>PptxGenJS</dc:creator>
  <cp:lastModifiedBy>PptxGenJS</cp:lastModifiedBy>
  <cp:revision>1</cp:revision>
  <dcterms:created xsi:type="dcterms:W3CDTF">2026-10-19T08:13:39Z</dcterms:created>
  <dcterms:modified xsi:type="dcterms:W3CDTF">2026-10-19T08:13:39Z</dcterms:modified>
</cp:coreProperties>
</file>