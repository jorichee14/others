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robot's recording is processed on its own, then the pass is merged. mobile_1: its raw bag holds the Ouster's lidar and IMU packets; they are decoded into points and IMU in sensor time, retimed onto the PC clock with a clock fit, and the ZED IMU is re-synced to the Ouster IMU (its driver stamps it late, 2.12 s on 20260924). GLIM gives the LiDAR trajectory. The ZED's SVO2 is replayed into image, depth and odometry bags on the capture clock. mobile_2: the same Ouster chain; GLIM runs with its own config and its poses are moved 46 ms on export. Its RealSense and Isaac VSLAM topics are already on the PC clock and are copied. The merge checks every robot's bags against record.yaml and adds the calibrations; a pass with one robot uses its own retimed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mapping session, once per site. GLIM with its pose-time correction, plane bundle adjustment and TSDF fusion give the frozen reference map and trajectory; the boards are posed in it and the infrastructure cameras placed through them. Wall thickness, loop closure, pose time and control distances check it. Bottom: every sequence is registered into the frozen map per agent, validated on held-out boards, and exported in the site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Recording processing, per robot and pass</a:t>
            </a:r>
            <a:endParaRPr lang="en-US" sz="3200" dirty="0"/>
          </a:p>
        </p:txBody>
      </p:sp>
      <p:sp>
        <p:nvSpPr>
          <p:cNvPr id="3" name="mobile_1 lane"/>
          <p:cNvSpPr/>
          <p:nvPr/>
        </p:nvSpPr>
        <p:spPr>
          <a:xfrm>
            <a:off x="524847" y="1393527"/>
            <a:ext cx="8861798" cy="2412754"/>
          </a:xfrm>
          <a:prstGeom prst="roundRect">
            <a:avLst>
              <a:gd name="adj" fmla="val 3790"/>
            </a:avLst>
          </a:prstGeom>
          <a:solidFill>
            <a:srgbClr val="EEF1F5"/>
          </a:solidFill>
          <a:ln w="12700">
            <a:solidFill>
              <a:srgbClr val="A7B0C0"/>
            </a:solidFill>
            <a:prstDash val="solid"/>
          </a:ln>
        </p:spPr>
      </p:sp>
      <p:sp>
        <p:nvSpPr>
          <p:cNvPr id="4" name="mobile_1 lane title"/>
          <p:cNvSpPr txBox="1"/>
          <p:nvPr/>
        </p:nvSpPr>
        <p:spPr>
          <a:xfrm>
            <a:off x="660142" y="1457535"/>
            <a:ext cx="8591209"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mobile_1  ·  Ouster LiDAR + ZED 2i</a:t>
            </a:r>
            <a:endParaRPr lang="en-US" sz="1300" dirty="0"/>
          </a:p>
        </p:txBody>
      </p:sp>
      <p:sp>
        <p:nvSpPr>
          <p:cNvPr id="5" name="m1 raw bag"/>
          <p:cNvSpPr/>
          <p:nvPr/>
        </p:nvSpPr>
        <p:spPr>
          <a:xfrm>
            <a:off x="660142" y="1979804"/>
            <a:ext cx="1398044"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Raw bag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 + IMU packets,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metadata, ZED IMU</a:t>
            </a:r>
            <a:endParaRPr lang="en-US" sz="1100" dirty="0"/>
          </a:p>
        </p:txBody>
      </p:sp>
      <p:sp>
        <p:nvSpPr>
          <p:cNvPr id="6" name="m1 decode"/>
          <p:cNvSpPr/>
          <p:nvPr/>
        </p:nvSpPr>
        <p:spPr>
          <a:xfrm>
            <a:off x="2283677" y="1979804"/>
            <a:ext cx="1578437"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Decode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packets → points +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time, _mobile1)</a:t>
            </a:r>
            <a:endParaRPr lang="en-US" sz="1100" dirty="0"/>
          </a:p>
        </p:txBody>
      </p:sp>
      <p:sp>
        <p:nvSpPr>
          <p:cNvPr id="7" name="m1 retime"/>
          <p:cNvSpPr/>
          <p:nvPr/>
        </p:nvSpPr>
        <p:spPr>
          <a:xfrm>
            <a:off x="4087606" y="1979804"/>
            <a:ext cx="1803928"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 PC clock (clock fit);</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ZED IMU re-synced to Ouster</a:t>
            </a:r>
            <a:endParaRPr lang="en-US" sz="1100" dirty="0"/>
          </a:p>
        </p:txBody>
      </p:sp>
      <p:sp>
        <p:nvSpPr>
          <p:cNvPr id="8" name="m1 GLIM"/>
          <p:cNvSpPr/>
          <p:nvPr/>
        </p:nvSpPr>
        <p:spPr>
          <a:xfrm>
            <a:off x="6117025" y="1979804"/>
            <a:ext cx="1465692"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GLIM</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LiDAR-inertial</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SLAM</a:t>
            </a:r>
            <a:endParaRPr lang="en-US" sz="1100" dirty="0"/>
          </a:p>
        </p:txBody>
      </p:sp>
      <p:sp>
        <p:nvSpPr>
          <p:cNvPr id="9" name="m1 trajectory"/>
          <p:cNvSpPr/>
          <p:nvPr/>
        </p:nvSpPr>
        <p:spPr>
          <a:xfrm>
            <a:off x="7808208" y="1979804"/>
            <a:ext cx="1352946" cy="811768"/>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LiDAR</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trajectory</a:t>
            </a:r>
            <a:endParaRPr lang="en-US" sz="1100" dirty="0"/>
          </a:p>
        </p:txBody>
      </p:sp>
      <p:sp>
        <p:nvSpPr>
          <p:cNvPr id="10" name="Arrow"/>
          <p:cNvSpPr/>
          <p:nvPr/>
        </p:nvSpPr>
        <p:spPr>
          <a:xfrm>
            <a:off x="2058186" y="2385688"/>
            <a:ext cx="225491" cy="0"/>
          </a:xfrm>
          <a:prstGeom prst="line">
            <a:avLst/>
          </a:prstGeom>
          <a:noFill/>
          <a:ln w="15875">
            <a:solidFill>
              <a:srgbClr val="14213D"/>
            </a:solidFill>
            <a:prstDash val="solid"/>
            <a:tailEnd type="triangle"/>
          </a:ln>
        </p:spPr>
      </p:sp>
      <p:sp>
        <p:nvSpPr>
          <p:cNvPr id="11" name="Arrow"/>
          <p:cNvSpPr/>
          <p:nvPr/>
        </p:nvSpPr>
        <p:spPr>
          <a:xfrm>
            <a:off x="3862115" y="2385688"/>
            <a:ext cx="225491" cy="0"/>
          </a:xfrm>
          <a:prstGeom prst="line">
            <a:avLst/>
          </a:prstGeom>
          <a:noFill/>
          <a:ln w="15875">
            <a:solidFill>
              <a:srgbClr val="14213D"/>
            </a:solidFill>
            <a:prstDash val="solid"/>
            <a:tailEnd type="triangle"/>
          </a:ln>
        </p:spPr>
      </p:sp>
      <p:sp>
        <p:nvSpPr>
          <p:cNvPr id="12" name="Arrow"/>
          <p:cNvSpPr/>
          <p:nvPr/>
        </p:nvSpPr>
        <p:spPr>
          <a:xfrm>
            <a:off x="5891534" y="2385688"/>
            <a:ext cx="225491" cy="0"/>
          </a:xfrm>
          <a:prstGeom prst="line">
            <a:avLst/>
          </a:prstGeom>
          <a:noFill/>
          <a:ln w="15875">
            <a:solidFill>
              <a:srgbClr val="14213D"/>
            </a:solidFill>
            <a:prstDash val="solid"/>
            <a:tailEnd type="triangle"/>
          </a:ln>
        </p:spPr>
      </p:sp>
      <p:sp>
        <p:nvSpPr>
          <p:cNvPr id="13" name="Arrow"/>
          <p:cNvSpPr/>
          <p:nvPr/>
        </p:nvSpPr>
        <p:spPr>
          <a:xfrm>
            <a:off x="7582717" y="2385688"/>
            <a:ext cx="225491" cy="0"/>
          </a:xfrm>
          <a:prstGeom prst="line">
            <a:avLst/>
          </a:prstGeom>
          <a:noFill/>
          <a:ln w="15875">
            <a:solidFill>
              <a:srgbClr val="14213D"/>
            </a:solidFill>
            <a:prstDash val="solid"/>
            <a:tailEnd type="triangle"/>
          </a:ln>
        </p:spPr>
      </p:sp>
      <p:sp>
        <p:nvSpPr>
          <p:cNvPr id="14" name="m1 svo"/>
          <p:cNvSpPr/>
          <p:nvPr/>
        </p:nvSpPr>
        <p:spPr>
          <a:xfrm>
            <a:off x="660142" y="3017063"/>
            <a:ext cx="139804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SVO2</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(stereo video)</a:t>
            </a:r>
            <a:endParaRPr lang="en-US" sz="1100" dirty="0"/>
          </a:p>
        </p:txBody>
      </p:sp>
      <p:sp>
        <p:nvSpPr>
          <p:cNvPr id="15" name="m1 zed replay"/>
          <p:cNvSpPr/>
          <p:nvPr/>
        </p:nvSpPr>
        <p:spPr>
          <a:xfrm>
            <a:off x="2283677" y="3017063"/>
            <a:ext cx="3607857"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replay: images, depth, odometry, pose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on the capture clock</a:t>
            </a:r>
            <a:endParaRPr lang="en-US" sz="1100" dirty="0"/>
          </a:p>
        </p:txBody>
      </p:sp>
      <p:sp>
        <p:nvSpPr>
          <p:cNvPr id="16" name="m1 zed bags"/>
          <p:cNvSpPr/>
          <p:nvPr/>
        </p:nvSpPr>
        <p:spPr>
          <a:xfrm>
            <a:off x="6117025" y="3017063"/>
            <a:ext cx="1465692" cy="676473"/>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bags</a:t>
            </a:r>
            <a:endParaRPr lang="en-US" sz="1100" dirty="0"/>
          </a:p>
        </p:txBody>
      </p:sp>
      <p:sp>
        <p:nvSpPr>
          <p:cNvPr id="17" name="Arrow"/>
          <p:cNvSpPr/>
          <p:nvPr/>
        </p:nvSpPr>
        <p:spPr>
          <a:xfrm>
            <a:off x="2058186" y="3355299"/>
            <a:ext cx="225491" cy="0"/>
          </a:xfrm>
          <a:prstGeom prst="line">
            <a:avLst/>
          </a:prstGeom>
          <a:noFill/>
          <a:ln w="15875">
            <a:solidFill>
              <a:srgbClr val="14213D"/>
            </a:solidFill>
            <a:prstDash val="solid"/>
            <a:tailEnd type="triangle"/>
          </a:ln>
        </p:spPr>
      </p:sp>
      <p:sp>
        <p:nvSpPr>
          <p:cNvPr id="18" name="Arrow"/>
          <p:cNvSpPr/>
          <p:nvPr/>
        </p:nvSpPr>
        <p:spPr>
          <a:xfrm>
            <a:off x="5891534" y="3355299"/>
            <a:ext cx="225491" cy="0"/>
          </a:xfrm>
          <a:prstGeom prst="line">
            <a:avLst/>
          </a:prstGeom>
          <a:noFill/>
          <a:ln w="15875">
            <a:solidFill>
              <a:srgbClr val="14213D"/>
            </a:solidFill>
            <a:prstDash val="solid"/>
            <a:tailEnd type="triangle"/>
          </a:ln>
        </p:spPr>
      </p:sp>
      <p:sp>
        <p:nvSpPr>
          <p:cNvPr id="19" name="mobile_2 lane"/>
          <p:cNvSpPr/>
          <p:nvPr/>
        </p:nvSpPr>
        <p:spPr>
          <a:xfrm>
            <a:off x="524847" y="4031772"/>
            <a:ext cx="8861798" cy="2412754"/>
          </a:xfrm>
          <a:prstGeom prst="roundRect">
            <a:avLst>
              <a:gd name="adj" fmla="val 3790"/>
            </a:avLst>
          </a:prstGeom>
          <a:solidFill>
            <a:srgbClr val="EEF1F5"/>
          </a:solidFill>
          <a:ln w="12700">
            <a:solidFill>
              <a:srgbClr val="A7B0C0"/>
            </a:solidFill>
            <a:prstDash val="solid"/>
          </a:ln>
        </p:spPr>
      </p:sp>
      <p:sp>
        <p:nvSpPr>
          <p:cNvPr id="20" name="mobile_2 lane title"/>
          <p:cNvSpPr txBox="1"/>
          <p:nvPr/>
        </p:nvSpPr>
        <p:spPr>
          <a:xfrm>
            <a:off x="660142" y="4095780"/>
            <a:ext cx="8591209"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mobile_2  ·  Ouster LiDAR + RealSense + Isaac VSLAM</a:t>
            </a:r>
            <a:endParaRPr lang="en-US" sz="1300" dirty="0"/>
          </a:p>
        </p:txBody>
      </p:sp>
      <p:sp>
        <p:nvSpPr>
          <p:cNvPr id="21" name="m2 raw bag"/>
          <p:cNvSpPr/>
          <p:nvPr/>
        </p:nvSpPr>
        <p:spPr>
          <a:xfrm>
            <a:off x="660142" y="4595500"/>
            <a:ext cx="1398044"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Raw bag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 + IMU packets,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metadata</a:t>
            </a:r>
            <a:endParaRPr lang="en-US" sz="1100" dirty="0"/>
          </a:p>
        </p:txBody>
      </p:sp>
      <p:sp>
        <p:nvSpPr>
          <p:cNvPr id="22" name="m2 decode"/>
          <p:cNvSpPr/>
          <p:nvPr/>
        </p:nvSpPr>
        <p:spPr>
          <a:xfrm>
            <a:off x="2283677" y="4595500"/>
            <a:ext cx="1578437"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Decode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packets → points +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time, _mobile2)</a:t>
            </a:r>
            <a:endParaRPr lang="en-US" sz="1100" dirty="0"/>
          </a:p>
        </p:txBody>
      </p:sp>
      <p:sp>
        <p:nvSpPr>
          <p:cNvPr id="23" name="m2 retime"/>
          <p:cNvSpPr/>
          <p:nvPr/>
        </p:nvSpPr>
        <p:spPr>
          <a:xfrm>
            <a:off x="4087606" y="4595500"/>
            <a:ext cx="1803928"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 PC clock</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(clock fit)</a:t>
            </a:r>
            <a:endParaRPr lang="en-US" sz="1100" dirty="0"/>
          </a:p>
        </p:txBody>
      </p:sp>
      <p:sp>
        <p:nvSpPr>
          <p:cNvPr id="24" name="m2 GLIM"/>
          <p:cNvSpPr/>
          <p:nvPr/>
        </p:nvSpPr>
        <p:spPr>
          <a:xfrm>
            <a:off x="6117025" y="4595500"/>
            <a:ext cx="1465692"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GLIM, own config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 pose-time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correction +46 ms</a:t>
            </a:r>
            <a:endParaRPr lang="en-US" sz="1100" dirty="0"/>
          </a:p>
        </p:txBody>
      </p:sp>
      <p:sp>
        <p:nvSpPr>
          <p:cNvPr id="25" name="m2 trajectory"/>
          <p:cNvSpPr/>
          <p:nvPr/>
        </p:nvSpPr>
        <p:spPr>
          <a:xfrm>
            <a:off x="7808208" y="4595500"/>
            <a:ext cx="1352946" cy="811768"/>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LiDAR</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trajectory</a:t>
            </a:r>
            <a:endParaRPr lang="en-US" sz="1100" dirty="0"/>
          </a:p>
        </p:txBody>
      </p:sp>
      <p:sp>
        <p:nvSpPr>
          <p:cNvPr id="26" name="Arrow"/>
          <p:cNvSpPr/>
          <p:nvPr/>
        </p:nvSpPr>
        <p:spPr>
          <a:xfrm>
            <a:off x="2058186" y="5001384"/>
            <a:ext cx="225491" cy="0"/>
          </a:xfrm>
          <a:prstGeom prst="line">
            <a:avLst/>
          </a:prstGeom>
          <a:noFill/>
          <a:ln w="15875">
            <a:solidFill>
              <a:srgbClr val="14213D"/>
            </a:solidFill>
            <a:prstDash val="solid"/>
            <a:tailEnd type="triangle"/>
          </a:ln>
        </p:spPr>
      </p:sp>
      <p:sp>
        <p:nvSpPr>
          <p:cNvPr id="27" name="Arrow"/>
          <p:cNvSpPr/>
          <p:nvPr/>
        </p:nvSpPr>
        <p:spPr>
          <a:xfrm>
            <a:off x="3862115" y="5001384"/>
            <a:ext cx="225491" cy="0"/>
          </a:xfrm>
          <a:prstGeom prst="line">
            <a:avLst/>
          </a:prstGeom>
          <a:noFill/>
          <a:ln w="15875">
            <a:solidFill>
              <a:srgbClr val="14213D"/>
            </a:solidFill>
            <a:prstDash val="solid"/>
            <a:tailEnd type="triangle"/>
          </a:ln>
        </p:spPr>
      </p:sp>
      <p:sp>
        <p:nvSpPr>
          <p:cNvPr id="28" name="Arrow"/>
          <p:cNvSpPr/>
          <p:nvPr/>
        </p:nvSpPr>
        <p:spPr>
          <a:xfrm>
            <a:off x="5891534" y="5001384"/>
            <a:ext cx="225491" cy="0"/>
          </a:xfrm>
          <a:prstGeom prst="line">
            <a:avLst/>
          </a:prstGeom>
          <a:noFill/>
          <a:ln w="15875">
            <a:solidFill>
              <a:srgbClr val="14213D"/>
            </a:solidFill>
            <a:prstDash val="solid"/>
            <a:tailEnd type="triangle"/>
          </a:ln>
        </p:spPr>
      </p:sp>
      <p:sp>
        <p:nvSpPr>
          <p:cNvPr id="29" name="Arrow"/>
          <p:cNvSpPr/>
          <p:nvPr/>
        </p:nvSpPr>
        <p:spPr>
          <a:xfrm>
            <a:off x="7582717" y="5001384"/>
            <a:ext cx="225491" cy="0"/>
          </a:xfrm>
          <a:prstGeom prst="line">
            <a:avLst/>
          </a:prstGeom>
          <a:noFill/>
          <a:ln w="15875">
            <a:solidFill>
              <a:srgbClr val="14213D"/>
            </a:solidFill>
            <a:prstDash val="solid"/>
            <a:tailEnd type="triangle"/>
          </a:ln>
        </p:spPr>
      </p:sp>
      <p:sp>
        <p:nvSpPr>
          <p:cNvPr id="30" name="m2 realsense"/>
          <p:cNvSpPr/>
          <p:nvPr/>
        </p:nvSpPr>
        <p:spPr>
          <a:xfrm>
            <a:off x="660142" y="5632759"/>
            <a:ext cx="139804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RealSense,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Isaac VSLAM</a:t>
            </a:r>
            <a:endParaRPr lang="en-US" sz="1100" dirty="0"/>
          </a:p>
        </p:txBody>
      </p:sp>
      <p:sp>
        <p:nvSpPr>
          <p:cNvPr id="31" name="m2 copy"/>
          <p:cNvSpPr/>
          <p:nvPr/>
        </p:nvSpPr>
        <p:spPr>
          <a:xfrm>
            <a:off x="2283677" y="5632759"/>
            <a:ext cx="3607857"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copied as recorded: already on the PC clock;</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frames renamed per robot</a:t>
            </a:r>
            <a:endParaRPr lang="en-US" sz="1100" dirty="0"/>
          </a:p>
        </p:txBody>
      </p:sp>
      <p:sp>
        <p:nvSpPr>
          <p:cNvPr id="32" name="Arrow"/>
          <p:cNvSpPr/>
          <p:nvPr/>
        </p:nvSpPr>
        <p:spPr>
          <a:xfrm>
            <a:off x="2058186" y="5970995"/>
            <a:ext cx="225491" cy="0"/>
          </a:xfrm>
          <a:prstGeom prst="line">
            <a:avLst/>
          </a:prstGeom>
          <a:noFill/>
          <a:ln w="15875">
            <a:solidFill>
              <a:srgbClr val="14213D"/>
            </a:solidFill>
            <a:prstDash val="solid"/>
            <a:tailEnd type="triangle"/>
          </a:ln>
        </p:spPr>
      </p:sp>
      <p:sp>
        <p:nvSpPr>
          <p:cNvPr id="33" name="pass lane"/>
          <p:cNvSpPr/>
          <p:nvPr/>
        </p:nvSpPr>
        <p:spPr>
          <a:xfrm>
            <a:off x="9521940" y="1393527"/>
            <a:ext cx="2142165" cy="5050999"/>
          </a:xfrm>
          <a:prstGeom prst="roundRect">
            <a:avLst>
              <a:gd name="adj" fmla="val 4269"/>
            </a:avLst>
          </a:prstGeom>
          <a:solidFill>
            <a:srgbClr val="EEF1F5"/>
          </a:solidFill>
          <a:ln w="12700">
            <a:solidFill>
              <a:srgbClr val="A7B0C0"/>
            </a:solidFill>
            <a:prstDash val="solid"/>
          </a:ln>
        </p:spPr>
      </p:sp>
      <p:sp>
        <p:nvSpPr>
          <p:cNvPr id="34" name="pass lane title"/>
          <p:cNvSpPr txBox="1"/>
          <p:nvPr/>
        </p:nvSpPr>
        <p:spPr>
          <a:xfrm>
            <a:off x="9657234" y="1457535"/>
            <a:ext cx="1871576"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Each pass</a:t>
            </a:r>
            <a:endParaRPr lang="en-US" sz="1300" dirty="0"/>
          </a:p>
        </p:txBody>
      </p:sp>
      <p:sp>
        <p:nvSpPr>
          <p:cNvPr id="35" name="merge"/>
          <p:cNvSpPr/>
          <p:nvPr/>
        </p:nvSpPr>
        <p:spPr>
          <a:xfrm>
            <a:off x="9612136" y="2960690"/>
            <a:ext cx="1961772" cy="1465692"/>
          </a:xfrm>
          <a:prstGeom prst="roundRect">
            <a:avLst>
              <a:gd name="adj" fmla="val 374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Merge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every robot's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retimed + ZED bags,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checked against</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record.yaml;</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calibrations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to /tf_static</a:t>
            </a:r>
            <a:endParaRPr lang="en-US" sz="1100" dirty="0"/>
          </a:p>
        </p:txBody>
      </p:sp>
      <p:sp>
        <p:nvSpPr>
          <p:cNvPr id="36" name="merged bag"/>
          <p:cNvSpPr/>
          <p:nvPr/>
        </p:nvSpPr>
        <p:spPr>
          <a:xfrm>
            <a:off x="9612136" y="4911188"/>
            <a:ext cx="1961772" cy="721571"/>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Merged bag</a:t>
            </a:r>
            <a:endParaRPr lang="en-US" sz="1100" dirty="0"/>
          </a:p>
        </p:txBody>
      </p:sp>
      <p:sp>
        <p:nvSpPr>
          <p:cNvPr id="37" name="to merged bag"/>
          <p:cNvSpPr/>
          <p:nvPr/>
        </p:nvSpPr>
        <p:spPr>
          <a:xfrm>
            <a:off x="10593022" y="4426382"/>
            <a:ext cx="0" cy="484806"/>
          </a:xfrm>
          <a:prstGeom prst="line">
            <a:avLst/>
          </a:prstGeom>
          <a:noFill/>
          <a:ln w="15875">
            <a:solidFill>
              <a:srgbClr val="14213D"/>
            </a:solidFill>
            <a:prstDash val="solid"/>
            <a:tailEnd type="triangle"/>
          </a:ln>
        </p:spPr>
      </p:sp>
      <p:sp>
        <p:nvSpPr>
          <p:cNvPr id="38" name="mobile_1 bags"/>
          <p:cNvSpPr/>
          <p:nvPr/>
        </p:nvSpPr>
        <p:spPr>
          <a:xfrm>
            <a:off x="9093507" y="2385688"/>
            <a:ext cx="518629" cy="969611"/>
          </a:xfrm>
          <a:prstGeom prst="line">
            <a:avLst/>
          </a:prstGeom>
          <a:noFill/>
          <a:ln w="15875">
            <a:solidFill>
              <a:srgbClr val="14213D"/>
            </a:solidFill>
            <a:prstDash val="solid"/>
            <a:tailEnd type="triangle"/>
          </a:ln>
        </p:spPr>
      </p:sp>
      <p:sp>
        <p:nvSpPr>
          <p:cNvPr id="39" name="mobile_2 bags"/>
          <p:cNvSpPr/>
          <p:nvPr/>
        </p:nvSpPr>
        <p:spPr>
          <a:xfrm flipV="1">
            <a:off x="9093507" y="4031772"/>
            <a:ext cx="518629" cy="969611"/>
          </a:xfrm>
          <a:prstGeom prst="line">
            <a:avLst/>
          </a:prstGeom>
          <a:noFill/>
          <a:ln w="15875">
            <a:solidFill>
              <a:srgbClr val="14213D"/>
            </a:solidFill>
            <a:prstDash val="solid"/>
            <a:tailEnd type="triangle"/>
          </a:ln>
        </p:spPr>
      </p:sp>
      <p:sp>
        <p:nvSpPr>
          <p:cNvPr id="40" name="single robot note"/>
          <p:cNvSpPr txBox="1"/>
          <p:nvPr/>
        </p:nvSpPr>
        <p:spPr>
          <a:xfrm>
            <a:off x="9612136" y="5869524"/>
            <a:ext cx="1961772" cy="563728"/>
          </a:xfrm>
          <a:prstGeom prst="rect">
            <a:avLst/>
          </a:prstGeom>
          <a:noFill/>
          <a:ln/>
        </p:spPr>
        <p:txBody>
          <a:bodyPr wrap="square" lIns="0" tIns="0" rIns="0" bIns="0" rtlCol="0" anchor="ctr"/>
          <a:lstStyle/>
          <a:p>
            <a:pPr algn="ctr" indent="0" marL="0">
              <a:buNone/>
            </a:pPr>
            <a:r>
              <a:rPr lang="en-US" sz="950" i="1" dirty="0">
                <a:solidFill>
                  <a:srgbClr val="5A6475"/>
                </a:solidFill>
                <a:latin typeface="Calibri" pitchFamily="34" charset="0"/>
                <a:ea typeface="Calibri" pitchFamily="34" charset="-122"/>
                <a:cs typeface="Calibri" pitchFamily="34" charset="-120"/>
              </a:rPr>
              <a:t>one robot alone (20261015):</a:t>
            </a:r>
            <a:endParaRPr lang="en-US" sz="950" dirty="0"/>
          </a:p>
          <a:p>
            <a:pPr algn="ctr" indent="0" marL="0">
              <a:buNone/>
            </a:pPr>
            <a:r>
              <a:rPr lang="en-US" sz="950" i="1" dirty="0">
                <a:solidFill>
                  <a:srgbClr val="5A6475"/>
                </a:solidFill>
                <a:latin typeface="Calibri" pitchFamily="34" charset="0"/>
                <a:ea typeface="Calibri" pitchFamily="34" charset="-122"/>
                <a:cs typeface="Calibri" pitchFamily="34" charset="-120"/>
              </a:rPr>
              <a:t>its own retimed bag, no merge</a:t>
            </a:r>
            <a:endParaRPr lang="en-US" sz="950" dirty="0"/>
          </a:p>
        </p:txBody>
      </p:sp>
      <p:sp>
        <p:nvSpPr>
          <p:cNvPr id="41" name="to next"/>
          <p:cNvSpPr txBox="1"/>
          <p:nvPr/>
        </p:nvSpPr>
        <p:spPr>
          <a:xfrm>
            <a:off x="4087606" y="3834468"/>
            <a:ext cx="5073548" cy="180393"/>
          </a:xfrm>
          <a:prstGeom prst="rect">
            <a:avLst/>
          </a:prstGeom>
          <a:noFill/>
          <a:ln/>
        </p:spPr>
        <p:txBody>
          <a:bodyPr wrap="square" lIns="0" tIns="0" rIns="0" bIns="0" rtlCol="0" anchor="ctr"/>
          <a:lstStyle/>
          <a:p>
            <a:pPr algn="r" indent="0" marL="0">
              <a:buNone/>
            </a:pPr>
            <a:r>
              <a:rPr lang="en-US" sz="950" i="1" dirty="0">
                <a:solidFill>
                  <a:srgbClr val="5A6475"/>
                </a:solidFill>
                <a:latin typeface="Calibri" pitchFamily="34" charset="0"/>
                <a:ea typeface="Calibri" pitchFamily="34" charset="-122"/>
                <a:cs typeface="Calibri" pitchFamily="34" charset="-120"/>
              </a:rPr>
              <a:t>trajectories → the mapping session or the sequence (next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Reference pipeline</a:t>
            </a:r>
            <a:endParaRPr lang="en-US" sz="3200" dirty="0"/>
          </a:p>
        </p:txBody>
      </p:sp>
      <p:sp>
        <p:nvSpPr>
          <p:cNvPr id="3" name="Mapping lane"/>
          <p:cNvSpPr/>
          <p:nvPr/>
        </p:nvSpPr>
        <p:spPr>
          <a:xfrm>
            <a:off x="524847" y="1667847"/>
            <a:ext cx="11139257" cy="2277460"/>
          </a:xfrm>
          <a:prstGeom prst="roundRect">
            <a:avLst>
              <a:gd name="adj" fmla="val 4015"/>
            </a:avLst>
          </a:prstGeom>
          <a:solidFill>
            <a:srgbClr val="EEF1F5"/>
          </a:solidFill>
          <a:ln w="12700">
            <a:solidFill>
              <a:srgbClr val="A7B0C0"/>
            </a:solidFill>
            <a:prstDash val="solid"/>
          </a:ln>
        </p:spPr>
      </p:sp>
      <p:sp>
        <p:nvSpPr>
          <p:cNvPr id="4" name="Mapping lane title"/>
          <p:cNvSpPr txBox="1"/>
          <p:nvPr/>
        </p:nvSpPr>
        <p:spPr>
          <a:xfrm>
            <a:off x="660142" y="1731855"/>
            <a:ext cx="10868668"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Mapping session (once per site)</a:t>
            </a:r>
            <a:endParaRPr lang="en-US" sz="1300" dirty="0"/>
          </a:p>
        </p:txBody>
      </p:sp>
      <p:sp>
        <p:nvSpPr>
          <p:cNvPr id="5" name="Mapping recording"/>
          <p:cNvSpPr/>
          <p:nvPr/>
        </p:nvSpPr>
        <p:spPr>
          <a:xfrm>
            <a:off x="682691" y="2321771"/>
            <a:ext cx="1071082"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Processed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recording</a:t>
            </a:r>
            <a:endParaRPr lang="en-US" sz="1200" dirty="0"/>
          </a:p>
        </p:txBody>
      </p:sp>
      <p:sp>
        <p:nvSpPr>
          <p:cNvPr id="6" name="SLAM"/>
          <p:cNvSpPr/>
          <p:nvPr/>
        </p:nvSpPr>
        <p:spPr>
          <a:xfrm>
            <a:off x="1979265" y="2321771"/>
            <a:ext cx="191667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LiDAR-inertial SLAM</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 pose-time correction</a:t>
            </a:r>
            <a:endParaRPr lang="en-US" sz="1200" dirty="0"/>
          </a:p>
        </p:txBody>
      </p:sp>
      <p:sp>
        <p:nvSpPr>
          <p:cNvPr id="7" name="Bundle adjustment"/>
          <p:cNvSpPr/>
          <p:nvPr/>
        </p:nvSpPr>
        <p:spPr>
          <a:xfrm>
            <a:off x="4121429" y="2321771"/>
            <a:ext cx="1352946"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Plane bundle</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adjustment</a:t>
            </a:r>
            <a:endParaRPr lang="en-US" sz="1200" dirty="0"/>
          </a:p>
        </p:txBody>
      </p:sp>
      <p:sp>
        <p:nvSpPr>
          <p:cNvPr id="8" name="TSDF fusion"/>
          <p:cNvSpPr/>
          <p:nvPr/>
        </p:nvSpPr>
        <p:spPr>
          <a:xfrm>
            <a:off x="5699867" y="2321771"/>
            <a:ext cx="1127455"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TSDF fusion</a:t>
            </a:r>
            <a:endParaRPr lang="en-US" sz="1200" dirty="0"/>
          </a:p>
        </p:txBody>
      </p:sp>
      <p:sp>
        <p:nvSpPr>
          <p:cNvPr id="9" name="Frozen reference"/>
          <p:cNvSpPr/>
          <p:nvPr/>
        </p:nvSpPr>
        <p:spPr>
          <a:xfrm>
            <a:off x="7052813" y="2265399"/>
            <a:ext cx="1803928"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Frozen reference</a:t>
            </a:r>
            <a:endParaRPr lang="en-US" sz="1200" dirty="0"/>
          </a:p>
          <a:p>
            <a:pPr algn="ctr" indent="0" marL="0">
              <a:buNone/>
            </a:pPr>
            <a:r>
              <a:rPr lang="en-US" sz="1200" b="1" dirty="0">
                <a:solidFill>
                  <a:srgbClr val="14213D"/>
                </a:solidFill>
                <a:latin typeface="Calibri" pitchFamily="34" charset="0"/>
                <a:ea typeface="Calibri" pitchFamily="34" charset="-122"/>
                <a:cs typeface="Calibri" pitchFamily="34" charset="-120"/>
              </a:rPr>
              <a:t>map + trajectory</a:t>
            </a:r>
            <a:endParaRPr lang="en-US" sz="1200" dirty="0"/>
          </a:p>
        </p:txBody>
      </p:sp>
      <p:sp>
        <p:nvSpPr>
          <p:cNvPr id="10" name="Board poses"/>
          <p:cNvSpPr/>
          <p:nvPr/>
        </p:nvSpPr>
        <p:spPr>
          <a:xfrm>
            <a:off x="9476842" y="1904613"/>
            <a:ext cx="2074518" cy="541178"/>
          </a:xfrm>
          <a:prstGeom prst="roundRect">
            <a:avLst>
              <a:gd name="adj" fmla="val 10138"/>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Board poses</a:t>
            </a:r>
            <a:endParaRPr lang="en-US" sz="1200" dirty="0"/>
          </a:p>
        </p:txBody>
      </p:sp>
      <p:sp>
        <p:nvSpPr>
          <p:cNvPr id="11" name="Camera poses"/>
          <p:cNvSpPr/>
          <p:nvPr/>
        </p:nvSpPr>
        <p:spPr>
          <a:xfrm>
            <a:off x="9476842" y="3032068"/>
            <a:ext cx="2074518" cy="541178"/>
          </a:xfrm>
          <a:prstGeom prst="roundRect">
            <a:avLst>
              <a:gd name="adj" fmla="val 10138"/>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Infrastructure</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camera poses</a:t>
            </a:r>
            <a:endParaRPr lang="en-US" sz="1200" dirty="0"/>
          </a:p>
        </p:txBody>
      </p:sp>
      <p:sp>
        <p:nvSpPr>
          <p:cNvPr id="12" name="Arrow"/>
          <p:cNvSpPr/>
          <p:nvPr/>
        </p:nvSpPr>
        <p:spPr>
          <a:xfrm>
            <a:off x="1753773" y="2660008"/>
            <a:ext cx="225491" cy="0"/>
          </a:xfrm>
          <a:prstGeom prst="line">
            <a:avLst/>
          </a:prstGeom>
          <a:noFill/>
          <a:ln w="15875">
            <a:solidFill>
              <a:srgbClr val="14213D"/>
            </a:solidFill>
            <a:prstDash val="solid"/>
            <a:tailEnd type="triangle"/>
          </a:ln>
        </p:spPr>
      </p:sp>
      <p:sp>
        <p:nvSpPr>
          <p:cNvPr id="13" name="Arrow"/>
          <p:cNvSpPr/>
          <p:nvPr/>
        </p:nvSpPr>
        <p:spPr>
          <a:xfrm>
            <a:off x="3895938" y="2660008"/>
            <a:ext cx="225491" cy="0"/>
          </a:xfrm>
          <a:prstGeom prst="line">
            <a:avLst/>
          </a:prstGeom>
          <a:noFill/>
          <a:ln w="15875">
            <a:solidFill>
              <a:srgbClr val="14213D"/>
            </a:solidFill>
            <a:prstDash val="solid"/>
            <a:tailEnd type="triangle"/>
          </a:ln>
        </p:spPr>
      </p:sp>
      <p:sp>
        <p:nvSpPr>
          <p:cNvPr id="14" name="Arrow"/>
          <p:cNvSpPr/>
          <p:nvPr/>
        </p:nvSpPr>
        <p:spPr>
          <a:xfrm>
            <a:off x="5474376" y="2660008"/>
            <a:ext cx="225491" cy="0"/>
          </a:xfrm>
          <a:prstGeom prst="line">
            <a:avLst/>
          </a:prstGeom>
          <a:noFill/>
          <a:ln w="15875">
            <a:solidFill>
              <a:srgbClr val="14213D"/>
            </a:solidFill>
            <a:prstDash val="solid"/>
            <a:tailEnd type="triangle"/>
          </a:ln>
        </p:spPr>
      </p:sp>
      <p:sp>
        <p:nvSpPr>
          <p:cNvPr id="15" name="Arrow"/>
          <p:cNvSpPr/>
          <p:nvPr/>
        </p:nvSpPr>
        <p:spPr>
          <a:xfrm>
            <a:off x="6827322" y="2660008"/>
            <a:ext cx="225491" cy="0"/>
          </a:xfrm>
          <a:prstGeom prst="line">
            <a:avLst/>
          </a:prstGeom>
          <a:noFill/>
          <a:ln w="15875">
            <a:solidFill>
              <a:srgbClr val="14213D"/>
            </a:solidFill>
            <a:prstDash val="solid"/>
            <a:tailEnd type="triangle"/>
          </a:ln>
        </p:spPr>
      </p:sp>
      <p:sp>
        <p:nvSpPr>
          <p:cNvPr id="16" name="Arrow to boards"/>
          <p:cNvSpPr/>
          <p:nvPr/>
        </p:nvSpPr>
        <p:spPr>
          <a:xfrm flipV="1">
            <a:off x="8800368" y="2175202"/>
            <a:ext cx="676473" cy="372060"/>
          </a:xfrm>
          <a:prstGeom prst="line">
            <a:avLst/>
          </a:prstGeom>
          <a:noFill/>
          <a:ln w="15875">
            <a:solidFill>
              <a:srgbClr val="14213D"/>
            </a:solidFill>
            <a:prstDash val="solid"/>
            <a:tailEnd type="triangle"/>
          </a:ln>
        </p:spPr>
      </p:sp>
      <p:sp>
        <p:nvSpPr>
          <p:cNvPr id="17" name="Arrow to cameras"/>
          <p:cNvSpPr/>
          <p:nvPr/>
        </p:nvSpPr>
        <p:spPr>
          <a:xfrm>
            <a:off x="8800368" y="2772753"/>
            <a:ext cx="676473" cy="529904"/>
          </a:xfrm>
          <a:prstGeom prst="line">
            <a:avLst/>
          </a:prstGeom>
          <a:noFill/>
          <a:ln w="15875">
            <a:solidFill>
              <a:srgbClr val="14213D"/>
            </a:solidFill>
            <a:prstDash val="solid"/>
            <a:tailEnd type="triangle"/>
          </a:ln>
        </p:spPr>
      </p:sp>
      <p:sp>
        <p:nvSpPr>
          <p:cNvPr id="18" name="Boards to cameras"/>
          <p:cNvSpPr/>
          <p:nvPr/>
        </p:nvSpPr>
        <p:spPr>
          <a:xfrm>
            <a:off x="9927824" y="2445791"/>
            <a:ext cx="0" cy="586277"/>
          </a:xfrm>
          <a:prstGeom prst="line">
            <a:avLst/>
          </a:prstGeom>
          <a:noFill/>
          <a:ln w="15875">
            <a:solidFill>
              <a:srgbClr val="14213D"/>
            </a:solidFill>
            <a:prstDash val="solid"/>
            <a:tailEnd type="triangle"/>
          </a:ln>
        </p:spPr>
      </p:sp>
      <p:sp>
        <p:nvSpPr>
          <p:cNvPr id="19" name="Through label"/>
          <p:cNvSpPr txBox="1"/>
          <p:nvPr/>
        </p:nvSpPr>
        <p:spPr>
          <a:xfrm>
            <a:off x="10040569" y="2592361"/>
            <a:ext cx="1465692" cy="293138"/>
          </a:xfrm>
          <a:prstGeom prst="rect">
            <a:avLst/>
          </a:prstGeom>
          <a:noFill/>
          <a:ln/>
        </p:spPr>
        <p:txBody>
          <a:bodyPr wrap="square" lIns="0" tIns="0" rIns="0" bIns="0" rtlCol="0" anchor="ctr"/>
          <a:lstStyle/>
          <a:p>
            <a:pPr algn="l" indent="0" marL="0">
              <a:buNone/>
            </a:pPr>
            <a:r>
              <a:rPr lang="en-US" sz="1000" dirty="0">
                <a:solidFill>
                  <a:srgbClr val="5A6475"/>
                </a:solidFill>
                <a:latin typeface="Calibri" pitchFamily="34" charset="0"/>
                <a:ea typeface="Calibri" pitchFamily="34" charset="-122"/>
                <a:cs typeface="Calibri" pitchFamily="34" charset="-120"/>
              </a:rPr>
              <a:t>through the boards</a:t>
            </a:r>
            <a:endParaRPr lang="en-US" sz="1000" dirty="0"/>
          </a:p>
        </p:txBody>
      </p:sp>
      <p:sp>
        <p:nvSpPr>
          <p:cNvPr id="20" name="Checks"/>
          <p:cNvSpPr/>
          <p:nvPr/>
        </p:nvSpPr>
        <p:spPr>
          <a:xfrm>
            <a:off x="1979265" y="3449227"/>
            <a:ext cx="4848057" cy="338237"/>
          </a:xfrm>
          <a:prstGeom prst="roundRect">
            <a:avLst>
              <a:gd name="adj" fmla="val 13517"/>
            </a:avLst>
          </a:prstGeom>
          <a:solidFill>
            <a:srgbClr val="EEF1F5"/>
          </a:solidFill>
          <a:ln w="9525">
            <a:solidFill>
              <a:srgbClr val="5A6475"/>
            </a:solidFill>
            <a:prstDash val="dash"/>
          </a:ln>
        </p:spPr>
        <p:txBody>
          <a:bodyPr wrap="square" lIns="0" tIns="0" rIns="0" bIns="0" rtlCol="0" anchor="ctr"/>
          <a:lstStyle/>
          <a:p>
            <a:pPr algn="ctr" indent="0" marL="0">
              <a:buNone/>
            </a:pPr>
            <a:r>
              <a:rPr lang="en-US" sz="1100" i="1" dirty="0">
                <a:solidFill>
                  <a:srgbClr val="5A6475"/>
                </a:solidFill>
                <a:latin typeface="Calibri" pitchFamily="34" charset="0"/>
                <a:ea typeface="Calibri" pitchFamily="34" charset="-122"/>
                <a:cs typeface="Calibri" pitchFamily="34" charset="-120"/>
              </a:rPr>
              <a:t>checks: wall thickness · loop closure · pose time · control distances</a:t>
            </a:r>
            <a:endParaRPr lang="en-US" sz="1100" dirty="0"/>
          </a:p>
        </p:txBody>
      </p:sp>
      <p:sp>
        <p:nvSpPr>
          <p:cNvPr id="21" name="Sequence lane"/>
          <p:cNvSpPr/>
          <p:nvPr/>
        </p:nvSpPr>
        <p:spPr>
          <a:xfrm>
            <a:off x="524847" y="4125700"/>
            <a:ext cx="11139257" cy="1916674"/>
          </a:xfrm>
          <a:prstGeom prst="roundRect">
            <a:avLst>
              <a:gd name="adj" fmla="val 4771"/>
            </a:avLst>
          </a:prstGeom>
          <a:solidFill>
            <a:srgbClr val="EEF1F5"/>
          </a:solidFill>
          <a:ln w="12700">
            <a:solidFill>
              <a:srgbClr val="A7B0C0"/>
            </a:solidFill>
            <a:prstDash val="solid"/>
          </a:ln>
        </p:spPr>
      </p:sp>
      <p:sp>
        <p:nvSpPr>
          <p:cNvPr id="22" name="Sequence lane title"/>
          <p:cNvSpPr txBox="1"/>
          <p:nvPr/>
        </p:nvSpPr>
        <p:spPr>
          <a:xfrm>
            <a:off x="660142" y="4189708"/>
            <a:ext cx="10868668"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Every sequence</a:t>
            </a:r>
            <a:endParaRPr lang="en-US" sz="1300" dirty="0"/>
          </a:p>
        </p:txBody>
      </p:sp>
      <p:sp>
        <p:nvSpPr>
          <p:cNvPr id="23" name="Sequence recording"/>
          <p:cNvSpPr/>
          <p:nvPr/>
        </p:nvSpPr>
        <p:spPr>
          <a:xfrm>
            <a:off x="682691" y="4937467"/>
            <a:ext cx="1071082"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Processed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recording</a:t>
            </a:r>
            <a:endParaRPr lang="en-US" sz="1200" dirty="0"/>
          </a:p>
        </p:txBody>
      </p:sp>
      <p:sp>
        <p:nvSpPr>
          <p:cNvPr id="24" name="Sequence SLAM"/>
          <p:cNvSpPr/>
          <p:nvPr/>
        </p:nvSpPr>
        <p:spPr>
          <a:xfrm>
            <a:off x="1979265" y="4937467"/>
            <a:ext cx="191667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LiDAR-inertial SLAM</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 pose-time check</a:t>
            </a:r>
            <a:endParaRPr lang="en-US" sz="1200" dirty="0"/>
          </a:p>
        </p:txBody>
      </p:sp>
      <p:sp>
        <p:nvSpPr>
          <p:cNvPr id="25" name="Registration"/>
          <p:cNvSpPr/>
          <p:nvPr/>
        </p:nvSpPr>
        <p:spPr>
          <a:xfrm>
            <a:off x="4121429" y="4802173"/>
            <a:ext cx="2705892" cy="947062"/>
          </a:xfrm>
          <a:prstGeom prst="roundRect">
            <a:avLst>
              <a:gd name="adj" fmla="val 579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Per-agent registration</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LiDAR: scan-to-map ICP</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RGB-D: odometry + ICP + boards</a:t>
            </a:r>
            <a:endParaRPr lang="en-US" sz="1200" dirty="0"/>
          </a:p>
        </p:txBody>
      </p:sp>
      <p:sp>
        <p:nvSpPr>
          <p:cNvPr id="26" name="Validation"/>
          <p:cNvSpPr/>
          <p:nvPr/>
        </p:nvSpPr>
        <p:spPr>
          <a:xfrm>
            <a:off x="7052813" y="4802173"/>
            <a:ext cx="1522065" cy="947062"/>
          </a:xfrm>
          <a:prstGeom prst="roundRect">
            <a:avLst>
              <a:gd name="adj" fmla="val 579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Independent</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validation</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(held-out boards)</a:t>
            </a:r>
            <a:endParaRPr lang="en-US" sz="1200" dirty="0"/>
          </a:p>
        </p:txBody>
      </p:sp>
      <p:sp>
        <p:nvSpPr>
          <p:cNvPr id="27" name="Reference poses"/>
          <p:cNvSpPr/>
          <p:nvPr/>
        </p:nvSpPr>
        <p:spPr>
          <a:xfrm>
            <a:off x="8800368" y="4881095"/>
            <a:ext cx="1522065"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Reference</a:t>
            </a:r>
            <a:endParaRPr lang="en-US" sz="1200" dirty="0"/>
          </a:p>
          <a:p>
            <a:pPr algn="ctr" indent="0" marL="0">
              <a:buNone/>
            </a:pPr>
            <a:r>
              <a:rPr lang="en-US" sz="1200" b="1" dirty="0">
                <a:solidFill>
                  <a:srgbClr val="14213D"/>
                </a:solidFill>
                <a:latin typeface="Calibri" pitchFamily="34" charset="0"/>
                <a:ea typeface="Calibri" pitchFamily="34" charset="-122"/>
                <a:cs typeface="Calibri" pitchFamily="34" charset="-120"/>
              </a:rPr>
              <a:t>poses (site)</a:t>
            </a:r>
            <a:endParaRPr lang="en-US" sz="1200" dirty="0"/>
          </a:p>
        </p:txBody>
      </p:sp>
      <p:sp>
        <p:nvSpPr>
          <p:cNvPr id="28" name="Labels"/>
          <p:cNvSpPr/>
          <p:nvPr/>
        </p:nvSpPr>
        <p:spPr>
          <a:xfrm>
            <a:off x="10491551" y="4881095"/>
            <a:ext cx="1059808"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Labels and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geometry</a:t>
            </a:r>
            <a:endParaRPr lang="en-US" sz="1200" dirty="0"/>
          </a:p>
        </p:txBody>
      </p:sp>
      <p:sp>
        <p:nvSpPr>
          <p:cNvPr id="29" name="Arrow"/>
          <p:cNvSpPr/>
          <p:nvPr/>
        </p:nvSpPr>
        <p:spPr>
          <a:xfrm>
            <a:off x="1753773" y="5275704"/>
            <a:ext cx="225491" cy="0"/>
          </a:xfrm>
          <a:prstGeom prst="line">
            <a:avLst/>
          </a:prstGeom>
          <a:noFill/>
          <a:ln w="15875">
            <a:solidFill>
              <a:srgbClr val="14213D"/>
            </a:solidFill>
            <a:prstDash val="solid"/>
            <a:tailEnd type="triangle"/>
          </a:ln>
        </p:spPr>
      </p:sp>
      <p:sp>
        <p:nvSpPr>
          <p:cNvPr id="30" name="Arrow"/>
          <p:cNvSpPr/>
          <p:nvPr/>
        </p:nvSpPr>
        <p:spPr>
          <a:xfrm>
            <a:off x="3895938" y="5275704"/>
            <a:ext cx="225491" cy="0"/>
          </a:xfrm>
          <a:prstGeom prst="line">
            <a:avLst/>
          </a:prstGeom>
          <a:noFill/>
          <a:ln w="15875">
            <a:solidFill>
              <a:srgbClr val="14213D"/>
            </a:solidFill>
            <a:prstDash val="solid"/>
            <a:tailEnd type="triangle"/>
          </a:ln>
        </p:spPr>
      </p:sp>
      <p:sp>
        <p:nvSpPr>
          <p:cNvPr id="31" name="Arrow"/>
          <p:cNvSpPr/>
          <p:nvPr/>
        </p:nvSpPr>
        <p:spPr>
          <a:xfrm>
            <a:off x="6827322" y="5275704"/>
            <a:ext cx="225491" cy="0"/>
          </a:xfrm>
          <a:prstGeom prst="line">
            <a:avLst/>
          </a:prstGeom>
          <a:noFill/>
          <a:ln w="15875">
            <a:solidFill>
              <a:srgbClr val="14213D"/>
            </a:solidFill>
            <a:prstDash val="solid"/>
            <a:tailEnd type="triangle"/>
          </a:ln>
        </p:spPr>
      </p:sp>
      <p:sp>
        <p:nvSpPr>
          <p:cNvPr id="32" name="Arrow"/>
          <p:cNvSpPr/>
          <p:nvPr/>
        </p:nvSpPr>
        <p:spPr>
          <a:xfrm>
            <a:off x="8574877" y="5275704"/>
            <a:ext cx="225491" cy="0"/>
          </a:xfrm>
          <a:prstGeom prst="line">
            <a:avLst/>
          </a:prstGeom>
          <a:noFill/>
          <a:ln w="15875">
            <a:solidFill>
              <a:srgbClr val="14213D"/>
            </a:solidFill>
            <a:prstDash val="solid"/>
            <a:tailEnd type="triangle"/>
          </a:ln>
        </p:spPr>
      </p:sp>
      <p:sp>
        <p:nvSpPr>
          <p:cNvPr id="33" name="Arrow"/>
          <p:cNvSpPr/>
          <p:nvPr/>
        </p:nvSpPr>
        <p:spPr>
          <a:xfrm>
            <a:off x="10322433" y="5275704"/>
            <a:ext cx="169118" cy="0"/>
          </a:xfrm>
          <a:prstGeom prst="line">
            <a:avLst/>
          </a:prstGeom>
          <a:noFill/>
          <a:ln w="15875">
            <a:solidFill>
              <a:srgbClr val="14213D"/>
            </a:solidFill>
            <a:prstDash val="solid"/>
            <a:tailEnd type="triangle"/>
          </a:ln>
        </p:spPr>
      </p:sp>
      <p:sp>
        <p:nvSpPr>
          <p:cNvPr id="34" name="Bus down"/>
          <p:cNvSpPr/>
          <p:nvPr/>
        </p:nvSpPr>
        <p:spPr>
          <a:xfrm>
            <a:off x="7954777" y="3054617"/>
            <a:ext cx="0" cy="1454417"/>
          </a:xfrm>
          <a:prstGeom prst="line">
            <a:avLst/>
          </a:prstGeom>
          <a:noFill/>
          <a:ln w="19050">
            <a:solidFill>
              <a:srgbClr val="D9822B"/>
            </a:solidFill>
            <a:prstDash val="dash"/>
            <a:tailEnd type="none"/>
          </a:ln>
        </p:spPr>
      </p:sp>
      <p:sp>
        <p:nvSpPr>
          <p:cNvPr id="35" name="Bus across"/>
          <p:cNvSpPr/>
          <p:nvPr/>
        </p:nvSpPr>
        <p:spPr>
          <a:xfrm flipH="1">
            <a:off x="5474376" y="4509034"/>
            <a:ext cx="2480401" cy="0"/>
          </a:xfrm>
          <a:prstGeom prst="line">
            <a:avLst/>
          </a:prstGeom>
          <a:noFill/>
          <a:ln w="19050">
            <a:solidFill>
              <a:srgbClr val="D9822B"/>
            </a:solidFill>
            <a:prstDash val="dash"/>
            <a:tailEnd type="none"/>
          </a:ln>
        </p:spPr>
      </p:sp>
      <p:sp>
        <p:nvSpPr>
          <p:cNvPr id="36" name="To registration"/>
          <p:cNvSpPr/>
          <p:nvPr/>
        </p:nvSpPr>
        <p:spPr>
          <a:xfrm>
            <a:off x="5474376" y="4509034"/>
            <a:ext cx="0" cy="293138"/>
          </a:xfrm>
          <a:prstGeom prst="line">
            <a:avLst/>
          </a:prstGeom>
          <a:noFill/>
          <a:ln w="19050">
            <a:solidFill>
              <a:srgbClr val="D9822B"/>
            </a:solidFill>
            <a:prstDash val="dash"/>
            <a:tailEnd type="triangle"/>
          </a:ln>
        </p:spPr>
      </p:sp>
      <p:sp>
        <p:nvSpPr>
          <p:cNvPr id="37" name="To validation"/>
          <p:cNvSpPr/>
          <p:nvPr/>
        </p:nvSpPr>
        <p:spPr>
          <a:xfrm>
            <a:off x="7813845" y="4509034"/>
            <a:ext cx="0" cy="293138"/>
          </a:xfrm>
          <a:prstGeom prst="line">
            <a:avLst/>
          </a:prstGeom>
          <a:noFill/>
          <a:ln w="19050">
            <a:solidFill>
              <a:srgbClr val="D9822B"/>
            </a:solidFill>
            <a:prstDash val="dash"/>
            <a:tailEnd type="triangle"/>
          </a:ln>
        </p:spPr>
      </p:sp>
      <p:sp>
        <p:nvSpPr>
          <p:cNvPr id="38" name="Bus label"/>
          <p:cNvSpPr txBox="1"/>
          <p:nvPr/>
        </p:nvSpPr>
        <p:spPr>
          <a:xfrm>
            <a:off x="5699867" y="4204622"/>
            <a:ext cx="1916674" cy="270589"/>
          </a:xfrm>
          <a:prstGeom prst="rect">
            <a:avLst/>
          </a:prstGeom>
          <a:noFill/>
          <a:ln/>
        </p:spPr>
        <p:txBody>
          <a:bodyPr wrap="square" lIns="0" tIns="0" rIns="0" bIns="0" rtlCol="0" anchor="ctr"/>
          <a:lstStyle/>
          <a:p>
            <a:pPr algn="ctr" indent="0" marL="0">
              <a:buNone/>
            </a:pPr>
            <a:r>
              <a:rPr lang="en-US" sz="1100" dirty="0">
                <a:solidFill>
                  <a:srgbClr val="9A5A14"/>
                </a:solidFill>
                <a:latin typeface="Calibri" pitchFamily="34" charset="0"/>
                <a:ea typeface="Calibri" pitchFamily="34" charset="-122"/>
                <a:cs typeface="Calibri" pitchFamily="34" charset="-120"/>
              </a:rPr>
              <a:t>frozen map, boards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Reference pipeline</dc:title>
  <dc:subject>PptxGenJS Presentation</dc:subject>
  <dc:creator>PptxGenJS</dc:creator>
  <cp:lastModifiedBy>PptxGenJS</cp:lastModifiedBy>
  <cp:revision>1</cp:revision>
  <dcterms:created xsi:type="dcterms:W3CDTF">2026-10-19T08:26:36Z</dcterms:created>
  <dcterms:modified xsi:type="dcterms:W3CDTF">2026-10-19T08:26:36Z</dcterms:modified>
</cp:coreProperties>
</file>