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robot's recording is processed on its own, then the pass is merged. mobile_1: its raw bag holds the Ouster's lidar and IMU packets; they are decoded into points and IMU in sensor time, retimed onto the PC clock with a clock fit, and the ZED IMU is re-synced to the Ouster IMU (its driver stamps it late, 2.12 s on 20260924). GLIM gives the LiDAR trajectory. The ZED's SVO2 is replayed into image, depth and odometry bags on the capture clock. mobile_2: the same Ouster chain; GLIM runs with its own config and its poses are moved 46 ms on export. Its RealSense and Isaac VSLAM topics are already on the PC clock and are copied. The merge checks every robot's bags against record.yaml and adds the calibrations; a pass with one robot uses its own retimed bag.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the mapping session, once per site. GLIM with its pose-time correction, plane bundle adjustment and TSDF fusion give the frozen reference map and trajectory; the boards are posed in it and the infrastructure cameras placed through them. Wall thickness, loop closure, pose time and control distances check it. Bottom: every sequence is registered into the frozen map per agent, validated on held-out boards, and exported in the site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GLIM writes each pose with the time its sweep started, but the pose describes the robot about half a sweep later. Looking up the pose at a scan's own time therefore gives where the robot was 50 ms later; while turning, that scan lands beside the walls. We move every pose 46 ms on export, and check the remaining offset on every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bundle adjustment with cameras, but the shared features are planes instead of points. Each keyframe sees part of a plane; if its pose is off, its points sit above or below the others. The plane is fitted in closed form, and all poses are moved together until every plane is as thin as the scans allow.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union of points keeps every cell any scan ever hit, so a rarely hit cell counts as much as the dense centre and walls grow thicker with every pass. The TSDF instead averages, along each ray, how far each cell is in front of or behind the hit, and puts the surface where that average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every thickness in the tables is measured. The same patches are measured with the points of one scan, of one second, or of the whole run as placed by the trajectory; each scan against its own plane gives the sensor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Recording processing, per robot and pass</a:t>
            </a:r>
            <a:endParaRPr lang="en-US" sz="3200" dirty="0"/>
          </a:p>
        </p:txBody>
      </p:sp>
      <p:sp>
        <p:nvSpPr>
          <p:cNvPr id="3" name="mobile_1 lane"/>
          <p:cNvSpPr/>
          <p:nvPr/>
        </p:nvSpPr>
        <p:spPr>
          <a:xfrm>
            <a:off x="524847" y="1393527"/>
            <a:ext cx="8861798" cy="2412754"/>
          </a:xfrm>
          <a:prstGeom prst="roundRect">
            <a:avLst>
              <a:gd name="adj" fmla="val 3790"/>
            </a:avLst>
          </a:prstGeom>
          <a:solidFill>
            <a:srgbClr val="EEF1F5"/>
          </a:solidFill>
          <a:ln w="12700">
            <a:solidFill>
              <a:srgbClr val="A7B0C0"/>
            </a:solidFill>
            <a:prstDash val="solid"/>
          </a:ln>
        </p:spPr>
      </p:sp>
      <p:sp>
        <p:nvSpPr>
          <p:cNvPr id="4" name="mobile_1 lane title"/>
          <p:cNvSpPr txBox="1"/>
          <p:nvPr/>
        </p:nvSpPr>
        <p:spPr>
          <a:xfrm>
            <a:off x="660142" y="1457535"/>
            <a:ext cx="8591209"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mobile_1  ·  Ouster LiDAR + ZED 2i</a:t>
            </a:r>
            <a:endParaRPr lang="en-US" sz="1300" dirty="0"/>
          </a:p>
        </p:txBody>
      </p:sp>
      <p:sp>
        <p:nvSpPr>
          <p:cNvPr id="5" name="m1 raw bag"/>
          <p:cNvSpPr/>
          <p:nvPr/>
        </p:nvSpPr>
        <p:spPr>
          <a:xfrm>
            <a:off x="660142" y="1979804"/>
            <a:ext cx="1398044" cy="811768"/>
          </a:xfrm>
          <a:prstGeom prst="roundRect">
            <a:avLst>
              <a:gd name="adj" fmla="val 6759"/>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Raw bag</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lidar + IMU packets,</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metadata, ZED IMU</a:t>
            </a:r>
            <a:endParaRPr lang="en-US" sz="1100" dirty="0"/>
          </a:p>
        </p:txBody>
      </p:sp>
      <p:sp>
        <p:nvSpPr>
          <p:cNvPr id="6" name="m1 decode"/>
          <p:cNvSpPr/>
          <p:nvPr/>
        </p:nvSpPr>
        <p:spPr>
          <a:xfrm>
            <a:off x="2283677" y="1979804"/>
            <a:ext cx="1578437" cy="811768"/>
          </a:xfrm>
          <a:prstGeom prst="roundRect">
            <a:avLst>
              <a:gd name="adj" fmla="val 6759"/>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Decode</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packets → points + IMU</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(sensor time, _mobile1)</a:t>
            </a:r>
            <a:endParaRPr lang="en-US" sz="1100" dirty="0"/>
          </a:p>
        </p:txBody>
      </p:sp>
      <p:sp>
        <p:nvSpPr>
          <p:cNvPr id="7" name="m1 retime"/>
          <p:cNvSpPr/>
          <p:nvPr/>
        </p:nvSpPr>
        <p:spPr>
          <a:xfrm>
            <a:off x="4087606" y="1979804"/>
            <a:ext cx="1803928" cy="811768"/>
          </a:xfrm>
          <a:prstGeom prst="roundRect">
            <a:avLst>
              <a:gd name="adj" fmla="val 6759"/>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Retime</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sensor → PC clock (clock fit);</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ZED IMU re-synced to Ouster</a:t>
            </a:r>
            <a:endParaRPr lang="en-US" sz="1100" dirty="0"/>
          </a:p>
        </p:txBody>
      </p:sp>
      <p:sp>
        <p:nvSpPr>
          <p:cNvPr id="8" name="m1 GLIM"/>
          <p:cNvSpPr/>
          <p:nvPr/>
        </p:nvSpPr>
        <p:spPr>
          <a:xfrm>
            <a:off x="6117025" y="1979804"/>
            <a:ext cx="1465692" cy="811768"/>
          </a:xfrm>
          <a:prstGeom prst="roundRect">
            <a:avLst>
              <a:gd name="adj" fmla="val 6759"/>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GLIM</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LiDAR-inertial</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SLAM</a:t>
            </a:r>
            <a:endParaRPr lang="en-US" sz="1100" dirty="0"/>
          </a:p>
        </p:txBody>
      </p:sp>
      <p:sp>
        <p:nvSpPr>
          <p:cNvPr id="9" name="m1 trajectory"/>
          <p:cNvSpPr/>
          <p:nvPr/>
        </p:nvSpPr>
        <p:spPr>
          <a:xfrm>
            <a:off x="7808208" y="1979804"/>
            <a:ext cx="1352946" cy="811768"/>
          </a:xfrm>
          <a:prstGeom prst="parallelogram">
            <a:avLst/>
          </a:prstGeom>
          <a:solidFill>
            <a:srgbClr val="FBE6D0"/>
          </a:solidFill>
          <a:ln w="19050">
            <a:solidFill>
              <a:srgbClr val="D9822B"/>
            </a:solidFill>
          </a:ln>
        </p:spPr>
        <p:txBody>
          <a:bodyPr wrap="square" lIns="25400" tIns="25400" rIns="25400" bIns="2540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LiDAR</a:t>
            </a:r>
            <a:endParaRPr lang="en-US" sz="1100" dirty="0"/>
          </a:p>
          <a:p>
            <a:pPr algn="ctr" indent="0" marL="0">
              <a:buNone/>
            </a:pPr>
            <a:r>
              <a:rPr lang="en-US" sz="1100" b="1" dirty="0">
                <a:solidFill>
                  <a:srgbClr val="14213D"/>
                </a:solidFill>
                <a:latin typeface="Calibri" pitchFamily="34" charset="0"/>
                <a:ea typeface="Calibri" pitchFamily="34" charset="-122"/>
                <a:cs typeface="Calibri" pitchFamily="34" charset="-120"/>
              </a:rPr>
              <a:t>trajectory</a:t>
            </a:r>
            <a:endParaRPr lang="en-US" sz="1100" dirty="0"/>
          </a:p>
        </p:txBody>
      </p:sp>
      <p:sp>
        <p:nvSpPr>
          <p:cNvPr id="10" name="Arrow"/>
          <p:cNvSpPr/>
          <p:nvPr/>
        </p:nvSpPr>
        <p:spPr>
          <a:xfrm>
            <a:off x="2058186" y="2385688"/>
            <a:ext cx="225491" cy="0"/>
          </a:xfrm>
          <a:prstGeom prst="line">
            <a:avLst/>
          </a:prstGeom>
          <a:noFill/>
          <a:ln w="15875">
            <a:solidFill>
              <a:srgbClr val="14213D"/>
            </a:solidFill>
            <a:prstDash val="solid"/>
            <a:tailEnd type="triangle"/>
          </a:ln>
        </p:spPr>
      </p:sp>
      <p:sp>
        <p:nvSpPr>
          <p:cNvPr id="11" name="Arrow"/>
          <p:cNvSpPr/>
          <p:nvPr/>
        </p:nvSpPr>
        <p:spPr>
          <a:xfrm>
            <a:off x="3862115" y="2385688"/>
            <a:ext cx="225491" cy="0"/>
          </a:xfrm>
          <a:prstGeom prst="line">
            <a:avLst/>
          </a:prstGeom>
          <a:noFill/>
          <a:ln w="15875">
            <a:solidFill>
              <a:srgbClr val="14213D"/>
            </a:solidFill>
            <a:prstDash val="solid"/>
            <a:tailEnd type="triangle"/>
          </a:ln>
        </p:spPr>
      </p:sp>
      <p:sp>
        <p:nvSpPr>
          <p:cNvPr id="12" name="Arrow"/>
          <p:cNvSpPr/>
          <p:nvPr/>
        </p:nvSpPr>
        <p:spPr>
          <a:xfrm>
            <a:off x="5891534" y="2385688"/>
            <a:ext cx="225491" cy="0"/>
          </a:xfrm>
          <a:prstGeom prst="line">
            <a:avLst/>
          </a:prstGeom>
          <a:noFill/>
          <a:ln w="15875">
            <a:solidFill>
              <a:srgbClr val="14213D"/>
            </a:solidFill>
            <a:prstDash val="solid"/>
            <a:tailEnd type="triangle"/>
          </a:ln>
        </p:spPr>
      </p:sp>
      <p:sp>
        <p:nvSpPr>
          <p:cNvPr id="13" name="Arrow"/>
          <p:cNvSpPr/>
          <p:nvPr/>
        </p:nvSpPr>
        <p:spPr>
          <a:xfrm>
            <a:off x="7582717" y="2385688"/>
            <a:ext cx="225491" cy="0"/>
          </a:xfrm>
          <a:prstGeom prst="line">
            <a:avLst/>
          </a:prstGeom>
          <a:noFill/>
          <a:ln w="15875">
            <a:solidFill>
              <a:srgbClr val="14213D"/>
            </a:solidFill>
            <a:prstDash val="solid"/>
            <a:tailEnd type="triangle"/>
          </a:ln>
        </p:spPr>
      </p:sp>
      <p:sp>
        <p:nvSpPr>
          <p:cNvPr id="14" name="m1 svo"/>
          <p:cNvSpPr/>
          <p:nvPr/>
        </p:nvSpPr>
        <p:spPr>
          <a:xfrm>
            <a:off x="660142" y="3017063"/>
            <a:ext cx="1398044" cy="676473"/>
          </a:xfrm>
          <a:prstGeom prst="roundRect">
            <a:avLst>
              <a:gd name="adj" fmla="val 8110"/>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ZED SVO2</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(stereo video)</a:t>
            </a:r>
            <a:endParaRPr lang="en-US" sz="1100" dirty="0"/>
          </a:p>
        </p:txBody>
      </p:sp>
      <p:sp>
        <p:nvSpPr>
          <p:cNvPr id="15" name="m1 zed replay"/>
          <p:cNvSpPr/>
          <p:nvPr/>
        </p:nvSpPr>
        <p:spPr>
          <a:xfrm>
            <a:off x="2283677" y="3017063"/>
            <a:ext cx="3607857" cy="676473"/>
          </a:xfrm>
          <a:prstGeom prst="roundRect">
            <a:avLst>
              <a:gd name="adj" fmla="val 8110"/>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ZED replay: images, depth, odometry, pose</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on the capture clock</a:t>
            </a:r>
            <a:endParaRPr lang="en-US" sz="1100" dirty="0"/>
          </a:p>
        </p:txBody>
      </p:sp>
      <p:sp>
        <p:nvSpPr>
          <p:cNvPr id="16" name="m1 zed bags"/>
          <p:cNvSpPr/>
          <p:nvPr/>
        </p:nvSpPr>
        <p:spPr>
          <a:xfrm>
            <a:off x="6117025" y="3017063"/>
            <a:ext cx="1465692" cy="676473"/>
          </a:xfrm>
          <a:prstGeom prst="parallelogram">
            <a:avLst/>
          </a:prstGeom>
          <a:solidFill>
            <a:srgbClr val="FBE6D0"/>
          </a:solidFill>
          <a:ln w="19050">
            <a:solidFill>
              <a:srgbClr val="D9822B"/>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ZED bags</a:t>
            </a:r>
            <a:endParaRPr lang="en-US" sz="1100" dirty="0"/>
          </a:p>
        </p:txBody>
      </p:sp>
      <p:sp>
        <p:nvSpPr>
          <p:cNvPr id="17" name="Arrow"/>
          <p:cNvSpPr/>
          <p:nvPr/>
        </p:nvSpPr>
        <p:spPr>
          <a:xfrm>
            <a:off x="2058186" y="3355299"/>
            <a:ext cx="225491" cy="0"/>
          </a:xfrm>
          <a:prstGeom prst="line">
            <a:avLst/>
          </a:prstGeom>
          <a:noFill/>
          <a:ln w="15875">
            <a:solidFill>
              <a:srgbClr val="14213D"/>
            </a:solidFill>
            <a:prstDash val="solid"/>
            <a:tailEnd type="triangle"/>
          </a:ln>
        </p:spPr>
      </p:sp>
      <p:sp>
        <p:nvSpPr>
          <p:cNvPr id="18" name="Arrow"/>
          <p:cNvSpPr/>
          <p:nvPr/>
        </p:nvSpPr>
        <p:spPr>
          <a:xfrm>
            <a:off x="5891534" y="3355299"/>
            <a:ext cx="225491" cy="0"/>
          </a:xfrm>
          <a:prstGeom prst="line">
            <a:avLst/>
          </a:prstGeom>
          <a:noFill/>
          <a:ln w="15875">
            <a:solidFill>
              <a:srgbClr val="14213D"/>
            </a:solidFill>
            <a:prstDash val="solid"/>
            <a:tailEnd type="triangle"/>
          </a:ln>
        </p:spPr>
      </p:sp>
      <p:sp>
        <p:nvSpPr>
          <p:cNvPr id="19" name="mobile_2 lane"/>
          <p:cNvSpPr/>
          <p:nvPr/>
        </p:nvSpPr>
        <p:spPr>
          <a:xfrm>
            <a:off x="524847" y="4031772"/>
            <a:ext cx="8861798" cy="2412754"/>
          </a:xfrm>
          <a:prstGeom prst="roundRect">
            <a:avLst>
              <a:gd name="adj" fmla="val 3790"/>
            </a:avLst>
          </a:prstGeom>
          <a:solidFill>
            <a:srgbClr val="EEF1F5"/>
          </a:solidFill>
          <a:ln w="12700">
            <a:solidFill>
              <a:srgbClr val="A7B0C0"/>
            </a:solidFill>
            <a:prstDash val="solid"/>
          </a:ln>
        </p:spPr>
      </p:sp>
      <p:sp>
        <p:nvSpPr>
          <p:cNvPr id="20" name="mobile_2 lane title"/>
          <p:cNvSpPr txBox="1"/>
          <p:nvPr/>
        </p:nvSpPr>
        <p:spPr>
          <a:xfrm>
            <a:off x="660142" y="4095780"/>
            <a:ext cx="8591209"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mobile_2  ·  Ouster LiDAR + RealSense + Isaac VSLAM</a:t>
            </a:r>
            <a:endParaRPr lang="en-US" sz="1300" dirty="0"/>
          </a:p>
        </p:txBody>
      </p:sp>
      <p:sp>
        <p:nvSpPr>
          <p:cNvPr id="21" name="m2 raw bag"/>
          <p:cNvSpPr/>
          <p:nvPr/>
        </p:nvSpPr>
        <p:spPr>
          <a:xfrm>
            <a:off x="660142" y="4595500"/>
            <a:ext cx="1398044" cy="811768"/>
          </a:xfrm>
          <a:prstGeom prst="roundRect">
            <a:avLst>
              <a:gd name="adj" fmla="val 6759"/>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Raw bag</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lidar + IMU packets,</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metadata</a:t>
            </a:r>
            <a:endParaRPr lang="en-US" sz="1100" dirty="0"/>
          </a:p>
        </p:txBody>
      </p:sp>
      <p:sp>
        <p:nvSpPr>
          <p:cNvPr id="22" name="m2 decode"/>
          <p:cNvSpPr/>
          <p:nvPr/>
        </p:nvSpPr>
        <p:spPr>
          <a:xfrm>
            <a:off x="2283677" y="4595500"/>
            <a:ext cx="1578437" cy="811768"/>
          </a:xfrm>
          <a:prstGeom prst="roundRect">
            <a:avLst>
              <a:gd name="adj" fmla="val 6759"/>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Decode</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packets → points + IMU</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(sensor time, _mobile2)</a:t>
            </a:r>
            <a:endParaRPr lang="en-US" sz="1100" dirty="0"/>
          </a:p>
        </p:txBody>
      </p:sp>
      <p:sp>
        <p:nvSpPr>
          <p:cNvPr id="23" name="m2 retime"/>
          <p:cNvSpPr/>
          <p:nvPr/>
        </p:nvSpPr>
        <p:spPr>
          <a:xfrm>
            <a:off x="4087606" y="4595500"/>
            <a:ext cx="1803928" cy="811768"/>
          </a:xfrm>
          <a:prstGeom prst="roundRect">
            <a:avLst>
              <a:gd name="adj" fmla="val 6759"/>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Retime</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sensor → PC clock</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(clock fit)</a:t>
            </a:r>
            <a:endParaRPr lang="en-US" sz="1100" dirty="0"/>
          </a:p>
        </p:txBody>
      </p:sp>
      <p:sp>
        <p:nvSpPr>
          <p:cNvPr id="24" name="m2 GLIM"/>
          <p:cNvSpPr/>
          <p:nvPr/>
        </p:nvSpPr>
        <p:spPr>
          <a:xfrm>
            <a:off x="6117025" y="4595500"/>
            <a:ext cx="1465692" cy="811768"/>
          </a:xfrm>
          <a:prstGeom prst="roundRect">
            <a:avLst>
              <a:gd name="adj" fmla="val 6759"/>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GLIM, own config</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 pose-time</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correction +46 ms</a:t>
            </a:r>
            <a:endParaRPr lang="en-US" sz="1100" dirty="0"/>
          </a:p>
        </p:txBody>
      </p:sp>
      <p:sp>
        <p:nvSpPr>
          <p:cNvPr id="25" name="m2 trajectory"/>
          <p:cNvSpPr/>
          <p:nvPr/>
        </p:nvSpPr>
        <p:spPr>
          <a:xfrm>
            <a:off x="7808208" y="4595500"/>
            <a:ext cx="1352946" cy="811768"/>
          </a:xfrm>
          <a:prstGeom prst="parallelogram">
            <a:avLst/>
          </a:prstGeom>
          <a:solidFill>
            <a:srgbClr val="FBE6D0"/>
          </a:solidFill>
          <a:ln w="19050">
            <a:solidFill>
              <a:srgbClr val="D9822B"/>
            </a:solidFill>
          </a:ln>
        </p:spPr>
        <p:txBody>
          <a:bodyPr wrap="square" lIns="25400" tIns="25400" rIns="25400" bIns="2540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LiDAR</a:t>
            </a:r>
            <a:endParaRPr lang="en-US" sz="1100" dirty="0"/>
          </a:p>
          <a:p>
            <a:pPr algn="ctr" indent="0" marL="0">
              <a:buNone/>
            </a:pPr>
            <a:r>
              <a:rPr lang="en-US" sz="1100" b="1" dirty="0">
                <a:solidFill>
                  <a:srgbClr val="14213D"/>
                </a:solidFill>
                <a:latin typeface="Calibri" pitchFamily="34" charset="0"/>
                <a:ea typeface="Calibri" pitchFamily="34" charset="-122"/>
                <a:cs typeface="Calibri" pitchFamily="34" charset="-120"/>
              </a:rPr>
              <a:t>trajectory</a:t>
            </a:r>
            <a:endParaRPr lang="en-US" sz="1100" dirty="0"/>
          </a:p>
        </p:txBody>
      </p:sp>
      <p:sp>
        <p:nvSpPr>
          <p:cNvPr id="26" name="Arrow"/>
          <p:cNvSpPr/>
          <p:nvPr/>
        </p:nvSpPr>
        <p:spPr>
          <a:xfrm>
            <a:off x="2058186" y="5001384"/>
            <a:ext cx="225491" cy="0"/>
          </a:xfrm>
          <a:prstGeom prst="line">
            <a:avLst/>
          </a:prstGeom>
          <a:noFill/>
          <a:ln w="15875">
            <a:solidFill>
              <a:srgbClr val="14213D"/>
            </a:solidFill>
            <a:prstDash val="solid"/>
            <a:tailEnd type="triangle"/>
          </a:ln>
        </p:spPr>
      </p:sp>
      <p:sp>
        <p:nvSpPr>
          <p:cNvPr id="27" name="Arrow"/>
          <p:cNvSpPr/>
          <p:nvPr/>
        </p:nvSpPr>
        <p:spPr>
          <a:xfrm>
            <a:off x="3862115" y="5001384"/>
            <a:ext cx="225491" cy="0"/>
          </a:xfrm>
          <a:prstGeom prst="line">
            <a:avLst/>
          </a:prstGeom>
          <a:noFill/>
          <a:ln w="15875">
            <a:solidFill>
              <a:srgbClr val="14213D"/>
            </a:solidFill>
            <a:prstDash val="solid"/>
            <a:tailEnd type="triangle"/>
          </a:ln>
        </p:spPr>
      </p:sp>
      <p:sp>
        <p:nvSpPr>
          <p:cNvPr id="28" name="Arrow"/>
          <p:cNvSpPr/>
          <p:nvPr/>
        </p:nvSpPr>
        <p:spPr>
          <a:xfrm>
            <a:off x="5891534" y="5001384"/>
            <a:ext cx="225491" cy="0"/>
          </a:xfrm>
          <a:prstGeom prst="line">
            <a:avLst/>
          </a:prstGeom>
          <a:noFill/>
          <a:ln w="15875">
            <a:solidFill>
              <a:srgbClr val="14213D"/>
            </a:solidFill>
            <a:prstDash val="solid"/>
            <a:tailEnd type="triangle"/>
          </a:ln>
        </p:spPr>
      </p:sp>
      <p:sp>
        <p:nvSpPr>
          <p:cNvPr id="29" name="Arrow"/>
          <p:cNvSpPr/>
          <p:nvPr/>
        </p:nvSpPr>
        <p:spPr>
          <a:xfrm>
            <a:off x="7582717" y="5001384"/>
            <a:ext cx="225491" cy="0"/>
          </a:xfrm>
          <a:prstGeom prst="line">
            <a:avLst/>
          </a:prstGeom>
          <a:noFill/>
          <a:ln w="15875">
            <a:solidFill>
              <a:srgbClr val="14213D"/>
            </a:solidFill>
            <a:prstDash val="solid"/>
            <a:tailEnd type="triangle"/>
          </a:ln>
        </p:spPr>
      </p:sp>
      <p:sp>
        <p:nvSpPr>
          <p:cNvPr id="30" name="m2 realsense"/>
          <p:cNvSpPr/>
          <p:nvPr/>
        </p:nvSpPr>
        <p:spPr>
          <a:xfrm>
            <a:off x="660142" y="5632759"/>
            <a:ext cx="1398044" cy="676473"/>
          </a:xfrm>
          <a:prstGeom prst="roundRect">
            <a:avLst>
              <a:gd name="adj" fmla="val 8110"/>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RealSense, IMU,</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Isaac VSLAM</a:t>
            </a:r>
            <a:endParaRPr lang="en-US" sz="1100" dirty="0"/>
          </a:p>
        </p:txBody>
      </p:sp>
      <p:sp>
        <p:nvSpPr>
          <p:cNvPr id="31" name="m2 copy"/>
          <p:cNvSpPr/>
          <p:nvPr/>
        </p:nvSpPr>
        <p:spPr>
          <a:xfrm>
            <a:off x="2283677" y="5632759"/>
            <a:ext cx="3607857" cy="676473"/>
          </a:xfrm>
          <a:prstGeom prst="roundRect">
            <a:avLst>
              <a:gd name="adj" fmla="val 8110"/>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copied as recorded: already on the PC clock;</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frames renamed per robot</a:t>
            </a:r>
            <a:endParaRPr lang="en-US" sz="1100" dirty="0"/>
          </a:p>
        </p:txBody>
      </p:sp>
      <p:sp>
        <p:nvSpPr>
          <p:cNvPr id="32" name="Arrow"/>
          <p:cNvSpPr/>
          <p:nvPr/>
        </p:nvSpPr>
        <p:spPr>
          <a:xfrm>
            <a:off x="2058186" y="5970995"/>
            <a:ext cx="225491" cy="0"/>
          </a:xfrm>
          <a:prstGeom prst="line">
            <a:avLst/>
          </a:prstGeom>
          <a:noFill/>
          <a:ln w="15875">
            <a:solidFill>
              <a:srgbClr val="14213D"/>
            </a:solidFill>
            <a:prstDash val="solid"/>
            <a:tailEnd type="triangle"/>
          </a:ln>
        </p:spPr>
      </p:sp>
      <p:sp>
        <p:nvSpPr>
          <p:cNvPr id="33" name="pass lane"/>
          <p:cNvSpPr/>
          <p:nvPr/>
        </p:nvSpPr>
        <p:spPr>
          <a:xfrm>
            <a:off x="9521940" y="1393527"/>
            <a:ext cx="2142165" cy="5050999"/>
          </a:xfrm>
          <a:prstGeom prst="roundRect">
            <a:avLst>
              <a:gd name="adj" fmla="val 4269"/>
            </a:avLst>
          </a:prstGeom>
          <a:solidFill>
            <a:srgbClr val="EEF1F5"/>
          </a:solidFill>
          <a:ln w="12700">
            <a:solidFill>
              <a:srgbClr val="A7B0C0"/>
            </a:solidFill>
            <a:prstDash val="solid"/>
          </a:ln>
        </p:spPr>
      </p:sp>
      <p:sp>
        <p:nvSpPr>
          <p:cNvPr id="34" name="pass lane title"/>
          <p:cNvSpPr txBox="1"/>
          <p:nvPr/>
        </p:nvSpPr>
        <p:spPr>
          <a:xfrm>
            <a:off x="9657234" y="1457535"/>
            <a:ext cx="1871576"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Each pass</a:t>
            </a:r>
            <a:endParaRPr lang="en-US" sz="1300" dirty="0"/>
          </a:p>
        </p:txBody>
      </p:sp>
      <p:sp>
        <p:nvSpPr>
          <p:cNvPr id="35" name="merge"/>
          <p:cNvSpPr/>
          <p:nvPr/>
        </p:nvSpPr>
        <p:spPr>
          <a:xfrm>
            <a:off x="9612136" y="2960690"/>
            <a:ext cx="1961772" cy="1465692"/>
          </a:xfrm>
          <a:prstGeom prst="roundRect">
            <a:avLst>
              <a:gd name="adj" fmla="val 3743"/>
            </a:avLst>
          </a:prstGeom>
          <a:solidFill>
            <a:srgbClr val="FFFFFF"/>
          </a:solidFill>
          <a:ln w="15875">
            <a:solidFill>
              <a:srgbClr val="14213D"/>
            </a:solidFill>
          </a:ln>
        </p:spPr>
        <p:txBody>
          <a:bodyPr wrap="square" lIns="25400" tIns="25400" rIns="25400" bIns="2540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Merge</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every robot's</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retimed + ZED bags,</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checked against</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record.yaml;</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calibrations</a:t>
            </a:r>
            <a:endParaRPr lang="en-US" sz="1100" dirty="0"/>
          </a:p>
          <a:p>
            <a:pPr algn="ctr" indent="0" marL="0">
              <a:buNone/>
            </a:pPr>
            <a:r>
              <a:rPr lang="en-US" sz="1100" dirty="0">
                <a:solidFill>
                  <a:srgbClr val="14213D"/>
                </a:solidFill>
                <a:latin typeface="Calibri" pitchFamily="34" charset="0"/>
                <a:ea typeface="Calibri" pitchFamily="34" charset="-122"/>
                <a:cs typeface="Calibri" pitchFamily="34" charset="-120"/>
              </a:rPr>
              <a:t>to /tf_static</a:t>
            </a:r>
            <a:endParaRPr lang="en-US" sz="1100" dirty="0"/>
          </a:p>
        </p:txBody>
      </p:sp>
      <p:sp>
        <p:nvSpPr>
          <p:cNvPr id="36" name="merged bag"/>
          <p:cNvSpPr/>
          <p:nvPr/>
        </p:nvSpPr>
        <p:spPr>
          <a:xfrm>
            <a:off x="9612136" y="4911188"/>
            <a:ext cx="1961772" cy="721571"/>
          </a:xfrm>
          <a:prstGeom prst="parallelogram">
            <a:avLst/>
          </a:prstGeom>
          <a:solidFill>
            <a:srgbClr val="FBE6D0"/>
          </a:solidFill>
          <a:ln w="19050">
            <a:solidFill>
              <a:srgbClr val="D9822B"/>
            </a:solidFill>
          </a:ln>
        </p:spPr>
        <p:txBody>
          <a:bodyPr wrap="square" lIns="25400" tIns="25400" rIns="25400" bIns="2540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Merged bag</a:t>
            </a:r>
            <a:endParaRPr lang="en-US" sz="1100" dirty="0"/>
          </a:p>
        </p:txBody>
      </p:sp>
      <p:sp>
        <p:nvSpPr>
          <p:cNvPr id="37" name="to merged bag"/>
          <p:cNvSpPr/>
          <p:nvPr/>
        </p:nvSpPr>
        <p:spPr>
          <a:xfrm>
            <a:off x="10593022" y="4426382"/>
            <a:ext cx="0" cy="484806"/>
          </a:xfrm>
          <a:prstGeom prst="line">
            <a:avLst/>
          </a:prstGeom>
          <a:noFill/>
          <a:ln w="15875">
            <a:solidFill>
              <a:srgbClr val="14213D"/>
            </a:solidFill>
            <a:prstDash val="solid"/>
            <a:tailEnd type="triangle"/>
          </a:ln>
        </p:spPr>
      </p:sp>
      <p:sp>
        <p:nvSpPr>
          <p:cNvPr id="38" name="mobile_1 bags"/>
          <p:cNvSpPr/>
          <p:nvPr/>
        </p:nvSpPr>
        <p:spPr>
          <a:xfrm>
            <a:off x="9093507" y="2385688"/>
            <a:ext cx="518629" cy="969611"/>
          </a:xfrm>
          <a:prstGeom prst="line">
            <a:avLst/>
          </a:prstGeom>
          <a:noFill/>
          <a:ln w="15875">
            <a:solidFill>
              <a:srgbClr val="14213D"/>
            </a:solidFill>
            <a:prstDash val="solid"/>
            <a:tailEnd type="triangle"/>
          </a:ln>
        </p:spPr>
      </p:sp>
      <p:sp>
        <p:nvSpPr>
          <p:cNvPr id="39" name="mobile_2 bags"/>
          <p:cNvSpPr/>
          <p:nvPr/>
        </p:nvSpPr>
        <p:spPr>
          <a:xfrm flipV="1">
            <a:off x="9093507" y="4031772"/>
            <a:ext cx="518629" cy="969611"/>
          </a:xfrm>
          <a:prstGeom prst="line">
            <a:avLst/>
          </a:prstGeom>
          <a:noFill/>
          <a:ln w="15875">
            <a:solidFill>
              <a:srgbClr val="14213D"/>
            </a:solidFill>
            <a:prstDash val="solid"/>
            <a:tailEnd type="triangle"/>
          </a:ln>
        </p:spPr>
      </p:sp>
      <p:sp>
        <p:nvSpPr>
          <p:cNvPr id="40" name="single robot note"/>
          <p:cNvSpPr txBox="1"/>
          <p:nvPr/>
        </p:nvSpPr>
        <p:spPr>
          <a:xfrm>
            <a:off x="9612136" y="5869524"/>
            <a:ext cx="1961772" cy="563728"/>
          </a:xfrm>
          <a:prstGeom prst="rect">
            <a:avLst/>
          </a:prstGeom>
          <a:noFill/>
          <a:ln/>
        </p:spPr>
        <p:txBody>
          <a:bodyPr wrap="square" lIns="0" tIns="0" rIns="0" bIns="0" rtlCol="0" anchor="ctr"/>
          <a:lstStyle/>
          <a:p>
            <a:pPr algn="ctr" indent="0" marL="0">
              <a:buNone/>
            </a:pPr>
            <a:r>
              <a:rPr lang="en-US" sz="950" i="1" dirty="0">
                <a:solidFill>
                  <a:srgbClr val="5A6475"/>
                </a:solidFill>
                <a:latin typeface="Calibri" pitchFamily="34" charset="0"/>
                <a:ea typeface="Calibri" pitchFamily="34" charset="-122"/>
                <a:cs typeface="Calibri" pitchFamily="34" charset="-120"/>
              </a:rPr>
              <a:t>one robot alone (20261015):</a:t>
            </a:r>
            <a:endParaRPr lang="en-US" sz="950" dirty="0"/>
          </a:p>
          <a:p>
            <a:pPr algn="ctr" indent="0" marL="0">
              <a:buNone/>
            </a:pPr>
            <a:r>
              <a:rPr lang="en-US" sz="950" i="1" dirty="0">
                <a:solidFill>
                  <a:srgbClr val="5A6475"/>
                </a:solidFill>
                <a:latin typeface="Calibri" pitchFamily="34" charset="0"/>
                <a:ea typeface="Calibri" pitchFamily="34" charset="-122"/>
                <a:cs typeface="Calibri" pitchFamily="34" charset="-120"/>
              </a:rPr>
              <a:t>its own retimed bag, no merge</a:t>
            </a:r>
            <a:endParaRPr lang="en-US" sz="950" dirty="0"/>
          </a:p>
        </p:txBody>
      </p:sp>
      <p:sp>
        <p:nvSpPr>
          <p:cNvPr id="41" name="to next"/>
          <p:cNvSpPr txBox="1"/>
          <p:nvPr/>
        </p:nvSpPr>
        <p:spPr>
          <a:xfrm>
            <a:off x="4087606" y="3834468"/>
            <a:ext cx="5073548" cy="180393"/>
          </a:xfrm>
          <a:prstGeom prst="rect">
            <a:avLst/>
          </a:prstGeom>
          <a:noFill/>
          <a:ln/>
        </p:spPr>
        <p:txBody>
          <a:bodyPr wrap="square" lIns="0" tIns="0" rIns="0" bIns="0" rtlCol="0" anchor="ctr"/>
          <a:lstStyle/>
          <a:p>
            <a:pPr algn="r" indent="0" marL="0">
              <a:buNone/>
            </a:pPr>
            <a:r>
              <a:rPr lang="en-US" sz="950" i="1" dirty="0">
                <a:solidFill>
                  <a:srgbClr val="5A6475"/>
                </a:solidFill>
                <a:latin typeface="Calibri" pitchFamily="34" charset="0"/>
                <a:ea typeface="Calibri" pitchFamily="34" charset="-122"/>
                <a:cs typeface="Calibri" pitchFamily="34" charset="-120"/>
              </a:rPr>
              <a:t>trajectories → the mapping session or the sequence (next slide)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Reference pipeline</a:t>
            </a:r>
            <a:endParaRPr lang="en-US" sz="3200" dirty="0"/>
          </a:p>
        </p:txBody>
      </p:sp>
      <p:sp>
        <p:nvSpPr>
          <p:cNvPr id="3" name="Mapping lane"/>
          <p:cNvSpPr/>
          <p:nvPr/>
        </p:nvSpPr>
        <p:spPr>
          <a:xfrm>
            <a:off x="524847" y="1667847"/>
            <a:ext cx="11139257" cy="2277460"/>
          </a:xfrm>
          <a:prstGeom prst="roundRect">
            <a:avLst>
              <a:gd name="adj" fmla="val 4015"/>
            </a:avLst>
          </a:prstGeom>
          <a:solidFill>
            <a:srgbClr val="EEF1F5"/>
          </a:solidFill>
          <a:ln w="12700">
            <a:solidFill>
              <a:srgbClr val="A7B0C0"/>
            </a:solidFill>
            <a:prstDash val="solid"/>
          </a:ln>
        </p:spPr>
      </p:sp>
      <p:sp>
        <p:nvSpPr>
          <p:cNvPr id="4" name="Mapping lane title"/>
          <p:cNvSpPr txBox="1"/>
          <p:nvPr/>
        </p:nvSpPr>
        <p:spPr>
          <a:xfrm>
            <a:off x="660142" y="1731855"/>
            <a:ext cx="10868668"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Mapping session (once per site)</a:t>
            </a:r>
            <a:endParaRPr lang="en-US" sz="1300" dirty="0"/>
          </a:p>
        </p:txBody>
      </p:sp>
      <p:sp>
        <p:nvSpPr>
          <p:cNvPr id="5" name="Mapping recording"/>
          <p:cNvSpPr/>
          <p:nvPr/>
        </p:nvSpPr>
        <p:spPr>
          <a:xfrm>
            <a:off x="682691" y="2321771"/>
            <a:ext cx="1071082" cy="676473"/>
          </a:xfrm>
          <a:prstGeom prst="roundRect">
            <a:avLst>
              <a:gd name="adj" fmla="val 8110"/>
            </a:avLst>
          </a:prstGeom>
          <a:solidFill>
            <a:srgbClr val="FFFFFF"/>
          </a:solidFill>
          <a:ln w="15875">
            <a:solidFill>
              <a:srgbClr val="14213D"/>
            </a:solidFill>
          </a:ln>
        </p:spPr>
        <p:txBody>
          <a:bodyPr wrap="square" lIns="25400" tIns="25400" rIns="25400" bIns="2540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Processed</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recording</a:t>
            </a:r>
            <a:endParaRPr lang="en-US" sz="1200" dirty="0"/>
          </a:p>
        </p:txBody>
      </p:sp>
      <p:sp>
        <p:nvSpPr>
          <p:cNvPr id="6" name="SLAM"/>
          <p:cNvSpPr/>
          <p:nvPr/>
        </p:nvSpPr>
        <p:spPr>
          <a:xfrm>
            <a:off x="1979265" y="2321771"/>
            <a:ext cx="1916674" cy="676473"/>
          </a:xfrm>
          <a:prstGeom prst="roundRect">
            <a:avLst>
              <a:gd name="adj" fmla="val 8110"/>
            </a:avLst>
          </a:prstGeom>
          <a:solidFill>
            <a:srgbClr val="FFFFFF"/>
          </a:solidFill>
          <a:ln w="15875">
            <a:solidFill>
              <a:srgbClr val="14213D"/>
            </a:solidFill>
          </a:ln>
        </p:spPr>
        <p:txBody>
          <a:bodyPr wrap="square" lIns="25400" tIns="25400" rIns="25400" bIns="2540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LiDAR-inertial SLAM</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 pose-time correction</a:t>
            </a:r>
            <a:endParaRPr lang="en-US" sz="1200" dirty="0"/>
          </a:p>
        </p:txBody>
      </p:sp>
      <p:sp>
        <p:nvSpPr>
          <p:cNvPr id="7" name="Bundle adjustment"/>
          <p:cNvSpPr/>
          <p:nvPr/>
        </p:nvSpPr>
        <p:spPr>
          <a:xfrm>
            <a:off x="4121429" y="2321771"/>
            <a:ext cx="1352946" cy="676473"/>
          </a:xfrm>
          <a:prstGeom prst="roundRect">
            <a:avLst>
              <a:gd name="adj" fmla="val 8110"/>
            </a:avLst>
          </a:prstGeom>
          <a:solidFill>
            <a:srgbClr val="FFFFFF"/>
          </a:solidFill>
          <a:ln w="15875">
            <a:solidFill>
              <a:srgbClr val="14213D"/>
            </a:solidFill>
          </a:ln>
        </p:spPr>
        <p:txBody>
          <a:bodyPr wrap="square" lIns="25400" tIns="25400" rIns="25400" bIns="2540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Plane bundle</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adjustment</a:t>
            </a:r>
            <a:endParaRPr lang="en-US" sz="1200" dirty="0"/>
          </a:p>
        </p:txBody>
      </p:sp>
      <p:sp>
        <p:nvSpPr>
          <p:cNvPr id="8" name="TSDF fusion"/>
          <p:cNvSpPr/>
          <p:nvPr/>
        </p:nvSpPr>
        <p:spPr>
          <a:xfrm>
            <a:off x="5699867" y="2321771"/>
            <a:ext cx="1127455" cy="676473"/>
          </a:xfrm>
          <a:prstGeom prst="roundRect">
            <a:avLst>
              <a:gd name="adj" fmla="val 8110"/>
            </a:avLst>
          </a:prstGeom>
          <a:solidFill>
            <a:srgbClr val="FFFFFF"/>
          </a:solidFill>
          <a:ln w="15875">
            <a:solidFill>
              <a:srgbClr val="14213D"/>
            </a:solidFill>
          </a:ln>
        </p:spPr>
        <p:txBody>
          <a:bodyPr wrap="square" lIns="25400" tIns="25400" rIns="25400" bIns="2540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TSDF fusion</a:t>
            </a:r>
            <a:endParaRPr lang="en-US" sz="1200" dirty="0"/>
          </a:p>
        </p:txBody>
      </p:sp>
      <p:sp>
        <p:nvSpPr>
          <p:cNvPr id="9" name="Frozen reference"/>
          <p:cNvSpPr/>
          <p:nvPr/>
        </p:nvSpPr>
        <p:spPr>
          <a:xfrm>
            <a:off x="7052813" y="2265399"/>
            <a:ext cx="1803928" cy="789219"/>
          </a:xfrm>
          <a:prstGeom prst="parallelogram">
            <a:avLst/>
          </a:prstGeom>
          <a:solidFill>
            <a:srgbClr val="FBE6D0"/>
          </a:solidFill>
          <a:ln w="19050">
            <a:solidFill>
              <a:srgbClr val="D9822B"/>
            </a:solidFill>
          </a:ln>
        </p:spPr>
        <p:txBody>
          <a:bodyPr wrap="square" lIns="25400" tIns="25400" rIns="25400" bIns="2540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Frozen reference</a:t>
            </a:r>
            <a:endParaRPr lang="en-US" sz="1200" dirty="0"/>
          </a:p>
          <a:p>
            <a:pPr algn="ctr" indent="0" marL="0">
              <a:buNone/>
            </a:pPr>
            <a:r>
              <a:rPr lang="en-US" sz="1200" b="1" dirty="0">
                <a:solidFill>
                  <a:srgbClr val="14213D"/>
                </a:solidFill>
                <a:latin typeface="Calibri" pitchFamily="34" charset="0"/>
                <a:ea typeface="Calibri" pitchFamily="34" charset="-122"/>
                <a:cs typeface="Calibri" pitchFamily="34" charset="-120"/>
              </a:rPr>
              <a:t>map + trajectory</a:t>
            </a:r>
            <a:endParaRPr lang="en-US" sz="1200" dirty="0"/>
          </a:p>
        </p:txBody>
      </p:sp>
      <p:sp>
        <p:nvSpPr>
          <p:cNvPr id="10" name="Board poses"/>
          <p:cNvSpPr/>
          <p:nvPr/>
        </p:nvSpPr>
        <p:spPr>
          <a:xfrm>
            <a:off x="9476842" y="1904613"/>
            <a:ext cx="2074518" cy="541178"/>
          </a:xfrm>
          <a:prstGeom prst="roundRect">
            <a:avLst>
              <a:gd name="adj" fmla="val 10138"/>
            </a:avLst>
          </a:prstGeom>
          <a:solidFill>
            <a:srgbClr val="FFFFFF"/>
          </a:solidFill>
          <a:ln w="15875">
            <a:solidFill>
              <a:srgbClr val="14213D"/>
            </a:solidFill>
          </a:ln>
        </p:spPr>
        <p:txBody>
          <a:bodyPr wrap="square" lIns="25400" tIns="25400" rIns="25400" bIns="2540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Board poses</a:t>
            </a:r>
            <a:endParaRPr lang="en-US" sz="1200" dirty="0"/>
          </a:p>
        </p:txBody>
      </p:sp>
      <p:sp>
        <p:nvSpPr>
          <p:cNvPr id="11" name="Camera poses"/>
          <p:cNvSpPr/>
          <p:nvPr/>
        </p:nvSpPr>
        <p:spPr>
          <a:xfrm>
            <a:off x="9476842" y="3032068"/>
            <a:ext cx="2074518" cy="541178"/>
          </a:xfrm>
          <a:prstGeom prst="roundRect">
            <a:avLst>
              <a:gd name="adj" fmla="val 10138"/>
            </a:avLst>
          </a:prstGeom>
          <a:solidFill>
            <a:srgbClr val="FFFFFF"/>
          </a:solidFill>
          <a:ln w="15875">
            <a:solidFill>
              <a:srgbClr val="14213D"/>
            </a:solidFill>
          </a:ln>
        </p:spPr>
        <p:txBody>
          <a:bodyPr wrap="square" lIns="25400" tIns="25400" rIns="25400" bIns="2540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Infrastructure</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camera poses</a:t>
            </a:r>
            <a:endParaRPr lang="en-US" sz="1200" dirty="0"/>
          </a:p>
        </p:txBody>
      </p:sp>
      <p:sp>
        <p:nvSpPr>
          <p:cNvPr id="12" name="Arrow"/>
          <p:cNvSpPr/>
          <p:nvPr/>
        </p:nvSpPr>
        <p:spPr>
          <a:xfrm>
            <a:off x="1753773" y="2660008"/>
            <a:ext cx="225491" cy="0"/>
          </a:xfrm>
          <a:prstGeom prst="line">
            <a:avLst/>
          </a:prstGeom>
          <a:noFill/>
          <a:ln w="15875">
            <a:solidFill>
              <a:srgbClr val="14213D"/>
            </a:solidFill>
            <a:prstDash val="solid"/>
            <a:tailEnd type="triangle"/>
          </a:ln>
        </p:spPr>
      </p:sp>
      <p:sp>
        <p:nvSpPr>
          <p:cNvPr id="13" name="Arrow"/>
          <p:cNvSpPr/>
          <p:nvPr/>
        </p:nvSpPr>
        <p:spPr>
          <a:xfrm>
            <a:off x="3895938" y="2660008"/>
            <a:ext cx="225491" cy="0"/>
          </a:xfrm>
          <a:prstGeom prst="line">
            <a:avLst/>
          </a:prstGeom>
          <a:noFill/>
          <a:ln w="15875">
            <a:solidFill>
              <a:srgbClr val="14213D"/>
            </a:solidFill>
            <a:prstDash val="solid"/>
            <a:tailEnd type="triangle"/>
          </a:ln>
        </p:spPr>
      </p:sp>
      <p:sp>
        <p:nvSpPr>
          <p:cNvPr id="14" name="Arrow"/>
          <p:cNvSpPr/>
          <p:nvPr/>
        </p:nvSpPr>
        <p:spPr>
          <a:xfrm>
            <a:off x="5474376" y="2660008"/>
            <a:ext cx="225491" cy="0"/>
          </a:xfrm>
          <a:prstGeom prst="line">
            <a:avLst/>
          </a:prstGeom>
          <a:noFill/>
          <a:ln w="15875">
            <a:solidFill>
              <a:srgbClr val="14213D"/>
            </a:solidFill>
            <a:prstDash val="solid"/>
            <a:tailEnd type="triangle"/>
          </a:ln>
        </p:spPr>
      </p:sp>
      <p:sp>
        <p:nvSpPr>
          <p:cNvPr id="15" name="Arrow"/>
          <p:cNvSpPr/>
          <p:nvPr/>
        </p:nvSpPr>
        <p:spPr>
          <a:xfrm>
            <a:off x="6827322" y="2660008"/>
            <a:ext cx="225491" cy="0"/>
          </a:xfrm>
          <a:prstGeom prst="line">
            <a:avLst/>
          </a:prstGeom>
          <a:noFill/>
          <a:ln w="15875">
            <a:solidFill>
              <a:srgbClr val="14213D"/>
            </a:solidFill>
            <a:prstDash val="solid"/>
            <a:tailEnd type="triangle"/>
          </a:ln>
        </p:spPr>
      </p:sp>
      <p:sp>
        <p:nvSpPr>
          <p:cNvPr id="16" name="Arrow to boards"/>
          <p:cNvSpPr/>
          <p:nvPr/>
        </p:nvSpPr>
        <p:spPr>
          <a:xfrm flipV="1">
            <a:off x="8800368" y="2175202"/>
            <a:ext cx="676473" cy="372060"/>
          </a:xfrm>
          <a:prstGeom prst="line">
            <a:avLst/>
          </a:prstGeom>
          <a:noFill/>
          <a:ln w="15875">
            <a:solidFill>
              <a:srgbClr val="14213D"/>
            </a:solidFill>
            <a:prstDash val="solid"/>
            <a:tailEnd type="triangle"/>
          </a:ln>
        </p:spPr>
      </p:sp>
      <p:sp>
        <p:nvSpPr>
          <p:cNvPr id="17" name="Arrow to cameras"/>
          <p:cNvSpPr/>
          <p:nvPr/>
        </p:nvSpPr>
        <p:spPr>
          <a:xfrm>
            <a:off x="8800368" y="2772753"/>
            <a:ext cx="676473" cy="529904"/>
          </a:xfrm>
          <a:prstGeom prst="line">
            <a:avLst/>
          </a:prstGeom>
          <a:noFill/>
          <a:ln w="15875">
            <a:solidFill>
              <a:srgbClr val="14213D"/>
            </a:solidFill>
            <a:prstDash val="solid"/>
            <a:tailEnd type="triangle"/>
          </a:ln>
        </p:spPr>
      </p:sp>
      <p:sp>
        <p:nvSpPr>
          <p:cNvPr id="18" name="Boards to cameras"/>
          <p:cNvSpPr/>
          <p:nvPr/>
        </p:nvSpPr>
        <p:spPr>
          <a:xfrm>
            <a:off x="9927824" y="2445791"/>
            <a:ext cx="0" cy="586277"/>
          </a:xfrm>
          <a:prstGeom prst="line">
            <a:avLst/>
          </a:prstGeom>
          <a:noFill/>
          <a:ln w="15875">
            <a:solidFill>
              <a:srgbClr val="14213D"/>
            </a:solidFill>
            <a:prstDash val="solid"/>
            <a:tailEnd type="triangle"/>
          </a:ln>
        </p:spPr>
      </p:sp>
      <p:sp>
        <p:nvSpPr>
          <p:cNvPr id="19" name="Through label"/>
          <p:cNvSpPr txBox="1"/>
          <p:nvPr/>
        </p:nvSpPr>
        <p:spPr>
          <a:xfrm>
            <a:off x="10040569" y="2592361"/>
            <a:ext cx="1465692" cy="293138"/>
          </a:xfrm>
          <a:prstGeom prst="rect">
            <a:avLst/>
          </a:prstGeom>
          <a:noFill/>
          <a:ln/>
        </p:spPr>
        <p:txBody>
          <a:bodyPr wrap="square" lIns="0" tIns="0" rIns="0" bIns="0" rtlCol="0" anchor="ctr"/>
          <a:lstStyle/>
          <a:p>
            <a:pPr algn="l" indent="0" marL="0">
              <a:buNone/>
            </a:pPr>
            <a:r>
              <a:rPr lang="en-US" sz="1000" dirty="0">
                <a:solidFill>
                  <a:srgbClr val="5A6475"/>
                </a:solidFill>
                <a:latin typeface="Calibri" pitchFamily="34" charset="0"/>
                <a:ea typeface="Calibri" pitchFamily="34" charset="-122"/>
                <a:cs typeface="Calibri" pitchFamily="34" charset="-120"/>
              </a:rPr>
              <a:t>through the boards</a:t>
            </a:r>
            <a:endParaRPr lang="en-US" sz="1000" dirty="0"/>
          </a:p>
        </p:txBody>
      </p:sp>
      <p:sp>
        <p:nvSpPr>
          <p:cNvPr id="20" name="Checks"/>
          <p:cNvSpPr/>
          <p:nvPr/>
        </p:nvSpPr>
        <p:spPr>
          <a:xfrm>
            <a:off x="1979265" y="3449227"/>
            <a:ext cx="4848057" cy="338237"/>
          </a:xfrm>
          <a:prstGeom prst="roundRect">
            <a:avLst>
              <a:gd name="adj" fmla="val 13517"/>
            </a:avLst>
          </a:prstGeom>
          <a:solidFill>
            <a:srgbClr val="EEF1F5"/>
          </a:solidFill>
          <a:ln w="9525">
            <a:solidFill>
              <a:srgbClr val="5A6475"/>
            </a:solidFill>
            <a:prstDash val="dash"/>
          </a:ln>
        </p:spPr>
        <p:txBody>
          <a:bodyPr wrap="square" lIns="0" tIns="0" rIns="0" bIns="0" rtlCol="0" anchor="ctr"/>
          <a:lstStyle/>
          <a:p>
            <a:pPr algn="ctr" indent="0" marL="0">
              <a:buNone/>
            </a:pPr>
            <a:r>
              <a:rPr lang="en-US" sz="1100" i="1" dirty="0">
                <a:solidFill>
                  <a:srgbClr val="5A6475"/>
                </a:solidFill>
                <a:latin typeface="Calibri" pitchFamily="34" charset="0"/>
                <a:ea typeface="Calibri" pitchFamily="34" charset="-122"/>
                <a:cs typeface="Calibri" pitchFamily="34" charset="-120"/>
              </a:rPr>
              <a:t>checks: wall thickness · loop closure · pose time · control distances</a:t>
            </a:r>
            <a:endParaRPr lang="en-US" sz="1100" dirty="0"/>
          </a:p>
        </p:txBody>
      </p:sp>
      <p:sp>
        <p:nvSpPr>
          <p:cNvPr id="21" name="Sequence lane"/>
          <p:cNvSpPr/>
          <p:nvPr/>
        </p:nvSpPr>
        <p:spPr>
          <a:xfrm>
            <a:off x="524847" y="4125700"/>
            <a:ext cx="11139257" cy="1916674"/>
          </a:xfrm>
          <a:prstGeom prst="roundRect">
            <a:avLst>
              <a:gd name="adj" fmla="val 4771"/>
            </a:avLst>
          </a:prstGeom>
          <a:solidFill>
            <a:srgbClr val="EEF1F5"/>
          </a:solidFill>
          <a:ln w="12700">
            <a:solidFill>
              <a:srgbClr val="A7B0C0"/>
            </a:solidFill>
            <a:prstDash val="solid"/>
          </a:ln>
        </p:spPr>
      </p:sp>
      <p:sp>
        <p:nvSpPr>
          <p:cNvPr id="22" name="Sequence lane title"/>
          <p:cNvSpPr txBox="1"/>
          <p:nvPr/>
        </p:nvSpPr>
        <p:spPr>
          <a:xfrm>
            <a:off x="660142" y="4189708"/>
            <a:ext cx="10868668"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Every sequence</a:t>
            </a:r>
            <a:endParaRPr lang="en-US" sz="1300" dirty="0"/>
          </a:p>
        </p:txBody>
      </p:sp>
      <p:sp>
        <p:nvSpPr>
          <p:cNvPr id="23" name="Sequence recording"/>
          <p:cNvSpPr/>
          <p:nvPr/>
        </p:nvSpPr>
        <p:spPr>
          <a:xfrm>
            <a:off x="682691" y="4937467"/>
            <a:ext cx="1071082" cy="676473"/>
          </a:xfrm>
          <a:prstGeom prst="roundRect">
            <a:avLst>
              <a:gd name="adj" fmla="val 8110"/>
            </a:avLst>
          </a:prstGeom>
          <a:solidFill>
            <a:srgbClr val="FFFFFF"/>
          </a:solidFill>
          <a:ln w="15875">
            <a:solidFill>
              <a:srgbClr val="14213D"/>
            </a:solidFill>
          </a:ln>
        </p:spPr>
        <p:txBody>
          <a:bodyPr wrap="square" lIns="25400" tIns="25400" rIns="25400" bIns="2540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Processed</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recording</a:t>
            </a:r>
            <a:endParaRPr lang="en-US" sz="1200" dirty="0"/>
          </a:p>
        </p:txBody>
      </p:sp>
      <p:sp>
        <p:nvSpPr>
          <p:cNvPr id="24" name="Sequence SLAM"/>
          <p:cNvSpPr/>
          <p:nvPr/>
        </p:nvSpPr>
        <p:spPr>
          <a:xfrm>
            <a:off x="1979265" y="4937467"/>
            <a:ext cx="1916674" cy="676473"/>
          </a:xfrm>
          <a:prstGeom prst="roundRect">
            <a:avLst>
              <a:gd name="adj" fmla="val 8110"/>
            </a:avLst>
          </a:prstGeom>
          <a:solidFill>
            <a:srgbClr val="FFFFFF"/>
          </a:solidFill>
          <a:ln w="15875">
            <a:solidFill>
              <a:srgbClr val="14213D"/>
            </a:solidFill>
          </a:ln>
        </p:spPr>
        <p:txBody>
          <a:bodyPr wrap="square" lIns="25400" tIns="25400" rIns="25400" bIns="2540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LiDAR-inertial SLAM</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 pose-time check</a:t>
            </a:r>
            <a:endParaRPr lang="en-US" sz="1200" dirty="0"/>
          </a:p>
        </p:txBody>
      </p:sp>
      <p:sp>
        <p:nvSpPr>
          <p:cNvPr id="25" name="Registration"/>
          <p:cNvSpPr/>
          <p:nvPr/>
        </p:nvSpPr>
        <p:spPr>
          <a:xfrm>
            <a:off x="4121429" y="4802173"/>
            <a:ext cx="2705892" cy="947062"/>
          </a:xfrm>
          <a:prstGeom prst="roundRect">
            <a:avLst>
              <a:gd name="adj" fmla="val 5793"/>
            </a:avLst>
          </a:prstGeom>
          <a:solidFill>
            <a:srgbClr val="FFFFFF"/>
          </a:solidFill>
          <a:ln w="15875">
            <a:solidFill>
              <a:srgbClr val="14213D"/>
            </a:solidFill>
          </a:ln>
        </p:spPr>
        <p:txBody>
          <a:bodyPr wrap="square" lIns="25400" tIns="25400" rIns="25400" bIns="2540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Per-agent registration</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LiDAR: scan-to-map ICP</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RGB-D: odometry + ICP + boards</a:t>
            </a:r>
            <a:endParaRPr lang="en-US" sz="1200" dirty="0"/>
          </a:p>
        </p:txBody>
      </p:sp>
      <p:sp>
        <p:nvSpPr>
          <p:cNvPr id="26" name="Validation"/>
          <p:cNvSpPr/>
          <p:nvPr/>
        </p:nvSpPr>
        <p:spPr>
          <a:xfrm>
            <a:off x="7052813" y="4802173"/>
            <a:ext cx="1522065" cy="947062"/>
          </a:xfrm>
          <a:prstGeom prst="roundRect">
            <a:avLst>
              <a:gd name="adj" fmla="val 5793"/>
            </a:avLst>
          </a:prstGeom>
          <a:solidFill>
            <a:srgbClr val="FFFFFF"/>
          </a:solidFill>
          <a:ln w="15875">
            <a:solidFill>
              <a:srgbClr val="14213D"/>
            </a:solidFill>
          </a:ln>
        </p:spPr>
        <p:txBody>
          <a:bodyPr wrap="square" lIns="25400" tIns="25400" rIns="25400" bIns="2540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Independent</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validation</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(held-out boards)</a:t>
            </a:r>
            <a:endParaRPr lang="en-US" sz="1200" dirty="0"/>
          </a:p>
        </p:txBody>
      </p:sp>
      <p:sp>
        <p:nvSpPr>
          <p:cNvPr id="27" name="Reference poses"/>
          <p:cNvSpPr/>
          <p:nvPr/>
        </p:nvSpPr>
        <p:spPr>
          <a:xfrm>
            <a:off x="8800368" y="4881095"/>
            <a:ext cx="1522065" cy="789219"/>
          </a:xfrm>
          <a:prstGeom prst="parallelogram">
            <a:avLst/>
          </a:prstGeom>
          <a:solidFill>
            <a:srgbClr val="FBE6D0"/>
          </a:solidFill>
          <a:ln w="19050">
            <a:solidFill>
              <a:srgbClr val="D9822B"/>
            </a:solidFill>
          </a:ln>
        </p:spPr>
        <p:txBody>
          <a:bodyPr wrap="square" lIns="25400" tIns="25400" rIns="25400" bIns="2540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Reference</a:t>
            </a:r>
            <a:endParaRPr lang="en-US" sz="1200" dirty="0"/>
          </a:p>
          <a:p>
            <a:pPr algn="ctr" indent="0" marL="0">
              <a:buNone/>
            </a:pPr>
            <a:r>
              <a:rPr lang="en-US" sz="1200" b="1" dirty="0">
                <a:solidFill>
                  <a:srgbClr val="14213D"/>
                </a:solidFill>
                <a:latin typeface="Calibri" pitchFamily="34" charset="0"/>
                <a:ea typeface="Calibri" pitchFamily="34" charset="-122"/>
                <a:cs typeface="Calibri" pitchFamily="34" charset="-120"/>
              </a:rPr>
              <a:t>poses (site)</a:t>
            </a:r>
            <a:endParaRPr lang="en-US" sz="1200" dirty="0"/>
          </a:p>
        </p:txBody>
      </p:sp>
      <p:sp>
        <p:nvSpPr>
          <p:cNvPr id="28" name="Labels"/>
          <p:cNvSpPr/>
          <p:nvPr/>
        </p:nvSpPr>
        <p:spPr>
          <a:xfrm>
            <a:off x="10491551" y="4881095"/>
            <a:ext cx="1059808" cy="789219"/>
          </a:xfrm>
          <a:prstGeom prst="parallelogram">
            <a:avLst/>
          </a:prstGeom>
          <a:solidFill>
            <a:srgbClr val="FBE6D0"/>
          </a:solidFill>
          <a:ln w="19050">
            <a:solidFill>
              <a:srgbClr val="D9822B"/>
            </a:solidFill>
          </a:ln>
        </p:spPr>
        <p:txBody>
          <a:bodyPr wrap="square" lIns="25400" tIns="25400" rIns="25400" bIns="2540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Labels and</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geometry</a:t>
            </a:r>
            <a:endParaRPr lang="en-US" sz="1200" dirty="0"/>
          </a:p>
        </p:txBody>
      </p:sp>
      <p:sp>
        <p:nvSpPr>
          <p:cNvPr id="29" name="Arrow"/>
          <p:cNvSpPr/>
          <p:nvPr/>
        </p:nvSpPr>
        <p:spPr>
          <a:xfrm>
            <a:off x="1753773" y="5275704"/>
            <a:ext cx="225491" cy="0"/>
          </a:xfrm>
          <a:prstGeom prst="line">
            <a:avLst/>
          </a:prstGeom>
          <a:noFill/>
          <a:ln w="15875">
            <a:solidFill>
              <a:srgbClr val="14213D"/>
            </a:solidFill>
            <a:prstDash val="solid"/>
            <a:tailEnd type="triangle"/>
          </a:ln>
        </p:spPr>
      </p:sp>
      <p:sp>
        <p:nvSpPr>
          <p:cNvPr id="30" name="Arrow"/>
          <p:cNvSpPr/>
          <p:nvPr/>
        </p:nvSpPr>
        <p:spPr>
          <a:xfrm>
            <a:off x="3895938" y="5275704"/>
            <a:ext cx="225491" cy="0"/>
          </a:xfrm>
          <a:prstGeom prst="line">
            <a:avLst/>
          </a:prstGeom>
          <a:noFill/>
          <a:ln w="15875">
            <a:solidFill>
              <a:srgbClr val="14213D"/>
            </a:solidFill>
            <a:prstDash val="solid"/>
            <a:tailEnd type="triangle"/>
          </a:ln>
        </p:spPr>
      </p:sp>
      <p:sp>
        <p:nvSpPr>
          <p:cNvPr id="31" name="Arrow"/>
          <p:cNvSpPr/>
          <p:nvPr/>
        </p:nvSpPr>
        <p:spPr>
          <a:xfrm>
            <a:off x="6827322" y="5275704"/>
            <a:ext cx="225491" cy="0"/>
          </a:xfrm>
          <a:prstGeom prst="line">
            <a:avLst/>
          </a:prstGeom>
          <a:noFill/>
          <a:ln w="15875">
            <a:solidFill>
              <a:srgbClr val="14213D"/>
            </a:solidFill>
            <a:prstDash val="solid"/>
            <a:tailEnd type="triangle"/>
          </a:ln>
        </p:spPr>
      </p:sp>
      <p:sp>
        <p:nvSpPr>
          <p:cNvPr id="32" name="Arrow"/>
          <p:cNvSpPr/>
          <p:nvPr/>
        </p:nvSpPr>
        <p:spPr>
          <a:xfrm>
            <a:off x="8574877" y="5275704"/>
            <a:ext cx="225491" cy="0"/>
          </a:xfrm>
          <a:prstGeom prst="line">
            <a:avLst/>
          </a:prstGeom>
          <a:noFill/>
          <a:ln w="15875">
            <a:solidFill>
              <a:srgbClr val="14213D"/>
            </a:solidFill>
            <a:prstDash val="solid"/>
            <a:tailEnd type="triangle"/>
          </a:ln>
        </p:spPr>
      </p:sp>
      <p:sp>
        <p:nvSpPr>
          <p:cNvPr id="33" name="Arrow"/>
          <p:cNvSpPr/>
          <p:nvPr/>
        </p:nvSpPr>
        <p:spPr>
          <a:xfrm>
            <a:off x="10322433" y="5275704"/>
            <a:ext cx="169118" cy="0"/>
          </a:xfrm>
          <a:prstGeom prst="line">
            <a:avLst/>
          </a:prstGeom>
          <a:noFill/>
          <a:ln w="15875">
            <a:solidFill>
              <a:srgbClr val="14213D"/>
            </a:solidFill>
            <a:prstDash val="solid"/>
            <a:tailEnd type="triangle"/>
          </a:ln>
        </p:spPr>
      </p:sp>
      <p:sp>
        <p:nvSpPr>
          <p:cNvPr id="34" name="Bus down"/>
          <p:cNvSpPr/>
          <p:nvPr/>
        </p:nvSpPr>
        <p:spPr>
          <a:xfrm>
            <a:off x="7954777" y="3054617"/>
            <a:ext cx="0" cy="1454417"/>
          </a:xfrm>
          <a:prstGeom prst="line">
            <a:avLst/>
          </a:prstGeom>
          <a:noFill/>
          <a:ln w="19050">
            <a:solidFill>
              <a:srgbClr val="D9822B"/>
            </a:solidFill>
            <a:prstDash val="dash"/>
            <a:tailEnd type="none"/>
          </a:ln>
        </p:spPr>
      </p:sp>
      <p:sp>
        <p:nvSpPr>
          <p:cNvPr id="35" name="Bus across"/>
          <p:cNvSpPr/>
          <p:nvPr/>
        </p:nvSpPr>
        <p:spPr>
          <a:xfrm flipH="1">
            <a:off x="5474376" y="4509034"/>
            <a:ext cx="2480401" cy="0"/>
          </a:xfrm>
          <a:prstGeom prst="line">
            <a:avLst/>
          </a:prstGeom>
          <a:noFill/>
          <a:ln w="19050">
            <a:solidFill>
              <a:srgbClr val="D9822B"/>
            </a:solidFill>
            <a:prstDash val="dash"/>
            <a:tailEnd type="none"/>
          </a:ln>
        </p:spPr>
      </p:sp>
      <p:sp>
        <p:nvSpPr>
          <p:cNvPr id="36" name="To registration"/>
          <p:cNvSpPr/>
          <p:nvPr/>
        </p:nvSpPr>
        <p:spPr>
          <a:xfrm>
            <a:off x="5474376" y="4509034"/>
            <a:ext cx="0" cy="293138"/>
          </a:xfrm>
          <a:prstGeom prst="line">
            <a:avLst/>
          </a:prstGeom>
          <a:noFill/>
          <a:ln w="19050">
            <a:solidFill>
              <a:srgbClr val="D9822B"/>
            </a:solidFill>
            <a:prstDash val="dash"/>
            <a:tailEnd type="triangle"/>
          </a:ln>
        </p:spPr>
      </p:sp>
      <p:sp>
        <p:nvSpPr>
          <p:cNvPr id="37" name="To validation"/>
          <p:cNvSpPr/>
          <p:nvPr/>
        </p:nvSpPr>
        <p:spPr>
          <a:xfrm>
            <a:off x="7813845" y="4509034"/>
            <a:ext cx="0" cy="293138"/>
          </a:xfrm>
          <a:prstGeom prst="line">
            <a:avLst/>
          </a:prstGeom>
          <a:noFill/>
          <a:ln w="19050">
            <a:solidFill>
              <a:srgbClr val="D9822B"/>
            </a:solidFill>
            <a:prstDash val="dash"/>
            <a:tailEnd type="triangle"/>
          </a:ln>
        </p:spPr>
      </p:sp>
      <p:sp>
        <p:nvSpPr>
          <p:cNvPr id="38" name="Bus label"/>
          <p:cNvSpPr txBox="1"/>
          <p:nvPr/>
        </p:nvSpPr>
        <p:spPr>
          <a:xfrm>
            <a:off x="5699867" y="4204622"/>
            <a:ext cx="1916674" cy="270589"/>
          </a:xfrm>
          <a:prstGeom prst="rect">
            <a:avLst/>
          </a:prstGeom>
          <a:noFill/>
          <a:ln/>
        </p:spPr>
        <p:txBody>
          <a:bodyPr wrap="square" lIns="0" tIns="0" rIns="0" bIns="0" rtlCol="0" anchor="ctr"/>
          <a:lstStyle/>
          <a:p>
            <a:pPr algn="ctr" indent="0" marL="0">
              <a:buNone/>
            </a:pPr>
            <a:r>
              <a:rPr lang="en-US" sz="1100" dirty="0">
                <a:solidFill>
                  <a:srgbClr val="9A5A14"/>
                </a:solidFill>
                <a:latin typeface="Calibri" pitchFamily="34" charset="0"/>
                <a:ea typeface="Calibri" pitchFamily="34" charset="-122"/>
                <a:cs typeface="Calibri" pitchFamily="34" charset="-120"/>
              </a:rPr>
              <a:t>frozen map, boards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Pose-time correction</a:t>
            </a:r>
            <a:endParaRPr lang="en-US" sz="3200" dirty="0"/>
          </a:p>
        </p:txBody>
      </p:sp>
      <p:pic>
        <p:nvPicPr>
          <p:cNvPr id="3" name="Drawing" descr="Pose-time correction: schematic drawing">    </p:cNvPr>
          <p:cNvPicPr>
            <a:picLocks noChangeAspect="1"/>
          </p:cNvPicPr>
          <p:nvPr/>
        </p:nvPicPr>
        <p:blipFill>
          <a:blip r:embed="rId1"/>
          <a:stretch>
            <a:fillRect/>
          </a:stretch>
        </p:blipFill>
        <p:spPr>
          <a:xfrm>
            <a:off x="320040" y="1234440"/>
            <a:ext cx="6360504" cy="5212080"/>
          </a:xfrm>
          <a:prstGeom prst="rect">
            <a:avLst/>
          </a:prstGeom>
        </p:spPr>
      </p:pic>
      <p:sp>
        <p:nvSpPr>
          <p:cNvPr id="4" name="Bullets"/>
          <p:cNvSpPr txBox="1"/>
          <p:nvPr/>
        </p:nvSpPr>
        <p:spPr>
          <a:xfrm>
            <a:off x="7000584" y="1554480"/>
            <a:ext cx="4733911" cy="32918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4213D"/>
                </a:solidFill>
                <a:latin typeface="Calibri" pitchFamily="34" charset="0"/>
                <a:ea typeface="Calibri" pitchFamily="34" charset="-122"/>
                <a:cs typeface="Calibri" pitchFamily="34" charset="-120"/>
              </a:rPr>
              <a:t>GLIM stamps each pose with the start of its LiDAR sweep; the pose is the robot about half a sweep (50 ms) later.</a:t>
            </a:r>
            <a:endParaRPr lang="en-US" sz="1700" dirty="0"/>
          </a:p>
          <a:p>
            <a:pPr marL="342900" indent="-342900">
              <a:spcAft>
                <a:spcPts val="1200"/>
              </a:spcAft>
              <a:buSzPct val="100000"/>
              <a:buChar char="•"/>
            </a:pPr>
            <a:r>
              <a:rPr lang="en-US" sz="1700" dirty="0">
                <a:solidFill>
                  <a:srgbClr val="14213D"/>
                </a:solidFill>
                <a:latin typeface="Calibri" pitchFamily="34" charset="0"/>
                <a:ea typeface="Calibri" pitchFamily="34" charset="-122"/>
                <a:cs typeface="Calibri" pitchFamily="34" charset="-120"/>
              </a:rPr>
              <a:t>A scan placed with the pose stamped at its own time lands off the walls whenever the robot turns.</a:t>
            </a:r>
            <a:endParaRPr lang="en-US" sz="1700" dirty="0"/>
          </a:p>
          <a:p>
            <a:pPr marL="342900" indent="-342900">
              <a:spcAft>
                <a:spcPts val="1200"/>
              </a:spcAft>
              <a:buSzPct val="100000"/>
              <a:buChar char="•"/>
            </a:pPr>
            <a:r>
              <a:rPr lang="en-US" sz="1700" dirty="0">
                <a:solidFill>
                  <a:srgbClr val="14213D"/>
                </a:solidFill>
                <a:latin typeface="Calibri" pitchFamily="34" charset="0"/>
                <a:ea typeface="Calibri" pitchFamily="34" charset="-122"/>
                <a:cs typeface="Calibri" pitchFamily="34" charset="-120"/>
              </a:rPr>
              <a:t>Fix: every pose moved +46 ms on export (recording.yaml, pose_time_offset).</a:t>
            </a:r>
            <a:endParaRPr lang="en-US" sz="1700" dirty="0"/>
          </a:p>
        </p:txBody>
      </p:sp>
      <p:sp>
        <p:nvSpPr>
          <p:cNvPr id="5" name="Result"/>
          <p:cNvSpPr/>
          <p:nvPr/>
        </p:nvSpPr>
        <p:spPr>
          <a:xfrm>
            <a:off x="7000584" y="5120640"/>
            <a:ext cx="4733911" cy="822960"/>
          </a:xfrm>
          <a:prstGeom prst="roundRect">
            <a:avLst>
              <a:gd name="adj" fmla="val 8889"/>
            </a:avLst>
          </a:prstGeom>
          <a:solidFill>
            <a:srgbClr val="FBE6D0"/>
          </a:solidFill>
          <a:ln w="12700">
            <a:solidFill>
              <a:srgbClr val="D9822B"/>
            </a:solidFill>
          </a:ln>
        </p:spPr>
        <p:txBody>
          <a:bodyPr wrap="square" lIns="101600" tIns="101600" rIns="101600" bIns="10160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20261015: 4 ms left; checked on every pass (heading against turning rate)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Plane bundle adjustment</a:t>
            </a:r>
            <a:endParaRPr lang="en-US" sz="3200" dirty="0"/>
          </a:p>
        </p:txBody>
      </p:sp>
      <p:pic>
        <p:nvPicPr>
          <p:cNvPr id="3" name="Drawing" descr="Plane bundle adjustment: schematic drawing">    </p:cNvPr>
          <p:cNvPicPr>
            <a:picLocks noChangeAspect="1"/>
          </p:cNvPicPr>
          <p:nvPr/>
        </p:nvPicPr>
        <p:blipFill>
          <a:blip r:embed="rId1"/>
          <a:stretch>
            <a:fillRect/>
          </a:stretch>
        </p:blipFill>
        <p:spPr>
          <a:xfrm>
            <a:off x="320040" y="1234440"/>
            <a:ext cx="6360504" cy="5212080"/>
          </a:xfrm>
          <a:prstGeom prst="rect">
            <a:avLst/>
          </a:prstGeom>
        </p:spPr>
      </p:pic>
      <p:sp>
        <p:nvSpPr>
          <p:cNvPr id="4" name="Bullets"/>
          <p:cNvSpPr txBox="1"/>
          <p:nvPr/>
        </p:nvSpPr>
        <p:spPr>
          <a:xfrm>
            <a:off x="7000584" y="1554480"/>
            <a:ext cx="4733911" cy="32918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4213D"/>
                </a:solidFill>
                <a:latin typeface="Calibri" pitchFamily="34" charset="0"/>
                <a:ea typeface="Calibri" pitchFamily="34" charset="-122"/>
                <a:cs typeface="Calibri" pitchFamily="34" charset="-120"/>
              </a:rPr>
              <a:t>Keyframes: 1 s of scans each. Planes: flat 0.5 m cubes seen by at least 3 keyframes.</a:t>
            </a:r>
            <a:endParaRPr lang="en-US" sz="1700" dirty="0"/>
          </a:p>
          <a:p>
            <a:pPr marL="342900" indent="-342900">
              <a:spcAft>
                <a:spcPts val="1200"/>
              </a:spcAft>
              <a:buSzPct val="100000"/>
              <a:buChar char="•"/>
            </a:pPr>
            <a:r>
              <a:rPr lang="en-US" sz="1700" dirty="0">
                <a:solidFill>
                  <a:srgbClr val="14213D"/>
                </a:solidFill>
                <a:latin typeface="Calibri" pitchFamily="34" charset="0"/>
                <a:ea typeface="Calibri" pitchFamily="34" charset="-122"/>
                <a:cs typeface="Calibri" pitchFamily="34" charset="-120"/>
              </a:rPr>
              <a:t>Each plane is solved in closed form, so only the poses are unknown; the cost is every plane's thickness squared.</a:t>
            </a:r>
            <a:endParaRPr lang="en-US" sz="1700" dirty="0"/>
          </a:p>
          <a:p>
            <a:pPr marL="342900" indent="-342900">
              <a:spcAft>
                <a:spcPts val="1200"/>
              </a:spcAft>
              <a:buSzPct val="100000"/>
              <a:buChar char="•"/>
            </a:pPr>
            <a:r>
              <a:rPr lang="en-US" sz="1700" dirty="0">
                <a:solidFill>
                  <a:srgbClr val="14213D"/>
                </a:solidFill>
                <a:latin typeface="Calibri" pitchFamily="34" charset="0"/>
                <a:ea typeface="Calibri" pitchFamily="34" charset="-122"/>
                <a:cs typeface="Calibri" pitchFamily="34" charset="-120"/>
              </a:rPr>
              <a:t>All keyframe poses move together; odometry keeps what no plane sees, gravity holds roll and pitch; 3 rounds.</a:t>
            </a:r>
            <a:endParaRPr lang="en-US" sz="1700" dirty="0"/>
          </a:p>
        </p:txBody>
      </p:sp>
      <p:sp>
        <p:nvSpPr>
          <p:cNvPr id="5" name="Result"/>
          <p:cNvSpPr/>
          <p:nvPr/>
        </p:nvSpPr>
        <p:spPr>
          <a:xfrm>
            <a:off x="7000584" y="5120640"/>
            <a:ext cx="4733911" cy="822960"/>
          </a:xfrm>
          <a:prstGeom prst="roundRect">
            <a:avLst>
              <a:gd name="adj" fmla="val 8889"/>
            </a:avLst>
          </a:prstGeom>
          <a:solidFill>
            <a:srgbClr val="FBE6D0"/>
          </a:solidFill>
          <a:ln w="12700">
            <a:solidFill>
              <a:srgbClr val="D9822B"/>
            </a:solidFill>
          </a:ln>
        </p:spPr>
        <p:txBody>
          <a:bodyPr wrap="square" lIns="101600" tIns="101600" rIns="101600" bIns="10160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20261015: whole-run walls 12.3 cm (GLIM as output) → 9.0 cm (reference)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TSDF fusion</a:t>
            </a:r>
            <a:endParaRPr lang="en-US" sz="3200" dirty="0"/>
          </a:p>
        </p:txBody>
      </p:sp>
      <p:pic>
        <p:nvPicPr>
          <p:cNvPr id="3" name="Drawing" descr="TSDF fusion: schematic drawing">    </p:cNvPr>
          <p:cNvPicPr>
            <a:picLocks noChangeAspect="1"/>
          </p:cNvPicPr>
          <p:nvPr/>
        </p:nvPicPr>
        <p:blipFill>
          <a:blip r:embed="rId1"/>
          <a:stretch>
            <a:fillRect/>
          </a:stretch>
        </p:blipFill>
        <p:spPr>
          <a:xfrm>
            <a:off x="320040" y="1234440"/>
            <a:ext cx="6360504" cy="5212080"/>
          </a:xfrm>
          <a:prstGeom prst="rect">
            <a:avLst/>
          </a:prstGeom>
        </p:spPr>
      </p:pic>
      <p:sp>
        <p:nvSpPr>
          <p:cNvPr id="4" name="Bullets"/>
          <p:cNvSpPr txBox="1"/>
          <p:nvPr/>
        </p:nvSpPr>
        <p:spPr>
          <a:xfrm>
            <a:off x="7000584" y="1554480"/>
            <a:ext cx="4733911" cy="32918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4213D"/>
                </a:solidFill>
                <a:latin typeface="Calibri" pitchFamily="34" charset="0"/>
                <a:ea typeface="Calibri" pitchFamily="34" charset="-122"/>
                <a:cs typeface="Calibri" pitchFamily="34" charset="-120"/>
              </a:rPr>
              <a:t>Each point is a ray: every 2 cm cell within ±8 cm of the hit gets its signed distance (+ in front, − behind).</a:t>
            </a:r>
            <a:endParaRPr lang="en-US" sz="1700" dirty="0"/>
          </a:p>
          <a:p>
            <a:pPr marL="342900" indent="-342900">
              <a:spcAft>
                <a:spcPts val="1200"/>
              </a:spcAft>
              <a:buSzPct val="100000"/>
              <a:buChar char="•"/>
            </a:pPr>
            <a:r>
              <a:rPr lang="en-US" sz="1700" dirty="0">
                <a:solidFill>
                  <a:srgbClr val="14213D"/>
                </a:solidFill>
                <a:latin typeface="Calibri" pitchFamily="34" charset="0"/>
                <a:ea typeface="Calibri" pitchFamily="34" charset="-122"/>
                <a:cs typeface="Calibri" pitchFamily="34" charset="-120"/>
              </a:rPr>
              <a:t>Averaged over all rays; the surface is where the average crosses zero (cells seen by at least 3 rays).</a:t>
            </a:r>
            <a:endParaRPr lang="en-US" sz="1700" dirty="0"/>
          </a:p>
          <a:p>
            <a:pPr marL="342900" indent="-342900">
              <a:spcAft>
                <a:spcPts val="1200"/>
              </a:spcAft>
              <a:buSzPct val="100000"/>
              <a:buChar char="•"/>
            </a:pPr>
            <a:r>
              <a:rPr lang="en-US" sz="1700" dirty="0">
                <a:solidFill>
                  <a:srgbClr val="14213D"/>
                </a:solidFill>
                <a:latin typeface="Calibri" pitchFamily="34" charset="0"/>
                <a:ea typeface="Calibri" pitchFamily="34" charset="-122"/>
                <a:cs typeface="Calibri" pitchFamily="34" charset="-120"/>
              </a:rPr>
              <a:t>One surface instead of every cell any scan hit: the union's band grows with every pass.</a:t>
            </a:r>
            <a:endParaRPr lang="en-US" sz="1700" dirty="0"/>
          </a:p>
        </p:txBody>
      </p:sp>
      <p:sp>
        <p:nvSpPr>
          <p:cNvPr id="5" name="Result"/>
          <p:cNvSpPr/>
          <p:nvPr/>
        </p:nvSpPr>
        <p:spPr>
          <a:xfrm>
            <a:off x="7000584" y="5120640"/>
            <a:ext cx="4733911" cy="822960"/>
          </a:xfrm>
          <a:prstGeom prst="roundRect">
            <a:avLst>
              <a:gd name="adj" fmla="val 8889"/>
            </a:avLst>
          </a:prstGeom>
          <a:solidFill>
            <a:srgbClr val="FBE6D0"/>
          </a:solidFill>
          <a:ln w="12700">
            <a:solidFill>
              <a:srgbClr val="D9822B"/>
            </a:solidFill>
          </a:ln>
        </p:spPr>
        <p:txBody>
          <a:bodyPr wrap="square" lIns="101600" tIns="101600" rIns="101600" bIns="10160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20261015: map walls 7.8 cm, against 12.8 cm for the union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Wall thickness</a:t>
            </a:r>
            <a:endParaRPr lang="en-US" sz="3200" dirty="0"/>
          </a:p>
        </p:txBody>
      </p:sp>
      <p:pic>
        <p:nvPicPr>
          <p:cNvPr id="3" name="Drawing" descr="Wall thickness: schematic drawing">    </p:cNvPr>
          <p:cNvPicPr>
            <a:picLocks noChangeAspect="1"/>
          </p:cNvPicPr>
          <p:nvPr/>
        </p:nvPicPr>
        <p:blipFill>
          <a:blip r:embed="rId1"/>
          <a:stretch>
            <a:fillRect/>
          </a:stretch>
        </p:blipFill>
        <p:spPr>
          <a:xfrm>
            <a:off x="320040" y="1234440"/>
            <a:ext cx="6360504" cy="5212080"/>
          </a:xfrm>
          <a:prstGeom prst="rect">
            <a:avLst/>
          </a:prstGeom>
        </p:spPr>
      </p:pic>
      <p:sp>
        <p:nvSpPr>
          <p:cNvPr id="4" name="Bullets"/>
          <p:cNvSpPr txBox="1"/>
          <p:nvPr/>
        </p:nvSpPr>
        <p:spPr>
          <a:xfrm>
            <a:off x="7000584" y="1554480"/>
            <a:ext cx="4733911" cy="32918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4213D"/>
                </a:solidFill>
                <a:latin typeface="Calibri" pitchFamily="34" charset="0"/>
                <a:ea typeface="Calibri" pitchFamily="34" charset="-122"/>
                <a:cs typeface="Calibri" pitchFamily="34" charset="-120"/>
              </a:rPr>
              <a:t>Each 0.25 m patch: fit a plane, take the points' offsets along its normal.</a:t>
            </a:r>
            <a:endParaRPr lang="en-US" sz="1700" dirty="0"/>
          </a:p>
          <a:p>
            <a:pPr marL="342900" indent="-342900">
              <a:spcAft>
                <a:spcPts val="1200"/>
              </a:spcAft>
              <a:buSzPct val="100000"/>
              <a:buChar char="•"/>
            </a:pPr>
            <a:r>
              <a:rPr lang="en-US" sz="1700" dirty="0">
                <a:solidFill>
                  <a:srgbClr val="14213D"/>
                </a:solidFill>
                <a:latin typeface="Calibri" pitchFamily="34" charset="0"/>
                <a:ea typeface="Calibri" pitchFamily="34" charset="-122"/>
                <a:cs typeface="Calibri" pitchFamily="34" charset="-120"/>
              </a:rPr>
              <a:t>Thickness = p95 − p5 of the offsets (3.29σ for Gaussian noise).</a:t>
            </a:r>
            <a:endParaRPr lang="en-US" sz="1700" dirty="0"/>
          </a:p>
          <a:p>
            <a:pPr marL="342900" indent="-342900">
              <a:spcAft>
                <a:spcPts val="1200"/>
              </a:spcAft>
              <a:buSzPct val="100000"/>
              <a:buChar char="•"/>
            </a:pPr>
            <a:r>
              <a:rPr lang="en-US" sz="1700" dirty="0">
                <a:solidFill>
                  <a:srgbClr val="14213D"/>
                </a:solidFill>
                <a:latin typeface="Calibri" pitchFamily="34" charset="0"/>
                <a:ea typeface="Calibri" pitchFamily="34" charset="-122"/>
                <a:cs typeface="Calibri" pitchFamily="34" charset="-120"/>
              </a:rPr>
              <a:t>Points from one scan, 1 s or the whole run, as placed: separates sensor, motion and pose error.</a:t>
            </a:r>
            <a:endParaRPr lang="en-US" sz="1700" dirty="0"/>
          </a:p>
        </p:txBody>
      </p:sp>
      <p:sp>
        <p:nvSpPr>
          <p:cNvPr id="5" name="Result"/>
          <p:cNvSpPr/>
          <p:nvPr/>
        </p:nvSpPr>
        <p:spPr>
          <a:xfrm>
            <a:off x="7000584" y="5120640"/>
            <a:ext cx="4733911" cy="822960"/>
          </a:xfrm>
          <a:prstGeom prst="roundRect">
            <a:avLst>
              <a:gd name="adj" fmla="val 8889"/>
            </a:avLst>
          </a:prstGeom>
          <a:solidFill>
            <a:srgbClr val="FBE6D0"/>
          </a:solidFill>
          <a:ln w="12700">
            <a:solidFill>
              <a:srgbClr val="D9822B"/>
            </a:solidFill>
          </a:ln>
        </p:spPr>
        <p:txBody>
          <a:bodyPr wrap="square" lIns="101600" tIns="101600" rIns="101600" bIns="10160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20261015 reference: sensor alone 3.0 · 1 scan 4.7 · 1 s 6.7 · whole run 9.0 cm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 pipeline</dc:title>
  <dc:subject>PptxGenJS Presentation</dc:subject>
  <dc:creator>PptxGenJS</dc:creator>
  <cp:lastModifiedBy>PptxGenJS</cp:lastModifiedBy>
  <cp:revision>1</cp:revision>
  <dcterms:created xsi:type="dcterms:W3CDTF">2026-10-19T08:45:54Z</dcterms:created>
  <dcterms:modified xsi:type="dcterms:W3CDTF">2026-10-19T08:45:54Z</dcterms:modified>
</cp:coreProperties>
</file>