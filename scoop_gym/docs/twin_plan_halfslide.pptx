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half: the plan. Right half is free for the talking points. Status: filled = validated, half = implemented but not yet run in Isaac, hollow = planned. M = measured from the recordings, A =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548640" y="228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from real data to a validated twin</a:t>
            </a:r>
            <a:endParaRPr lang="en-US" sz="1600" dirty="0"/>
          </a:p>
        </p:txBody>
      </p:sp>
      <p:sp>
        <p:nvSpPr>
          <p:cNvPr id="3" name="validated_2"/>
          <p:cNvSpPr/>
          <p:nvPr/>
        </p:nvSpPr>
        <p:spPr>
          <a:xfrm>
            <a:off x="548640" y="603504"/>
            <a:ext cx="118872" cy="118872"/>
          </a:xfrm>
          <a:prstGeom prst="ellipse">
            <a:avLst/>
          </a:prstGeom>
          <a:solidFill>
            <a:srgbClr val="C45A1C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4" name="text_3"/>
          <p:cNvSpPr txBox="1"/>
          <p:nvPr/>
        </p:nvSpPr>
        <p:spPr>
          <a:xfrm>
            <a:off x="713232" y="566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5" name="implemented_4"/>
          <p:cNvSpPr/>
          <p:nvPr/>
        </p:nvSpPr>
        <p:spPr>
          <a:xfrm>
            <a:off x="1435608" y="60350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6" name="half_5"/>
          <p:cNvSpPr/>
          <p:nvPr/>
        </p:nvSpPr>
        <p:spPr>
          <a:xfrm>
            <a:off x="1435608" y="603504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7" name="text_6"/>
          <p:cNvSpPr txBox="1"/>
          <p:nvPr/>
        </p:nvSpPr>
        <p:spPr>
          <a:xfrm>
            <a:off x="1600200" y="566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implemented, not yet run</a:t>
            </a:r>
            <a:endParaRPr lang="en-US" sz="1000" dirty="0"/>
          </a:p>
        </p:txBody>
      </p:sp>
      <p:sp>
        <p:nvSpPr>
          <p:cNvPr id="8" name="planned_7"/>
          <p:cNvSpPr/>
          <p:nvPr/>
        </p:nvSpPr>
        <p:spPr>
          <a:xfrm>
            <a:off x="3145536" y="60350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9" name="text_8"/>
          <p:cNvSpPr txBox="1"/>
          <p:nvPr/>
        </p:nvSpPr>
        <p:spPr>
          <a:xfrm>
            <a:off x="3310128" y="566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" name="tag_9"/>
          <p:cNvSpPr txBox="1"/>
          <p:nvPr/>
        </p:nvSpPr>
        <p:spPr>
          <a:xfrm>
            <a:off x="3986784" y="585216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1" name="text_10"/>
          <p:cNvSpPr txBox="1"/>
          <p:nvPr/>
        </p:nvSpPr>
        <p:spPr>
          <a:xfrm>
            <a:off x="4215384" y="5669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12" name="tag_11"/>
          <p:cNvSpPr txBox="1"/>
          <p:nvPr/>
        </p:nvSpPr>
        <p:spPr>
          <a:xfrm>
            <a:off x="4855464" y="585216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3" name="text_12"/>
          <p:cNvSpPr txBox="1"/>
          <p:nvPr/>
        </p:nvSpPr>
        <p:spPr>
          <a:xfrm>
            <a:off x="5084064" y="566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000" dirty="0"/>
          </a:p>
        </p:txBody>
      </p:sp>
      <p:sp>
        <p:nvSpPr>
          <p:cNvPr id="14" name="stage_13"/>
          <p:cNvSpPr/>
          <p:nvPr/>
        </p:nvSpPr>
        <p:spPr>
          <a:xfrm>
            <a:off x="548640" y="868680"/>
            <a:ext cx="5029200" cy="1033272"/>
          </a:xfrm>
          <a:prstGeom prst="roundRect">
            <a:avLst>
              <a:gd name="adj" fmla="val 7080"/>
            </a:avLst>
          </a:prstGeom>
          <a:solidFill>
            <a:srgbClr val="ECECEC"/>
          </a:solidFill>
          <a:ln w="15875">
            <a:solidFill>
              <a:srgbClr val="9A9A9A"/>
            </a:solidFill>
            <a:prstDash val="solid"/>
          </a:ln>
        </p:spPr>
      </p:sp>
      <p:sp>
        <p:nvSpPr>
          <p:cNvPr id="15" name="text_14"/>
          <p:cNvSpPr txBox="1"/>
          <p:nvPr/>
        </p:nvSpPr>
        <p:spPr>
          <a:xfrm>
            <a:off x="685800" y="914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300" dirty="0"/>
          </a:p>
        </p:txBody>
      </p:sp>
      <p:sp>
        <p:nvSpPr>
          <p:cNvPr id="16" name="text_15"/>
          <p:cNvSpPr txBox="1"/>
          <p:nvPr/>
        </p:nvSpPr>
        <p:spPr>
          <a:xfrm>
            <a:off x="2834640" y="914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mixed</a:t>
            </a:r>
            <a:endParaRPr lang="en-US" sz="1000" dirty="0"/>
          </a:p>
        </p:txBody>
      </p:sp>
      <p:sp>
        <p:nvSpPr>
          <p:cNvPr id="17" name="text_16"/>
          <p:cNvSpPr txBox="1"/>
          <p:nvPr/>
        </p:nvSpPr>
        <p:spPr>
          <a:xfrm>
            <a:off x="685800" y="1179576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passes (site 1)</a:t>
            </a:r>
            <a:endParaRPr lang="en-US" sz="1000" dirty="0"/>
          </a:p>
        </p:txBody>
      </p:sp>
      <p:sp>
        <p:nvSpPr>
          <p:cNvPr id="18" name="text_17"/>
          <p:cNvSpPr txBox="1"/>
          <p:nvPr/>
        </p:nvSpPr>
        <p:spPr>
          <a:xfrm>
            <a:off x="3118104" y="1179576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passes (another day)</a:t>
            </a:r>
            <a:endParaRPr lang="en-US" sz="1000" dirty="0"/>
          </a:p>
        </p:txBody>
      </p:sp>
      <p:sp>
        <p:nvSpPr>
          <p:cNvPr id="19" name="card_18"/>
          <p:cNvSpPr/>
          <p:nvPr/>
        </p:nvSpPr>
        <p:spPr>
          <a:xfrm>
            <a:off x="685800" y="1362456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20" name="validated_19"/>
          <p:cNvSpPr/>
          <p:nvPr/>
        </p:nvSpPr>
        <p:spPr>
          <a:xfrm>
            <a:off x="758952" y="1426464"/>
            <a:ext cx="118872" cy="118872"/>
          </a:xfrm>
          <a:prstGeom prst="ellipse">
            <a:avLst/>
          </a:prstGeom>
          <a:solidFill>
            <a:srgbClr val="C45A1C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21" name="text_20"/>
          <p:cNvSpPr txBox="1"/>
          <p:nvPr/>
        </p:nvSpPr>
        <p:spPr>
          <a:xfrm>
            <a:off x="941832" y="1362456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map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checked</a:t>
            </a:r>
            <a:endParaRPr lang="en-US" sz="1000" dirty="0"/>
          </a:p>
        </p:txBody>
      </p:sp>
      <p:sp>
        <p:nvSpPr>
          <p:cNvPr id="22" name="card_21"/>
          <p:cNvSpPr/>
          <p:nvPr/>
        </p:nvSpPr>
        <p:spPr>
          <a:xfrm>
            <a:off x="685800" y="1636776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23" name="implemented_22"/>
          <p:cNvSpPr/>
          <p:nvPr/>
        </p:nvSpPr>
        <p:spPr>
          <a:xfrm>
            <a:off x="758952" y="17007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24" name="half_23"/>
          <p:cNvSpPr/>
          <p:nvPr/>
        </p:nvSpPr>
        <p:spPr>
          <a:xfrm>
            <a:off x="758952" y="1700784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25" name="text_24"/>
          <p:cNvSpPr txBox="1"/>
          <p:nvPr/>
        </p:nvSpPr>
        <p:spPr>
          <a:xfrm>
            <a:off x="941832" y="1636776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Robots, sensors, link logs</a:t>
            </a:r>
            <a:endParaRPr lang="en-US" sz="1000" dirty="0"/>
          </a:p>
        </p:txBody>
      </p:sp>
      <p:sp>
        <p:nvSpPr>
          <p:cNvPr id="26" name="card_25"/>
          <p:cNvSpPr/>
          <p:nvPr/>
        </p:nvSpPr>
        <p:spPr>
          <a:xfrm>
            <a:off x="3118104" y="1362456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27" name="planned_26"/>
          <p:cNvSpPr/>
          <p:nvPr/>
        </p:nvSpPr>
        <p:spPr>
          <a:xfrm>
            <a:off x="3191256" y="142646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28" name="text_27"/>
          <p:cNvSpPr txBox="1"/>
          <p:nvPr/>
        </p:nvSpPr>
        <p:spPr>
          <a:xfrm>
            <a:off x="3374136" y="1362456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coop passes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checks only</a:t>
            </a:r>
            <a:endParaRPr lang="en-US" sz="1000" dirty="0"/>
          </a:p>
        </p:txBody>
      </p:sp>
      <p:sp>
        <p:nvSpPr>
          <p:cNvPr id="29" name="card_28"/>
          <p:cNvSpPr/>
          <p:nvPr/>
        </p:nvSpPr>
        <p:spPr>
          <a:xfrm>
            <a:off x="3118104" y="1636776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30" name="planned_29"/>
          <p:cNvSpPr/>
          <p:nvPr/>
        </p:nvSpPr>
        <p:spPr>
          <a:xfrm>
            <a:off x="3191256" y="17007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31" name="text_30"/>
          <p:cNvSpPr txBox="1"/>
          <p:nvPr/>
        </p:nvSpPr>
        <p:spPr>
          <a:xfrm>
            <a:off x="3374136" y="1636776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 held-out frames</a:t>
            </a:r>
            <a:endParaRPr lang="en-US" sz="1000" dirty="0"/>
          </a:p>
        </p:txBody>
      </p:sp>
      <p:sp>
        <p:nvSpPr>
          <p:cNvPr id="32" name="stage_31"/>
          <p:cNvSpPr/>
          <p:nvPr/>
        </p:nvSpPr>
        <p:spPr>
          <a:xfrm>
            <a:off x="548640" y="2039112"/>
            <a:ext cx="5029200" cy="1801368"/>
          </a:xfrm>
          <a:prstGeom prst="roundRect">
            <a:avLst>
              <a:gd name="adj" fmla="val 4061"/>
            </a:avLst>
          </a:prstGeom>
          <a:solidFill>
            <a:srgbClr val="FBF0DC"/>
          </a:solidFill>
          <a:ln w="15875">
            <a:solidFill>
              <a:srgbClr val="E0B46A"/>
            </a:solidFill>
            <a:prstDash val="solid"/>
          </a:ln>
        </p:spPr>
      </p:sp>
      <p:sp>
        <p:nvSpPr>
          <p:cNvPr id="33" name="text_32"/>
          <p:cNvSpPr txBox="1"/>
          <p:nvPr/>
        </p:nvSpPr>
        <p:spPr>
          <a:xfrm>
            <a:off x="685800" y="2084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· Isaac Sim</a:t>
            </a:r>
            <a:endParaRPr lang="en-US" sz="1300" dirty="0"/>
          </a:p>
        </p:txBody>
      </p:sp>
      <p:sp>
        <p:nvSpPr>
          <p:cNvPr id="34" name="text_33"/>
          <p:cNvSpPr txBox="1"/>
          <p:nvPr/>
        </p:nvSpPr>
        <p:spPr>
          <a:xfrm>
            <a:off x="2834640" y="2084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build passes only</a:t>
            </a:r>
            <a:endParaRPr lang="en-US" sz="1000" dirty="0"/>
          </a:p>
        </p:txBody>
      </p:sp>
      <p:sp>
        <p:nvSpPr>
          <p:cNvPr id="35" name="card_34"/>
        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36" name="implemented_35"/>
          <p:cNvSpPr/>
          <p:nvPr/>
        </p:nvSpPr>
        <p:spPr>
          <a:xfrm>
            <a:off x="758952" y="2450592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37" name="half_36"/>
          <p:cNvSpPr/>
          <p:nvPr/>
        </p:nvSpPr>
        <p:spPr>
          <a:xfrm>
            <a:off x="758952" y="2450592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38" name="text_37"/>
          <p:cNvSpPr txBox="1"/>
          <p:nvPr/>
        </p:nvSpPr>
        <p:spPr>
          <a:xfrm>
            <a:off x="941832" y="23865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USD from map</a:t>
            </a:r>
            <a:endParaRPr lang="en-US" sz="1000" dirty="0"/>
          </a:p>
        </p:txBody>
      </p:sp>
      <p:sp>
        <p:nvSpPr>
          <p:cNvPr id="39" name="tag_38"/>
          <p:cNvSpPr txBox="1"/>
          <p:nvPr/>
        </p:nvSpPr>
        <p:spPr>
          <a:xfrm>
            <a:off x="2770632" y="2432304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0" name="card_39"/>
          <p:cNvSpPr/>
          <p:nvPr/>
        </p:nvSpPr>
        <p:spPr>
          <a:xfrm>
            <a:off x="3118104" y="2386584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1" name="implemented_40"/>
          <p:cNvSpPr/>
          <p:nvPr/>
        </p:nvSpPr>
        <p:spPr>
          <a:xfrm>
            <a:off x="3191256" y="2450592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42" name="half_41"/>
          <p:cNvSpPr/>
          <p:nvPr/>
        </p:nvSpPr>
        <p:spPr>
          <a:xfrm>
            <a:off x="3191256" y="2450592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43" name="text_42"/>
          <p:cNvSpPr txBox="1"/>
          <p:nvPr/>
        </p:nvSpPr>
        <p:spPr>
          <a:xfrm>
            <a:off x="3374136" y="23865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models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 mounts</a:t>
            </a:r>
            <a:endParaRPr lang="en-US" sz="1000" dirty="0"/>
          </a:p>
        </p:txBody>
      </p:sp>
      <p:sp>
        <p:nvSpPr>
          <p:cNvPr id="44" name="tag_43"/>
          <p:cNvSpPr txBox="1"/>
          <p:nvPr/>
        </p:nvSpPr>
        <p:spPr>
          <a:xfrm>
            <a:off x="5202936" y="2432304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5" name="card_44"/>
          <p:cNvSpPr/>
          <p:nvPr/>
        </p:nvSpPr>
        <p:spPr>
          <a:xfrm>
            <a:off x="685800" y="2679192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46" name="implemented_45"/>
          <p:cNvSpPr/>
          <p:nvPr/>
        </p:nvSpPr>
        <p:spPr>
          <a:xfrm>
            <a:off x="758952" y="2743200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47" name="half_46"/>
          <p:cNvSpPr/>
          <p:nvPr/>
        </p:nvSpPr>
        <p:spPr>
          <a:xfrm>
            <a:off x="758952" y="2743200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48" name="text_47"/>
          <p:cNvSpPr txBox="1"/>
          <p:nvPr/>
        </p:nvSpPr>
        <p:spPr>
          <a:xfrm>
            <a:off x="941832" y="26791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Paths: recorded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replayed</a:t>
            </a:r>
            <a:endParaRPr lang="en-US" sz="1000" dirty="0"/>
          </a:p>
        </p:txBody>
      </p:sp>
      <p:sp>
        <p:nvSpPr>
          <p:cNvPr id="49" name="tag_48"/>
          <p:cNvSpPr txBox="1"/>
          <p:nvPr/>
        </p:nvSpPr>
        <p:spPr>
          <a:xfrm>
            <a:off x="2770632" y="2724912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0" name="card_49"/>
          <p:cNvSpPr/>
          <p:nvPr/>
        </p:nvSpPr>
        <p:spPr>
          <a:xfrm>
            <a:off x="3118104" y="2679192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51" name="planned_50"/>
          <p:cNvSpPr/>
          <p:nvPr/>
        </p:nvSpPr>
        <p:spPr>
          <a:xfrm>
            <a:off x="3191256" y="2743200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52" name="text_51"/>
          <p:cNvSpPr txBox="1"/>
          <p:nvPr/>
        </p:nvSpPr>
        <p:spPr>
          <a:xfrm>
            <a:off x="3374136" y="26791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Paths: new routes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robot control</a:t>
            </a:r>
            <a:endParaRPr lang="en-US" sz="1000" dirty="0"/>
          </a:p>
        </p:txBody>
      </p:sp>
      <p:sp>
        <p:nvSpPr>
          <p:cNvPr id="53" name="tag_52"/>
          <p:cNvSpPr txBox="1"/>
          <p:nvPr/>
        </p:nvSpPr>
        <p:spPr>
          <a:xfrm>
            <a:off x="5202936" y="2724912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4" name="card_53"/>
          <p:cNvSpPr/>
          <p:nvPr/>
        </p:nvSpPr>
        <p:spPr>
          <a:xfrm>
            <a:off x="685800" y="2971800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55" name="implemented_54"/>
          <p:cNvSpPr/>
          <p:nvPr/>
        </p:nvSpPr>
        <p:spPr>
          <a:xfrm>
            <a:off x="758952" y="3035808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56" name="half_55"/>
          <p:cNvSpPr/>
          <p:nvPr/>
        </p:nvSpPr>
        <p:spPr>
          <a:xfrm>
            <a:off x="758952" y="3035808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57" name="text_56"/>
          <p:cNvSpPr txBox="1"/>
          <p:nvPr/>
        </p:nvSpPr>
        <p:spPr>
          <a:xfrm>
            <a:off x="941832" y="2971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logged, fitted</a:t>
            </a:r>
            <a:endParaRPr lang="en-US" sz="1000" dirty="0"/>
          </a:p>
        </p:txBody>
      </p:sp>
      <p:sp>
        <p:nvSpPr>
          <p:cNvPr id="58" name="tag_57"/>
          <p:cNvSpPr txBox="1"/>
          <p:nvPr/>
        </p:nvSpPr>
        <p:spPr>
          <a:xfrm>
            <a:off x="2770632" y="3017520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9" name="card_58"/>
          <p:cNvSpPr/>
          <p:nvPr/>
        </p:nvSpPr>
        <p:spPr>
          <a:xfrm>
            <a:off x="3118104" y="2971800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60" name="planned_59"/>
          <p:cNvSpPr/>
          <p:nvPr/>
        </p:nvSpPr>
        <p:spPr>
          <a:xfrm>
            <a:off x="3191256" y="3035808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61" name="text_60"/>
          <p:cNvSpPr txBox="1"/>
          <p:nvPr/>
        </p:nvSpPr>
        <p:spPr>
          <a:xfrm>
            <a:off x="3374136" y="2971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by place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survey cells</a:t>
            </a:r>
            <a:endParaRPr lang="en-US" sz="1000" dirty="0"/>
          </a:p>
        </p:txBody>
      </p:sp>
      <p:sp>
        <p:nvSpPr>
          <p:cNvPr id="62" name="tag_61"/>
          <p:cNvSpPr txBox="1"/>
          <p:nvPr/>
        </p:nvSpPr>
        <p:spPr>
          <a:xfrm>
            <a:off x="5202936" y="3017520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63" name="card_62"/>
          <p:cNvSpPr/>
          <p:nvPr/>
        </p:nvSpPr>
        <p:spPr>
          <a:xfrm>
            <a:off x="685800" y="3264408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64" name="planned_63"/>
          <p:cNvSpPr/>
          <p:nvPr/>
        </p:nvSpPr>
        <p:spPr>
          <a:xfrm>
            <a:off x="758952" y="3328416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65" name="text_64"/>
          <p:cNvSpPr txBox="1"/>
          <p:nvPr/>
        </p:nvSpPr>
        <p:spPr>
          <a:xfrm>
            <a:off x="941832" y="32644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Dropouts, pose error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fitted</a:t>
            </a:r>
            <a:endParaRPr lang="en-US" sz="1000" dirty="0"/>
          </a:p>
        </p:txBody>
      </p:sp>
      <p:sp>
        <p:nvSpPr>
          <p:cNvPr id="66" name="tag_65"/>
          <p:cNvSpPr txBox="1"/>
          <p:nvPr/>
        </p:nvSpPr>
        <p:spPr>
          <a:xfrm>
            <a:off x="2770632" y="3310128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3B3B3B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67" name="card_66"/>
          <p:cNvSpPr/>
          <p:nvPr/>
        </p:nvSpPr>
        <p:spPr>
          <a:xfrm>
            <a:off x="3118104" y="3264408"/>
            <a:ext cx="232257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68" name="implemented_67"/>
          <p:cNvSpPr/>
          <p:nvPr/>
        </p:nvSpPr>
        <p:spPr>
          <a:xfrm>
            <a:off x="3191256" y="3328416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69" name="half_68"/>
          <p:cNvSpPr/>
          <p:nvPr/>
        </p:nvSpPr>
        <p:spPr>
          <a:xfrm>
            <a:off x="3191256" y="3328416"/>
            <a:ext cx="118872" cy="118872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C45A1C"/>
          </a:solidFill>
          <a:ln w="6350">
            <a:solidFill>
              <a:srgbClr val="C45A1C"/>
            </a:solidFill>
            <a:prstDash val="solid"/>
          </a:ln>
        </p:spPr>
      </p:sp>
      <p:sp>
        <p:nvSpPr>
          <p:cNvPr id="70" name="text_69"/>
          <p:cNvSpPr txBox="1"/>
          <p:nvPr/>
        </p:nvSpPr>
        <p:spPr>
          <a:xfrm>
            <a:off x="3374136" y="32644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objects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boxes now</a:t>
            </a:r>
            <a:endParaRPr lang="en-US" sz="1000" dirty="0"/>
          </a:p>
        </p:txBody>
      </p:sp>
      <p:sp>
        <p:nvSpPr>
          <p:cNvPr id="71" name="tag_70"/>
          <p:cNvSpPr txBox="1"/>
          <p:nvPr/>
        </p:nvSpPr>
        <p:spPr>
          <a:xfrm>
            <a:off x="5202936" y="3310128"/>
            <a:ext cx="18288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3B3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72" name="scenario_71"/>
          <p:cNvSpPr/>
          <p:nvPr/>
        </p:nvSpPr>
        <p:spPr>
          <a:xfrm>
            <a:off x="685800" y="3575304"/>
            <a:ext cx="475488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D8C39A"/>
            </a:solidFill>
            <a:prstDash val="solid"/>
          </a:ln>
        </p:spPr>
      </p:sp>
      <p:sp>
        <p:nvSpPr>
          <p:cNvPr id="73" name="text_72"/>
          <p:cNvSpPr txBox="1"/>
          <p:nvPr/>
        </p:nvSpPr>
        <p:spPr>
          <a:xfrm>
            <a:off x="777240" y="3575304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× N  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setting per part: link, dropouts, pose, people</a:t>
            </a:r>
            <a:endParaRPr lang="en-US" sz="1000" dirty="0"/>
          </a:p>
        </p:txBody>
      </p:sp>
      <p:sp>
        <p:nvSpPr>
          <p:cNvPr id="74" name="stage_73"/>
          <p:cNvSpPr/>
          <p:nvPr/>
        </p:nvSpPr>
        <p:spPr>
          <a:xfrm>
            <a:off x="548640" y="397764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FE6F6"/>
          </a:solidFill>
          <a:ln w="15875">
            <a:solidFill>
              <a:srgbClr val="A582C4"/>
            </a:solidFill>
            <a:prstDash val="solid"/>
          </a:ln>
        </p:spPr>
      </p:sp>
      <p:sp>
        <p:nvSpPr>
          <p:cNvPr id="75" name="text_74"/>
          <p:cNvSpPr txBox="1"/>
          <p:nvPr/>
        </p:nvSpPr>
        <p:spPr>
          <a:xfrm>
            <a:off x="685800" y="40325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Check the twin</a:t>
            </a:r>
            <a:endParaRPr lang="en-US" sz="1300" dirty="0"/>
          </a:p>
        </p:txBody>
      </p:sp>
      <p:sp>
        <p:nvSpPr>
          <p:cNvPr id="76" name="text_75"/>
          <p:cNvSpPr txBox="1"/>
          <p:nvPr/>
        </p:nvSpPr>
        <p:spPr>
          <a:xfrm>
            <a:off x="68580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on what passes</a:t>
            </a:r>
            <a:endParaRPr lang="en-US" sz="1000" dirty="0"/>
          </a:p>
        </p:txBody>
      </p:sp>
      <p:sp>
        <p:nvSpPr>
          <p:cNvPr id="77" name="card_76"/>
          <p:cNvSpPr/>
          <p:nvPr/>
        </p:nvSpPr>
        <p:spPr>
          <a:xfrm>
            <a:off x="2331720" y="4105656"/>
            <a:ext cx="9966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78" name="planned_77"/>
          <p:cNvSpPr/>
          <p:nvPr/>
        </p:nvSpPr>
        <p:spPr>
          <a:xfrm>
            <a:off x="2404872" y="416966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79" name="text_78"/>
          <p:cNvSpPr txBox="1"/>
          <p:nvPr/>
        </p:nvSpPr>
        <p:spPr>
          <a:xfrm>
            <a:off x="2587752" y="4105656"/>
            <a:ext cx="722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≤ 3 cm</a:t>
            </a:r>
            <a:endParaRPr lang="en-US" sz="1000" dirty="0"/>
          </a:p>
        </p:txBody>
      </p:sp>
      <p:sp>
        <p:nvSpPr>
          <p:cNvPr id="80" name="card_79"/>
          <p:cNvSpPr/>
          <p:nvPr/>
        </p:nvSpPr>
        <p:spPr>
          <a:xfrm>
            <a:off x="3401568" y="4105656"/>
            <a:ext cx="9966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81" name="planned_80"/>
          <p:cNvSpPr/>
          <p:nvPr/>
        </p:nvSpPr>
        <p:spPr>
          <a:xfrm>
            <a:off x="3474720" y="416966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82" name="text_81"/>
          <p:cNvSpPr txBox="1"/>
          <p:nvPr/>
        </p:nvSpPr>
        <p:spPr>
          <a:xfrm>
            <a:off x="3657600" y="4105656"/>
            <a:ext cx="722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fit</a:t>
            </a:r>
            <a:endParaRPr lang="en-US" sz="1000" dirty="0"/>
          </a:p>
        </p:txBody>
      </p:sp>
      <p:sp>
        <p:nvSpPr>
          <p:cNvPr id="83" name="card_82"/>
          <p:cNvSpPr/>
          <p:nvPr/>
        </p:nvSpPr>
        <p:spPr>
          <a:xfrm>
            <a:off x="4471416" y="4105656"/>
            <a:ext cx="9966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84" name="planned_83"/>
          <p:cNvSpPr/>
          <p:nvPr/>
        </p:nvSpPr>
        <p:spPr>
          <a:xfrm>
            <a:off x="4544568" y="416966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85" name="text_84"/>
          <p:cNvSpPr txBox="1"/>
          <p:nvPr/>
        </p:nvSpPr>
        <p:spPr>
          <a:xfrm>
            <a:off x="4727448" y="4105656"/>
            <a:ext cx="722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±10 pt</a:t>
            </a:r>
            <a:endParaRPr lang="en-US" sz="1000" dirty="0"/>
          </a:p>
        </p:txBody>
      </p:sp>
      <p:sp>
        <p:nvSpPr>
          <p:cNvPr id="86" name="stage_85"/>
          <p:cNvSpPr/>
          <p:nvPr/>
        </p:nvSpPr>
        <p:spPr>
          <a:xfrm>
            <a:off x="548640" y="461772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3ECF8"/>
          </a:solidFill>
          <a:ln w="15875">
            <a:solidFill>
              <a:srgbClr val="7D9CCC"/>
            </a:solidFill>
            <a:prstDash val="solid"/>
          </a:ln>
        </p:spPr>
      </p:sp>
      <p:sp>
        <p:nvSpPr>
          <p:cNvPr id="87" name="text_86"/>
          <p:cNvSpPr txBox="1"/>
          <p:nvPr/>
        </p:nvSpPr>
        <p:spPr>
          <a:xfrm>
            <a:off x="685800" y="4672584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Train in the twin</a:t>
            </a:r>
            <a:endParaRPr lang="en-US" sz="1300" dirty="0"/>
          </a:p>
        </p:txBody>
      </p:sp>
      <p:sp>
        <p:nvSpPr>
          <p:cNvPr id="88" name="card_87"/>
          <p:cNvSpPr/>
          <p:nvPr/>
        </p:nvSpPr>
        <p:spPr>
          <a:xfrm>
            <a:off x="2331720" y="4745736"/>
            <a:ext cx="153162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89" name="planned_88"/>
          <p:cNvSpPr/>
          <p:nvPr/>
        </p:nvSpPr>
        <p:spPr>
          <a:xfrm>
            <a:off x="2404872" y="480974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90" name="text_89"/>
          <p:cNvSpPr txBox="1"/>
          <p:nvPr/>
        </p:nvSpPr>
        <p:spPr>
          <a:xfrm>
            <a:off x="2587752" y="4745736"/>
            <a:ext cx="1257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+ comms</a:t>
            </a:r>
            <a:endParaRPr lang="en-US" sz="1000" dirty="0"/>
          </a:p>
        </p:txBody>
      </p:sp>
      <p:sp>
        <p:nvSpPr>
          <p:cNvPr id="91" name="card_90"/>
          <p:cNvSpPr/>
          <p:nvPr/>
        </p:nvSpPr>
        <p:spPr>
          <a:xfrm>
            <a:off x="3936492" y="4745736"/>
            <a:ext cx="153162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92" name="planned_91"/>
          <p:cNvSpPr/>
          <p:nvPr/>
        </p:nvSpPr>
        <p:spPr>
          <a:xfrm>
            <a:off x="4009644" y="480974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93" name="text_92"/>
          <p:cNvSpPr txBox="1"/>
          <p:nvPr/>
        </p:nvSpPr>
        <p:spPr>
          <a:xfrm>
            <a:off x="4192524" y="4745736"/>
            <a:ext cx="1257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policies</a:t>
            </a:r>
            <a:endParaRPr lang="en-US" sz="1000" dirty="0"/>
          </a:p>
        </p:txBody>
      </p:sp>
      <p:sp>
        <p:nvSpPr>
          <p:cNvPr id="94" name="stage_93"/>
          <p:cNvSpPr/>
          <p:nvPr/>
        </p:nvSpPr>
        <p:spPr>
          <a:xfrm>
            <a:off x="548640" y="525780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4F3E4"/>
          </a:solidFill>
          <a:ln w="15875">
            <a:solidFill>
              <a:srgbClr val="7CB37C"/>
            </a:solidFill>
            <a:prstDash val="solid"/>
          </a:ln>
        </p:spPr>
      </p:sp>
      <p:sp>
        <p:nvSpPr>
          <p:cNvPr id="95" name="text_94"/>
          <p:cNvSpPr txBox="1"/>
          <p:nvPr/>
        </p:nvSpPr>
        <p:spPr>
          <a:xfrm>
            <a:off x="685800" y="531266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 on held-out</a:t>
            </a:r>
            <a:endParaRPr lang="en-US" sz="1300" dirty="0"/>
          </a:p>
        </p:txBody>
      </p:sp>
      <p:sp>
        <p:nvSpPr>
          <p:cNvPr id="96" name="text_95"/>
          <p:cNvSpPr txBox="1"/>
          <p:nvPr/>
        </p:nvSpPr>
        <p:spPr>
          <a:xfrm>
            <a:off x="685800" y="5532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</a:t>
            </a:r>
            <a:endParaRPr lang="en-US" sz="1000" dirty="0"/>
          </a:p>
        </p:txBody>
      </p:sp>
      <p:sp>
        <p:nvSpPr>
          <p:cNvPr id="97" name="card_96"/>
          <p:cNvSpPr/>
          <p:nvPr/>
        </p:nvSpPr>
        <p:spPr>
          <a:xfrm>
            <a:off x="2331720" y="5385816"/>
            <a:ext cx="313639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98" name="planned_97"/>
          <p:cNvSpPr/>
          <p:nvPr/>
        </p:nvSpPr>
        <p:spPr>
          <a:xfrm>
            <a:off x="2404872" y="544982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99" name="text_98"/>
          <p:cNvSpPr txBox="1"/>
          <p:nvPr/>
        </p:nvSpPr>
        <p:spPr>
          <a:xfrm>
            <a:off x="2587752" y="5385816"/>
            <a:ext cx="2862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+ comms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real frames</a:t>
            </a:r>
            <a:endParaRPr lang="en-US" sz="1000" dirty="0"/>
          </a:p>
        </p:txBody>
      </p:sp>
      <p:sp>
        <p:nvSpPr>
          <p:cNvPr id="100" name="stage_99"/>
          <p:cNvSpPr/>
          <p:nvPr/>
        </p:nvSpPr>
        <p:spPr>
          <a:xfrm>
            <a:off x="548640" y="589788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DFF1F1"/>
          </a:solidFill>
          <a:ln w="15875">
            <a:solidFill>
              <a:srgbClr val="62A9A9"/>
            </a:solidFill>
            <a:prstDash val="solid"/>
          </a:ln>
        </p:spPr>
      </p:sp>
      <p:sp>
        <p:nvSpPr>
          <p:cNvPr id="101" name="text_100"/>
          <p:cNvSpPr txBox="1"/>
          <p:nvPr/>
        </p:nvSpPr>
        <p:spPr>
          <a:xfrm>
            <a:off x="685800" y="5952744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Deploy on testbed</a:t>
            </a:r>
            <a:endParaRPr lang="en-US" sz="1300" dirty="0"/>
          </a:p>
        </p:txBody>
      </p:sp>
      <p:sp>
        <p:nvSpPr>
          <p:cNvPr id="102" name="card_101"/>
          <p:cNvSpPr/>
          <p:nvPr/>
        </p:nvSpPr>
        <p:spPr>
          <a:xfrm>
            <a:off x="2331720" y="6025896"/>
            <a:ext cx="313639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103" name="planned_102"/>
          <p:cNvSpPr/>
          <p:nvPr/>
        </p:nvSpPr>
        <p:spPr>
          <a:xfrm>
            <a:off x="2404872" y="608990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45A1C"/>
            </a:solidFill>
            <a:prstDash val="solid"/>
          </a:ln>
        </p:spPr>
      </p:sp>
      <p:sp>
        <p:nvSpPr>
          <p:cNvPr id="104" name="text_103"/>
          <p:cNvSpPr txBox="1"/>
          <p:nvPr/>
        </p:nvSpPr>
        <p:spPr>
          <a:xfrm>
            <a:off x="2587752" y="6025896"/>
            <a:ext cx="2862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policies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vs. twin prediction</a:t>
            </a:r>
            <a:endParaRPr lang="en-US" sz="1000" dirty="0"/>
          </a:p>
        </p:txBody>
      </p:sp>
      <p:sp>
        <p:nvSpPr>
          <p:cNvPr id="105" name="arrow_104"/>
          <p:cNvSpPr/>
          <p:nvPr/>
        </p:nvSpPr>
        <p:spPr>
          <a:xfrm>
            <a:off x="3063240" y="1911096"/>
            <a:ext cx="0" cy="11887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6" name="arrow_105"/>
          <p:cNvSpPr/>
          <p:nvPr/>
        </p:nvSpPr>
        <p:spPr>
          <a:xfrm>
            <a:off x="3063240" y="3849624"/>
            <a:ext cx="0" cy="11887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7" name="arrow_106"/>
          <p:cNvSpPr/>
          <p:nvPr/>
        </p:nvSpPr>
        <p:spPr>
          <a:xfrm>
            <a:off x="3063240" y="4489704"/>
            <a:ext cx="0" cy="11887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8" name="arrow_107"/>
          <p:cNvSpPr/>
          <p:nvPr/>
        </p:nvSpPr>
        <p:spPr>
          <a:xfrm>
            <a:off x="3063240" y="5129784"/>
            <a:ext cx="0" cy="11887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9" name="arrow_108"/>
          <p:cNvSpPr/>
          <p:nvPr/>
        </p:nvSpPr>
        <p:spPr>
          <a:xfrm>
            <a:off x="3063240" y="5769864"/>
            <a:ext cx="0" cy="11887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10" name="held_109"/>
          <p:cNvSpPr/>
          <p:nvPr/>
        </p:nvSpPr>
        <p:spPr>
          <a:xfrm>
            <a:off x="5577840" y="1490472"/>
            <a:ext cx="164592" cy="0"/>
          </a:xfrm>
          <a:prstGeom prst="line">
            <a:avLst/>
          </a:prstGeom>
          <a:noFill/>
          <a:ln w="15875">
            <a:solidFill>
              <a:srgbClr val="777777"/>
            </a:solidFill>
            <a:prstDash val="dash"/>
          </a:ln>
        </p:spPr>
      </p:sp>
      <p:sp>
        <p:nvSpPr>
          <p:cNvPr id="111" name="held_110"/>
          <p:cNvSpPr/>
          <p:nvPr/>
        </p:nvSpPr>
        <p:spPr>
          <a:xfrm>
            <a:off x="5742432" y="1490472"/>
            <a:ext cx="0" cy="4018788"/>
          </a:xfrm>
          <a:prstGeom prst="line">
            <a:avLst/>
          </a:prstGeom>
          <a:noFill/>
          <a:ln w="15875">
            <a:solidFill>
              <a:srgbClr val="777777"/>
            </a:solidFill>
            <a:prstDash val="dash"/>
          </a:ln>
        </p:spPr>
      </p:sp>
      <p:sp>
        <p:nvSpPr>
          <p:cNvPr id="112" name="held_111"/>
          <p:cNvSpPr/>
          <p:nvPr/>
        </p:nvSpPr>
        <p:spPr>
          <a:xfrm flipH="1">
            <a:off x="5586984" y="4229100"/>
            <a:ext cx="155448" cy="0"/>
          </a:xfrm>
          <a:prstGeom prst="line">
            <a:avLst/>
          </a:prstGeom>
          <a:noFill/>
          <a:ln w="15875">
            <a:solidFill>
              <a:srgbClr val="777777"/>
            </a:solidFill>
            <a:prstDash val="dash"/>
            <a:tailEnd type="triangle"/>
          </a:ln>
        </p:spPr>
      </p:sp>
      <p:sp>
        <p:nvSpPr>
          <p:cNvPr id="113" name="held_112"/>
          <p:cNvSpPr/>
          <p:nvPr/>
        </p:nvSpPr>
        <p:spPr>
          <a:xfrm flipH="1">
            <a:off x="5586984" y="5509260"/>
            <a:ext cx="155448" cy="0"/>
          </a:xfrm>
          <a:prstGeom prst="line">
            <a:avLst/>
          </a:prstGeom>
          <a:noFill/>
          <a:ln w="15875">
            <a:solidFill>
              <a:srgbClr val="777777"/>
            </a:solidFill>
            <a:prstDash val="dash"/>
            <a:tailEnd type="triangle"/>
          </a:ln>
        </p:spPr>
      </p:sp>
      <p:sp>
        <p:nvSpPr>
          <p:cNvPr id="114" name="text_113"/>
          <p:cNvSpPr txBox="1"/>
          <p:nvPr/>
        </p:nvSpPr>
        <p:spPr>
          <a:xfrm rot="5400000">
            <a:off x="5120640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passes</a:t>
            </a:r>
            <a:endParaRPr lang="en-US" sz="1000" dirty="0"/>
          </a:p>
        </p:txBody>
      </p:sp>
      <p:sp>
        <p:nvSpPr>
          <p:cNvPr id="115" name="fb_114"/>
          <p:cNvSpPr/>
          <p:nvPr/>
        </p:nvSpPr>
        <p:spPr>
          <a:xfrm>
            <a:off x="365760" y="6149340"/>
            <a:ext cx="182880" cy="0"/>
          </a:xfrm>
          <a:prstGeom prst="line">
            <a:avLst/>
          </a:prstGeom>
          <a:noFill/>
          <a:ln w="15875">
            <a:solidFill>
              <a:srgbClr val="C45A1C"/>
            </a:solidFill>
            <a:prstDash val="solid"/>
          </a:ln>
        </p:spPr>
      </p:sp>
      <p:sp>
        <p:nvSpPr>
          <p:cNvPr id="116" name="fb_115"/>
          <p:cNvSpPr/>
          <p:nvPr/>
        </p:nvSpPr>
        <p:spPr>
          <a:xfrm>
            <a:off x="365760" y="1234440"/>
            <a:ext cx="0" cy="4914900"/>
          </a:xfrm>
          <a:prstGeom prst="line">
            <a:avLst/>
          </a:prstGeom>
          <a:noFill/>
          <a:ln w="15875">
            <a:solidFill>
              <a:srgbClr val="C45A1C"/>
            </a:solidFill>
            <a:prstDash val="solid"/>
          </a:ln>
        </p:spPr>
      </p:sp>
      <p:sp>
        <p:nvSpPr>
          <p:cNvPr id="117" name="fb_116"/>
          <p:cNvSpPr/>
          <p:nvPr/>
        </p:nvSpPr>
        <p:spPr>
          <a:xfrm>
            <a:off x="365760" y="1234440"/>
            <a:ext cx="173736" cy="0"/>
          </a:xfrm>
          <a:prstGeom prst="line">
            <a:avLst/>
          </a:prstGeom>
          <a:noFill/>
          <a:ln w="15875">
            <a:solidFill>
              <a:srgbClr val="C45A1C"/>
            </a:solidFill>
            <a:prstDash val="solid"/>
            <a:tailEnd type="triangle"/>
          </a:ln>
        </p:spPr>
      </p:sp>
      <p:sp>
        <p:nvSpPr>
          <p:cNvPr id="118" name="text_117"/>
          <p:cNvSpPr txBox="1"/>
          <p:nvPr/>
        </p:nvSpPr>
        <p:spPr>
          <a:xfrm rot="16200000">
            <a:off x="-685800" y="3657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recordings refit the twin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oP-iT">
  <a:themeElements>
    <a:clrScheme name="SCooP-iT">
      <a:dk1>
        <a:srgbClr val="222222"/>
      </a:dk1>
      <a:lt1>
        <a:srgbClr val="FFFFFF"/>
      </a:lt1>
      <a:dk2>
        <a:srgbClr val="3B3B3B"/>
      </a:dk2>
      <a:lt2>
        <a:srgbClr val="F2F2F2"/>
      </a:lt2>
      <a:accent1>
        <a:srgbClr val="C45A1C"/>
      </a:accent1>
      <a:accent2>
        <a:srgbClr val="E0B46A"/>
      </a:accent2>
      <a:accent3>
        <a:srgbClr val="A582C4"/>
      </a:accent3>
      <a:accent4>
        <a:srgbClr val="7D9CCC"/>
      </a:accent4>
      <a:accent5>
        <a:srgbClr val="7CB37C"/>
      </a:accent5>
      <a:accent6>
        <a:srgbClr val="62A9A9"/>
      </a:accent6>
      <a:hlink>
        <a:srgbClr val="C45A1C"/>
      </a:hlink>
      <a:folHlink>
        <a:srgbClr val="A582C4"/>
      </a:folHlink>
    </a:clrScheme>
    <a:fontScheme name="SCooP-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SCooP-iT Gym: plan from real data to a validated twin</dc:title>
  <dc:subject>PptxGenJS Presentation</dc:subject>
  <dc:creator>PptxGenJS</dc:creator>
  <cp:lastModifiedBy>PptxGenJS</cp:lastModifiedBy>
  <cp:revision>1</cp:revision>
  <dcterms:created xsi:type="dcterms:W3CDTF">2026-10-26T14:46:15Z</dcterms:created>
  <dcterms:modified xsi:type="dcterms:W3CDTF">2026-10-26T14:46:15Z</dcterms:modified>
</cp:coreProperties>
</file>