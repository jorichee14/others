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960096"/>
          </a:xfrm>
          <a:prstGeom prst="rect">
            <a:avLst/>
          </a:prstGeom>
          <a:solidFill>
            <a:srgbClr val="0592D6"/>
          </a:solidFill>
          <a:ln/>
        </p:spPr>
      </p:sp>
      <p:sp>
        <p:nvSpPr>
          <p:cNvPr id="3" name="shape 3"/>
          <p:cNvSpPr/>
          <p:nvPr/>
        </p:nvSpPr>
        <p:spPr>
          <a:xfrm>
            <a:off x="0" y="960096"/>
            <a:ext cx="12191695" cy="106677"/>
          </a:xfrm>
          <a:prstGeom prst="rect">
            <a:avLst/>
          </a:prstGeom>
          <a:solidFill>
            <a:srgbClr val="5CC6EC"/>
          </a:solidFill>
          <a:ln/>
        </p:spPr>
      </p:sp>
      <p:sp>
        <p:nvSpPr>
          <p:cNvPr id="4" name="shape 4"/>
          <p:cNvSpPr/>
          <p:nvPr/>
        </p:nvSpPr>
        <p:spPr>
          <a:xfrm>
            <a:off x="0" y="1066773"/>
            <a:ext cx="12191695" cy="106677"/>
          </a:xfrm>
          <a:prstGeom prst="rect">
            <a:avLst/>
          </a:prstGeom>
          <a:solidFill>
            <a:srgbClr val="D3F0FB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1029741" y="259074"/>
            <a:ext cx="10132213" cy="55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Twin Architecture and Data Flow</a:t>
            </a:r>
            <a:endParaRPr lang="en-US" sz="3240" dirty="0"/>
          </a:p>
        </p:txBody>
      </p:sp>
      <p:sp>
        <p:nvSpPr>
          <p:cNvPr id="6" name="text 6"/>
          <p:cNvSpPr txBox="1"/>
          <p:nvPr/>
        </p:nvSpPr>
        <p:spPr>
          <a:xfrm>
            <a:off x="380990" y="1287748"/>
            <a:ext cx="4434729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 (each of 2)  ·  Jetson Orin NX 16 GB  ·  ROS 2 Humble</a:t>
            </a:r>
            <a:endParaRPr lang="en-US" sz="900" dirty="0"/>
          </a:p>
        </p:txBody>
      </p:sp>
      <p:sp>
        <p:nvSpPr>
          <p:cNvPr id="7" name="text 7"/>
          <p:cNvSpPr txBox="1"/>
          <p:nvPr/>
        </p:nvSpPr>
        <p:spPr>
          <a:xfrm>
            <a:off x="4876678" y="1287748"/>
            <a:ext cx="4930779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 ·  workstation with RTX GPU  ·  ROS 2, Isaac Sim, Sionna RT</a:t>
            </a:r>
            <a:endParaRPr lang="en-US" sz="900" dirty="0"/>
          </a:p>
        </p:txBody>
      </p:sp>
      <p:sp>
        <p:nvSpPr>
          <p:cNvPr id="8" name="arrow 8.0"/>
          <p:cNvSpPr/>
          <p:nvPr/>
        </p:nvSpPr>
        <p:spPr>
          <a:xfrm>
            <a:off x="4724282" y="1280128"/>
            <a:ext cx="0" cy="5364346"/>
          </a:xfrm>
          <a:prstGeom prst="line">
            <a:avLst/>
          </a:prstGeom>
          <a:noFill/>
          <a:ln w="19050">
            <a:solidFill>
              <a:srgbClr val="E23B3B"/>
            </a:solidFill>
            <a:prstDash val="dash"/>
          </a:ln>
        </p:spPr>
      </p:sp>
      <p:sp>
        <p:nvSpPr>
          <p:cNvPr id="9" name="text 9"/>
          <p:cNvSpPr txBox="1"/>
          <p:nvPr/>
        </p:nvSpPr>
        <p:spPr>
          <a:xfrm>
            <a:off x="4417889" y="6674953"/>
            <a:ext cx="612785" cy="13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780" dirty="0"/>
          </a:p>
        </p:txBody>
      </p:sp>
      <p:sp>
        <p:nvSpPr>
          <p:cNvPr id="10" name="shape 10"/>
          <p:cNvSpPr/>
          <p:nvPr/>
        </p:nvSpPr>
        <p:spPr>
          <a:xfrm>
            <a:off x="426709" y="1539202"/>
            <a:ext cx="4190895" cy="868658"/>
          </a:xfrm>
          <a:prstGeom prst="roundRect">
            <a:avLst>
              <a:gd name="adj" fmla="val 6140"/>
            </a:avLst>
          </a:prstGeom>
          <a:solidFill>
            <a:srgbClr val="E9EBEF">
              <a:alpha val="60000"/>
            </a:srgbClr>
          </a:solidFill>
          <a:ln w="9144">
            <a:solidFill>
              <a:srgbClr val="B9BEC7">
                <a:alpha val="60000"/>
              </a:srgbClr>
            </a:solidFill>
            <a:prstDash val="solid"/>
          </a:ln>
        </p:spPr>
      </p:sp>
      <p:sp>
        <p:nvSpPr>
          <p:cNvPr id="11" name="shape 11"/>
          <p:cNvSpPr/>
          <p:nvPr/>
        </p:nvSpPr>
        <p:spPr>
          <a:xfrm>
            <a:off x="380990" y="1493483"/>
            <a:ext cx="4190895" cy="868658"/>
          </a:xfrm>
          <a:prstGeom prst="roundRect">
            <a:avLst>
              <a:gd name="adj" fmla="val 6140"/>
            </a:avLst>
          </a:prstGeom>
          <a:solidFill>
            <a:srgbClr val="E9EBEF"/>
          </a:solidFill>
          <a:ln w="10668">
            <a:solidFill>
              <a:srgbClr val="B9BEC7"/>
            </a:solidFill>
            <a:prstDash val="solid"/>
          </a:ln>
        </p:spPr>
      </p:sp>
      <p:sp>
        <p:nvSpPr>
          <p:cNvPr id="12" name="text 12"/>
          <p:cNvSpPr txBox="1"/>
          <p:nvPr/>
        </p:nvSpPr>
        <p:spPr>
          <a:xfrm>
            <a:off x="502907" y="1554441"/>
            <a:ext cx="1458432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+ robot</a:t>
            </a:r>
            <a:endParaRPr lang="en-US" sz="1080" dirty="0"/>
          </a:p>
        </p:txBody>
      </p:sp>
      <p:sp>
        <p:nvSpPr>
          <p:cNvPr id="13" name="shape 13"/>
          <p:cNvSpPr/>
          <p:nvPr/>
        </p:nvSpPr>
        <p:spPr>
          <a:xfrm>
            <a:off x="533387" y="1767796"/>
            <a:ext cx="1219170" cy="2133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144">
            <a:solidFill>
              <a:srgbClr val="B9BEC7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390134" y="1805895"/>
            <a:ext cx="1505674" cy="1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Ouster LiDAR · 10 Hz</a:t>
            </a:r>
            <a:endParaRPr lang="en-US" sz="840" dirty="0"/>
          </a:p>
        </p:txBody>
      </p:sp>
      <p:sp>
        <p:nvSpPr>
          <p:cNvPr id="15" name="shape 15"/>
          <p:cNvSpPr/>
          <p:nvPr/>
        </p:nvSpPr>
        <p:spPr>
          <a:xfrm>
            <a:off x="1866853" y="1767796"/>
            <a:ext cx="1219170" cy="2133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144">
            <a:solidFill>
              <a:srgbClr val="B9BEC7"/>
            </a:solidFill>
            <a:prstDash val="solid"/>
          </a:ln>
        </p:spPr>
      </p:sp>
      <p:sp>
        <p:nvSpPr>
          <p:cNvPr id="16" name="text 16"/>
          <p:cNvSpPr txBox="1"/>
          <p:nvPr/>
        </p:nvSpPr>
        <p:spPr>
          <a:xfrm>
            <a:off x="1988161" y="1805895"/>
            <a:ext cx="976555" cy="1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· 100 Hz</a:t>
            </a:r>
            <a:endParaRPr lang="en-US" sz="840" dirty="0"/>
          </a:p>
        </p:txBody>
      </p:sp>
      <p:sp>
        <p:nvSpPr>
          <p:cNvPr id="17" name="shape 17"/>
          <p:cNvSpPr/>
          <p:nvPr/>
        </p:nvSpPr>
        <p:spPr>
          <a:xfrm>
            <a:off x="3200320" y="1767796"/>
            <a:ext cx="1219170" cy="2133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144">
            <a:solidFill>
              <a:srgbClr val="B9BEC7"/>
            </a:solidFill>
            <a:prstDash val="solid"/>
          </a:ln>
        </p:spPr>
      </p:sp>
      <p:sp>
        <p:nvSpPr>
          <p:cNvPr id="18" name="text 18"/>
          <p:cNvSpPr txBox="1"/>
          <p:nvPr/>
        </p:nvSpPr>
        <p:spPr>
          <a:xfrm>
            <a:off x="3387767" y="1805895"/>
            <a:ext cx="844275" cy="1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base</a:t>
            </a:r>
            <a:endParaRPr lang="en-US" sz="840" dirty="0"/>
          </a:p>
        </p:txBody>
      </p:sp>
      <p:sp>
        <p:nvSpPr>
          <p:cNvPr id="19" name="shape 19"/>
          <p:cNvSpPr/>
          <p:nvPr/>
        </p:nvSpPr>
        <p:spPr>
          <a:xfrm>
            <a:off x="533387" y="2057349"/>
            <a:ext cx="1219170" cy="2133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144">
            <a:solidFill>
              <a:srgbClr val="B9BEC7"/>
            </a:solidFill>
            <a:prstDash val="solid"/>
          </a:ln>
        </p:spPr>
      </p:sp>
      <p:sp>
        <p:nvSpPr>
          <p:cNvPr id="20" name="text 20"/>
          <p:cNvSpPr txBox="1"/>
          <p:nvPr/>
        </p:nvSpPr>
        <p:spPr>
          <a:xfrm>
            <a:off x="654694" y="2095448"/>
            <a:ext cx="976555" cy="1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RGB-D camera</a:t>
            </a:r>
            <a:endParaRPr lang="en-US" sz="840" dirty="0"/>
          </a:p>
        </p:txBody>
      </p:sp>
      <p:sp>
        <p:nvSpPr>
          <p:cNvPr id="21" name="shape 21"/>
          <p:cNvSpPr/>
          <p:nvPr/>
        </p:nvSpPr>
        <p:spPr>
          <a:xfrm>
            <a:off x="1866853" y="2057349"/>
            <a:ext cx="1219170" cy="2133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144">
            <a:solidFill>
              <a:srgbClr val="B9BEC7"/>
            </a:solidFill>
            <a:prstDash val="solid"/>
          </a:ln>
        </p:spPr>
      </p:sp>
      <p:sp>
        <p:nvSpPr>
          <p:cNvPr id="22" name="text 22"/>
          <p:cNvSpPr txBox="1"/>
          <p:nvPr/>
        </p:nvSpPr>
        <p:spPr>
          <a:xfrm>
            <a:off x="1756671" y="2095448"/>
            <a:ext cx="1439534" cy="1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enc. (backup)</a:t>
            </a:r>
            <a:endParaRPr lang="en-US" sz="840" dirty="0"/>
          </a:p>
        </p:txBody>
      </p:sp>
      <p:sp>
        <p:nvSpPr>
          <p:cNvPr id="23" name="shape 23"/>
          <p:cNvSpPr/>
          <p:nvPr/>
        </p:nvSpPr>
        <p:spPr>
          <a:xfrm>
            <a:off x="3200320" y="2057349"/>
            <a:ext cx="1219170" cy="21335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144">
            <a:solidFill>
              <a:srgbClr val="B9BEC7"/>
            </a:solidFill>
            <a:prstDash val="solid"/>
          </a:ln>
        </p:spPr>
      </p:sp>
      <p:sp>
        <p:nvSpPr>
          <p:cNvPr id="24" name="text 24"/>
          <p:cNvSpPr txBox="1"/>
          <p:nvPr/>
        </p:nvSpPr>
        <p:spPr>
          <a:xfrm>
            <a:off x="3288557" y="2095448"/>
            <a:ext cx="1042695" cy="1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 antenna</a:t>
            </a:r>
            <a:endParaRPr lang="en-US" sz="840" dirty="0"/>
          </a:p>
        </p:txBody>
      </p:sp>
      <p:sp>
        <p:nvSpPr>
          <p:cNvPr id="25" name="shape 25"/>
          <p:cNvSpPr/>
          <p:nvPr/>
        </p:nvSpPr>
        <p:spPr>
          <a:xfrm>
            <a:off x="426709" y="2575496"/>
            <a:ext cx="4190895" cy="914377"/>
          </a:xfrm>
          <a:prstGeom prst="roundRect">
            <a:avLst>
              <a:gd name="adj" fmla="val 5833"/>
            </a:avLst>
          </a:prstGeom>
          <a:solidFill>
            <a:srgbClr val="DFEAF8">
              <a:alpha val="60000"/>
            </a:srgbClr>
          </a:solidFill>
          <a:ln w="9144">
            <a:solidFill>
              <a:srgbClr val="9DB8DC">
                <a:alpha val="60000"/>
              </a:srgbClr>
            </a:solidFill>
            <a:prstDash val="solid"/>
          </a:ln>
        </p:spPr>
      </p:sp>
      <p:sp>
        <p:nvSpPr>
          <p:cNvPr id="26" name="shape 26"/>
          <p:cNvSpPr/>
          <p:nvPr/>
        </p:nvSpPr>
        <p:spPr>
          <a:xfrm>
            <a:off x="380990" y="2529777"/>
            <a:ext cx="4190895" cy="914377"/>
          </a:xfrm>
          <a:prstGeom prst="roundRect">
            <a:avLst>
              <a:gd name="adj" fmla="val 5833"/>
            </a:avLst>
          </a:prstGeom>
          <a:solidFill>
            <a:srgbClr val="DFEAF8"/>
          </a:solidFill>
          <a:ln w="10668">
            <a:solidFill>
              <a:srgbClr val="9DB8DC"/>
            </a:solidFill>
            <a:prstDash val="solid"/>
          </a:ln>
        </p:spPr>
      </p:sp>
      <p:sp>
        <p:nvSpPr>
          <p:cNvPr id="27" name="text 27"/>
          <p:cNvSpPr txBox="1"/>
          <p:nvPr/>
        </p:nvSpPr>
        <p:spPr>
          <a:xfrm>
            <a:off x="502907" y="2590735"/>
            <a:ext cx="1543469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+ odometry</a:t>
            </a:r>
            <a:endParaRPr lang="en-US" sz="1080" dirty="0"/>
          </a:p>
        </p:txBody>
      </p:sp>
      <p:sp>
        <p:nvSpPr>
          <p:cNvPr id="28" name="shape 28"/>
          <p:cNvSpPr/>
          <p:nvPr/>
        </p:nvSpPr>
        <p:spPr>
          <a:xfrm>
            <a:off x="533387" y="2804090"/>
            <a:ext cx="1904952" cy="54862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solid"/>
          </a:ln>
        </p:spPr>
      </p:sp>
      <p:sp>
        <p:nvSpPr>
          <p:cNvPr id="29" name="text 29"/>
          <p:cNvSpPr txBox="1"/>
          <p:nvPr/>
        </p:nvSpPr>
        <p:spPr>
          <a:xfrm>
            <a:off x="1075536" y="2891718"/>
            <a:ext cx="820653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FAST-LIO2</a:t>
            </a:r>
            <a:endParaRPr lang="en-US" sz="900" dirty="0"/>
          </a:p>
        </p:txBody>
      </p:sp>
      <p:sp>
        <p:nvSpPr>
          <p:cNvPr id="30" name="text 30"/>
          <p:cNvSpPr txBox="1"/>
          <p:nvPr/>
        </p:nvSpPr>
        <p:spPr>
          <a:xfrm>
            <a:off x="373980" y="3044114"/>
            <a:ext cx="2223765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LiDAR-inertial IEKF · ATE 2.0–4.4 cm</a:t>
            </a:r>
            <a:endParaRPr lang="en-US" sz="720" dirty="0"/>
          </a:p>
        </p:txBody>
      </p:sp>
      <p:sp>
        <p:nvSpPr>
          <p:cNvPr id="31" name="text 31"/>
          <p:cNvSpPr txBox="1"/>
          <p:nvPr/>
        </p:nvSpPr>
        <p:spPr>
          <a:xfrm>
            <a:off x="402326" y="3158411"/>
            <a:ext cx="2167074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RKO-LIO · cuVSLAM 23–47 cm</a:t>
            </a:r>
            <a:endParaRPr lang="en-US" sz="720" dirty="0"/>
          </a:p>
        </p:txBody>
      </p:sp>
      <p:sp>
        <p:nvSpPr>
          <p:cNvPr id="32" name="shape 32"/>
          <p:cNvSpPr/>
          <p:nvPr/>
        </p:nvSpPr>
        <p:spPr>
          <a:xfrm>
            <a:off x="2628834" y="2804090"/>
            <a:ext cx="1866853" cy="54862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dash"/>
          </a:ln>
        </p:spPr>
      </p:sp>
      <p:sp>
        <p:nvSpPr>
          <p:cNvPr id="33" name="text 33"/>
          <p:cNvSpPr txBox="1"/>
          <p:nvPr/>
        </p:nvSpPr>
        <p:spPr>
          <a:xfrm>
            <a:off x="3081070" y="2891718"/>
            <a:ext cx="962382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start</a:t>
            </a:r>
            <a:endParaRPr lang="en-US" sz="900" dirty="0"/>
          </a:p>
        </p:txBody>
      </p:sp>
      <p:sp>
        <p:nvSpPr>
          <p:cNvPr id="34" name="text 34"/>
          <p:cNvSpPr txBox="1"/>
          <p:nvPr/>
        </p:nvSpPr>
        <p:spPr>
          <a:xfrm>
            <a:off x="2620452" y="3044114"/>
            <a:ext cx="1883617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ChArUco → initial guess in map</a:t>
            </a:r>
            <a:endParaRPr lang="en-US" sz="720" dirty="0"/>
          </a:p>
        </p:txBody>
      </p:sp>
      <p:sp>
        <p:nvSpPr>
          <p:cNvPr id="35" name="text 35"/>
          <p:cNvSpPr txBox="1"/>
          <p:nvPr/>
        </p:nvSpPr>
        <p:spPr>
          <a:xfrm>
            <a:off x="2733835" y="3158411"/>
            <a:ext cx="1656851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online: to build</a:t>
            </a:r>
            <a:endParaRPr lang="en-US" sz="720" dirty="0"/>
          </a:p>
        </p:txBody>
      </p:sp>
      <p:sp>
        <p:nvSpPr>
          <p:cNvPr id="36" name="shape 36"/>
          <p:cNvSpPr/>
          <p:nvPr/>
        </p:nvSpPr>
        <p:spPr>
          <a:xfrm>
            <a:off x="426709" y="3627029"/>
            <a:ext cx="4190895" cy="1036294"/>
          </a:xfrm>
          <a:prstGeom prst="roundRect">
            <a:avLst>
              <a:gd name="adj" fmla="val 5147"/>
            </a:avLst>
          </a:prstGeom>
          <a:solidFill>
            <a:srgbClr val="DFEAF8">
              <a:alpha val="60000"/>
            </a:srgbClr>
          </a:solidFill>
          <a:ln w="9144">
            <a:solidFill>
              <a:srgbClr val="9DB8DC">
                <a:alpha val="60000"/>
              </a:srgbClr>
            </a:solidFill>
            <a:prstDash val="solid"/>
          </a:ln>
        </p:spPr>
      </p:sp>
      <p:sp>
        <p:nvSpPr>
          <p:cNvPr id="37" name="shape 37"/>
          <p:cNvSpPr/>
          <p:nvPr/>
        </p:nvSpPr>
        <p:spPr>
          <a:xfrm>
            <a:off x="380990" y="3581310"/>
            <a:ext cx="4190895" cy="1036294"/>
          </a:xfrm>
          <a:prstGeom prst="roundRect">
            <a:avLst>
              <a:gd name="adj" fmla="val 5147"/>
            </a:avLst>
          </a:prstGeom>
          <a:solidFill>
            <a:srgbClr val="DFEAF8"/>
          </a:solidFill>
          <a:ln w="10668">
            <a:solidFill>
              <a:srgbClr val="9DB8DC"/>
            </a:solidFill>
            <a:prstDash val="solid"/>
          </a:ln>
        </p:spPr>
      </p:sp>
      <p:sp>
        <p:nvSpPr>
          <p:cNvPr id="38" name="text 38"/>
          <p:cNvSpPr txBox="1"/>
          <p:nvPr/>
        </p:nvSpPr>
        <p:spPr>
          <a:xfrm>
            <a:off x="502907" y="3642269"/>
            <a:ext cx="1543469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localization</a:t>
            </a:r>
            <a:endParaRPr lang="en-US" sz="1080" dirty="0"/>
          </a:p>
        </p:txBody>
      </p:sp>
      <p:sp>
        <p:nvSpPr>
          <p:cNvPr id="39" name="text 39"/>
          <p:cNvSpPr txBox="1"/>
          <p:nvPr/>
        </p:nvSpPr>
        <p:spPr>
          <a:xfrm>
            <a:off x="2746941" y="3676558"/>
            <a:ext cx="1718267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equivalent: 1.3 cm</a:t>
            </a:r>
            <a:endParaRPr lang="en-US" sz="750" dirty="0"/>
          </a:p>
        </p:txBody>
      </p:sp>
      <p:sp>
        <p:nvSpPr>
          <p:cNvPr id="40" name="shape 40"/>
          <p:cNvSpPr/>
          <p:nvPr/>
        </p:nvSpPr>
        <p:spPr>
          <a:xfrm>
            <a:off x="533387" y="3855624"/>
            <a:ext cx="1904952" cy="6095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dash"/>
          </a:ln>
        </p:spPr>
      </p:sp>
      <p:sp>
        <p:nvSpPr>
          <p:cNvPr id="41" name="text 41"/>
          <p:cNvSpPr txBox="1"/>
          <p:nvPr/>
        </p:nvSpPr>
        <p:spPr>
          <a:xfrm>
            <a:off x="1040104" y="3973731"/>
            <a:ext cx="891518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pose</a:t>
            </a:r>
            <a:endParaRPr lang="en-US" sz="900" dirty="0"/>
          </a:p>
        </p:txBody>
      </p:sp>
      <p:sp>
        <p:nvSpPr>
          <p:cNvPr id="42" name="text 42"/>
          <p:cNvSpPr txBox="1"/>
          <p:nvPr/>
        </p:nvSpPr>
        <p:spPr>
          <a:xfrm>
            <a:off x="572400" y="4126127"/>
            <a:ext cx="182692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FAST-LIO2 odometry · map→odom</a:t>
            </a:r>
            <a:endParaRPr lang="en-US" sz="720" dirty="0"/>
          </a:p>
        </p:txBody>
      </p:sp>
      <p:sp>
        <p:nvSpPr>
          <p:cNvPr id="43" name="text 43"/>
          <p:cNvSpPr txBox="1"/>
          <p:nvPr/>
        </p:nvSpPr>
        <p:spPr>
          <a:xfrm>
            <a:off x="515709" y="4240424"/>
            <a:ext cx="1940308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Hz, map frame, bounded error</a:t>
            </a:r>
            <a:endParaRPr lang="en-US" sz="720" dirty="0"/>
          </a:p>
        </p:txBody>
      </p:sp>
      <p:sp>
        <p:nvSpPr>
          <p:cNvPr id="44" name="shape 44"/>
          <p:cNvSpPr/>
          <p:nvPr/>
        </p:nvSpPr>
        <p:spPr>
          <a:xfrm>
            <a:off x="2628834" y="3855624"/>
            <a:ext cx="1866853" cy="6095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dash"/>
          </a:ln>
        </p:spPr>
      </p:sp>
      <p:sp>
        <p:nvSpPr>
          <p:cNvPr id="45" name="text 45"/>
          <p:cNvSpPr txBox="1"/>
          <p:nvPr/>
        </p:nvSpPr>
        <p:spPr>
          <a:xfrm>
            <a:off x="2762181" y="3916582"/>
            <a:ext cx="1600160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map→odom (one owner)</a:t>
            </a:r>
            <a:endParaRPr lang="en-US" sz="900" dirty="0"/>
          </a:p>
        </p:txBody>
      </p:sp>
      <p:sp>
        <p:nvSpPr>
          <p:cNvPr id="46" name="text 46"/>
          <p:cNvSpPr txBox="1"/>
          <p:nvPr/>
        </p:nvSpPr>
        <p:spPr>
          <a:xfrm>
            <a:off x="2336996" y="4068978"/>
            <a:ext cx="2450531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map: scan-to-map on map tiles, 1–2 Hz</a:t>
            </a:r>
            <a:endParaRPr lang="en-US" sz="720" dirty="0"/>
          </a:p>
        </p:txBody>
      </p:sp>
      <p:sp>
        <p:nvSpPr>
          <p:cNvPr id="47" name="text 47"/>
          <p:cNvSpPr txBox="1"/>
          <p:nvPr/>
        </p:nvSpPr>
        <p:spPr>
          <a:xfrm>
            <a:off x="2592107" y="4183275"/>
            <a:ext cx="1940308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outside: server SLAM correction</a:t>
            </a:r>
            <a:endParaRPr lang="en-US" sz="720" dirty="0"/>
          </a:p>
        </p:txBody>
      </p:sp>
      <p:sp>
        <p:nvSpPr>
          <p:cNvPr id="48" name="text 48"/>
          <p:cNvSpPr txBox="1"/>
          <p:nvPr/>
        </p:nvSpPr>
        <p:spPr>
          <a:xfrm>
            <a:off x="2677144" y="4297573"/>
            <a:ext cx="1770234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lost: peer Swarm-SLAM</a:t>
            </a:r>
            <a:endParaRPr lang="en-US" sz="720" dirty="0"/>
          </a:p>
        </p:txBody>
      </p:sp>
      <p:sp>
        <p:nvSpPr>
          <p:cNvPr id="49" name="shape 49"/>
          <p:cNvSpPr/>
          <p:nvPr/>
        </p:nvSpPr>
        <p:spPr>
          <a:xfrm>
            <a:off x="426709" y="4785240"/>
            <a:ext cx="4190895" cy="1478243"/>
          </a:xfrm>
          <a:prstGeom prst="roundRect">
            <a:avLst>
              <a:gd name="adj" fmla="val 3608"/>
            </a:avLst>
          </a:prstGeom>
          <a:solidFill>
            <a:srgbClr val="DFEAF8">
              <a:alpha val="60000"/>
            </a:srgbClr>
          </a:solidFill>
          <a:ln w="9144">
            <a:solidFill>
              <a:srgbClr val="9DB8DC">
                <a:alpha val="60000"/>
              </a:srgbClr>
            </a:solidFill>
            <a:prstDash val="solid"/>
          </a:ln>
        </p:spPr>
      </p:sp>
      <p:sp>
        <p:nvSpPr>
          <p:cNvPr id="50" name="shape 50"/>
          <p:cNvSpPr/>
          <p:nvPr/>
        </p:nvSpPr>
        <p:spPr>
          <a:xfrm>
            <a:off x="380990" y="4739522"/>
            <a:ext cx="4190895" cy="1478243"/>
          </a:xfrm>
          <a:prstGeom prst="roundRect">
            <a:avLst>
              <a:gd name="adj" fmla="val 3608"/>
            </a:avLst>
          </a:prstGeom>
          <a:solidFill>
            <a:srgbClr val="DFEAF8"/>
          </a:solidFill>
          <a:ln w="10668">
            <a:solidFill>
              <a:srgbClr val="9DB8DC"/>
            </a:solidFill>
            <a:prstDash val="solid"/>
          </a:ln>
        </p:spPr>
      </p:sp>
      <p:sp>
        <p:nvSpPr>
          <p:cNvPr id="51" name="text 51"/>
          <p:cNvSpPr txBox="1"/>
          <p:nvPr/>
        </p:nvSpPr>
        <p:spPr>
          <a:xfrm>
            <a:off x="502907" y="4800480"/>
            <a:ext cx="1373394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to server</a:t>
            </a:r>
            <a:endParaRPr lang="en-US" sz="1080" dirty="0"/>
          </a:p>
        </p:txBody>
      </p:sp>
      <p:sp>
        <p:nvSpPr>
          <p:cNvPr id="52" name="text 52"/>
          <p:cNvSpPr txBox="1"/>
          <p:nvPr/>
        </p:nvSpPr>
        <p:spPr>
          <a:xfrm>
            <a:off x="3396530" y="4834769"/>
            <a:ext cx="1068678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estimated</a:t>
            </a:r>
            <a:endParaRPr lang="en-US" sz="750" dirty="0"/>
          </a:p>
        </p:txBody>
      </p:sp>
      <p:sp>
        <p:nvSpPr>
          <p:cNvPr id="53" name="shape 53"/>
          <p:cNvSpPr/>
          <p:nvPr/>
        </p:nvSpPr>
        <p:spPr>
          <a:xfrm>
            <a:off x="533387" y="5013835"/>
            <a:ext cx="3962301" cy="112773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dash"/>
          </a:ln>
        </p:spPr>
      </p:sp>
      <p:sp>
        <p:nvSpPr>
          <p:cNvPr id="54" name="text 54"/>
          <p:cNvSpPr txBox="1"/>
          <p:nvPr/>
        </p:nvSpPr>
        <p:spPr>
          <a:xfrm>
            <a:off x="640064" y="5059554"/>
            <a:ext cx="1165526" cy="13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Keyframe packs</a:t>
            </a:r>
            <a:endParaRPr lang="en-US" sz="780" dirty="0"/>
          </a:p>
        </p:txBody>
      </p:sp>
      <p:sp>
        <p:nvSpPr>
          <p:cNvPr id="55" name="text 55"/>
          <p:cNvSpPr txBox="1"/>
          <p:nvPr/>
        </p:nvSpPr>
        <p:spPr>
          <a:xfrm>
            <a:off x="1767796" y="5067173"/>
            <a:ext cx="2790679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+ JPEG + pose · ~2 Hz · 0.5–1 MB/s → SLAM</a:t>
            </a:r>
            <a:endParaRPr lang="en-US" sz="720" dirty="0"/>
          </a:p>
        </p:txBody>
      </p:sp>
      <p:sp>
        <p:nvSpPr>
          <p:cNvPr id="56" name="text 56"/>
          <p:cNvSpPr txBox="1"/>
          <p:nvPr/>
        </p:nvSpPr>
        <p:spPr>
          <a:xfrm>
            <a:off x="640064" y="5219570"/>
            <a:ext cx="1165526" cy="13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Map-frame pose</a:t>
            </a:r>
            <a:endParaRPr lang="en-US" sz="780" dirty="0"/>
          </a:p>
        </p:txBody>
      </p:sp>
      <p:sp>
        <p:nvSpPr>
          <p:cNvPr id="57" name="text 57"/>
          <p:cNvSpPr txBox="1"/>
          <p:nvPr/>
        </p:nvSpPr>
        <p:spPr>
          <a:xfrm>
            <a:off x="1767796" y="5227189"/>
            <a:ext cx="2563914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pose · 10 Hz · ~1 KB/s → robot prims</a:t>
            </a:r>
            <a:endParaRPr lang="en-US" sz="720" dirty="0"/>
          </a:p>
        </p:txBody>
      </p:sp>
      <p:sp>
        <p:nvSpPr>
          <p:cNvPr id="58" name="text 58"/>
          <p:cNvSpPr txBox="1"/>
          <p:nvPr/>
        </p:nvSpPr>
        <p:spPr>
          <a:xfrm>
            <a:off x="640064" y="5425304"/>
            <a:ext cx="858448" cy="13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Map tiles</a:t>
            </a:r>
            <a:endParaRPr lang="en-US" sz="780" dirty="0"/>
          </a:p>
        </p:txBody>
      </p:sp>
      <p:sp>
        <p:nvSpPr>
          <p:cNvPr id="59" name="text 59"/>
          <p:cNvSpPr txBox="1"/>
          <p:nvPr/>
        </p:nvSpPr>
        <p:spPr>
          <a:xfrm>
            <a:off x="1767796" y="5432924"/>
            <a:ext cx="3244210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map + new SLAM areas + scene edits · 1–5 MB, rare</a:t>
            </a:r>
            <a:endParaRPr lang="en-US" sz="720" dirty="0"/>
          </a:p>
        </p:txBody>
      </p:sp>
      <p:sp>
        <p:nvSpPr>
          <p:cNvPr id="60" name="text 60"/>
          <p:cNvSpPr txBox="1"/>
          <p:nvPr/>
        </p:nvSpPr>
        <p:spPr>
          <a:xfrm>
            <a:off x="640064" y="5585320"/>
            <a:ext cx="1288357" cy="13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SLAM corrections</a:t>
            </a:r>
            <a:endParaRPr lang="en-US" sz="780" dirty="0"/>
          </a:p>
        </p:txBody>
      </p:sp>
      <p:sp>
        <p:nvSpPr>
          <p:cNvPr id="61" name="text 61"/>
          <p:cNvSpPr txBox="1"/>
          <p:nvPr/>
        </p:nvSpPr>
        <p:spPr>
          <a:xfrm>
            <a:off x="1767796" y="5592940"/>
            <a:ext cx="2960753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 ID + pose · ~10 s · &lt;100 B · outside map</a:t>
            </a:r>
            <a:endParaRPr lang="en-US" sz="720" dirty="0"/>
          </a:p>
        </p:txBody>
      </p:sp>
      <p:sp>
        <p:nvSpPr>
          <p:cNvPr id="62" name="text 62"/>
          <p:cNvSpPr txBox="1"/>
          <p:nvPr/>
        </p:nvSpPr>
        <p:spPr>
          <a:xfrm>
            <a:off x="640064" y="5745336"/>
            <a:ext cx="1288357" cy="13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Control commands</a:t>
            </a:r>
            <a:endParaRPr lang="en-US" sz="780" dirty="0"/>
          </a:p>
        </p:txBody>
      </p:sp>
      <p:sp>
        <p:nvSpPr>
          <p:cNvPr id="63" name="text 63"/>
          <p:cNvSpPr txBox="1"/>
          <p:nvPr/>
        </p:nvSpPr>
        <p:spPr>
          <a:xfrm>
            <a:off x="1767796" y="5752956"/>
            <a:ext cx="2337148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Isaac Sim / operator → drive base</a:t>
            </a:r>
            <a:endParaRPr lang="en-US" sz="720" dirty="0"/>
          </a:p>
        </p:txBody>
      </p:sp>
      <p:sp>
        <p:nvSpPr>
          <p:cNvPr id="64" name="text 64"/>
          <p:cNvSpPr txBox="1"/>
          <p:nvPr/>
        </p:nvSpPr>
        <p:spPr>
          <a:xfrm>
            <a:off x="640064" y="5958691"/>
            <a:ext cx="1165526" cy="133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 Peer (robot j)</a:t>
            </a:r>
            <a:endParaRPr lang="en-US" sz="780" dirty="0"/>
          </a:p>
        </p:txBody>
      </p:sp>
      <p:sp>
        <p:nvSpPr>
          <p:cNvPr id="65" name="text 65"/>
          <p:cNvSpPr txBox="1"/>
          <p:nvPr/>
        </p:nvSpPr>
        <p:spPr>
          <a:xfrm>
            <a:off x="1767796" y="5966311"/>
            <a:ext cx="2904062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Swarm-SLAM descriptors, scans · server lost only</a:t>
            </a:r>
            <a:endParaRPr lang="en-US" sz="720" dirty="0"/>
          </a:p>
        </p:txBody>
      </p:sp>
      <p:sp>
        <p:nvSpPr>
          <p:cNvPr id="66" name="arrow 66.0"/>
          <p:cNvSpPr/>
          <p:nvPr/>
        </p:nvSpPr>
        <p:spPr>
          <a:xfrm>
            <a:off x="640064" y="5402445"/>
            <a:ext cx="3748946" cy="0"/>
          </a:xfrm>
          <a:prstGeom prst="line">
            <a:avLst/>
          </a:prstGeom>
          <a:noFill/>
          <a:ln w="7620">
            <a:solidFill>
              <a:srgbClr val="D5DEEA"/>
            </a:solidFill>
            <a:prstDash val="solid"/>
          </a:ln>
        </p:spPr>
      </p:sp>
      <p:sp>
        <p:nvSpPr>
          <p:cNvPr id="67" name="arrow 67.0"/>
          <p:cNvSpPr/>
          <p:nvPr/>
        </p:nvSpPr>
        <p:spPr>
          <a:xfrm>
            <a:off x="640064" y="5928212"/>
            <a:ext cx="3748946" cy="0"/>
          </a:xfrm>
          <a:prstGeom prst="line">
            <a:avLst/>
          </a:prstGeom>
          <a:noFill/>
          <a:ln w="7620">
            <a:solidFill>
              <a:srgbClr val="D5DEEA"/>
            </a:solidFill>
            <a:prstDash val="solid"/>
          </a:ln>
        </p:spPr>
      </p:sp>
      <p:sp>
        <p:nvSpPr>
          <p:cNvPr id="68" name="shape 68"/>
          <p:cNvSpPr/>
          <p:nvPr/>
        </p:nvSpPr>
        <p:spPr>
          <a:xfrm>
            <a:off x="380990" y="6354921"/>
            <a:ext cx="2057349" cy="320032"/>
          </a:xfrm>
          <a:prstGeom prst="roundRect">
            <a:avLst>
              <a:gd name="adj" fmla="val 9524"/>
            </a:avLst>
          </a:prstGeom>
          <a:solidFill>
            <a:srgbClr val="E9EBEF"/>
          </a:solidFill>
          <a:ln w="9906">
            <a:solidFill>
              <a:srgbClr val="B9BEC7"/>
            </a:solidFill>
            <a:prstDash val="solid"/>
          </a:ln>
        </p:spPr>
      </p:sp>
      <p:sp>
        <p:nvSpPr>
          <p:cNvPr id="69" name="text 69"/>
          <p:cNvSpPr txBox="1"/>
          <p:nvPr/>
        </p:nvSpPr>
        <p:spPr>
          <a:xfrm>
            <a:off x="1070202" y="6385400"/>
            <a:ext cx="678925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j</a:t>
            </a:r>
            <a:endParaRPr lang="en-US" sz="900" dirty="0"/>
          </a:p>
        </p:txBody>
      </p:sp>
      <p:sp>
        <p:nvSpPr>
          <p:cNvPr id="70" name="text 70"/>
          <p:cNvSpPr txBox="1"/>
          <p:nvPr/>
        </p:nvSpPr>
        <p:spPr>
          <a:xfrm>
            <a:off x="524548" y="6537797"/>
            <a:ext cx="1770234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stack · peer Swarm-SLAM</a:t>
            </a:r>
            <a:endParaRPr lang="en-US" sz="720" dirty="0"/>
          </a:p>
        </p:txBody>
      </p:sp>
      <p:sp>
        <p:nvSpPr>
          <p:cNvPr id="71" name="shape 71"/>
          <p:cNvSpPr/>
          <p:nvPr/>
        </p:nvSpPr>
        <p:spPr>
          <a:xfrm>
            <a:off x="2590735" y="6354921"/>
            <a:ext cx="1981150" cy="320032"/>
          </a:xfrm>
          <a:prstGeom prst="roundRect">
            <a:avLst>
              <a:gd name="adj" fmla="val 9524"/>
            </a:avLst>
          </a:prstGeom>
          <a:solidFill>
            <a:srgbClr val="E9EBEF"/>
          </a:solidFill>
          <a:ln w="9906">
            <a:solidFill>
              <a:srgbClr val="B9BEC7"/>
            </a:solidFill>
            <a:prstDash val="dash"/>
          </a:ln>
        </p:spPr>
      </p:sp>
      <p:sp>
        <p:nvSpPr>
          <p:cNvPr id="72" name="text 72"/>
          <p:cNvSpPr txBox="1"/>
          <p:nvPr/>
        </p:nvSpPr>
        <p:spPr>
          <a:xfrm>
            <a:off x="3135552" y="6385400"/>
            <a:ext cx="891518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sync</a:t>
            </a:r>
            <a:endParaRPr lang="en-US" sz="900" dirty="0"/>
          </a:p>
        </p:txBody>
      </p:sp>
      <p:sp>
        <p:nvSpPr>
          <p:cNvPr id="73" name="text 73"/>
          <p:cNvSpPr txBox="1"/>
          <p:nvPr/>
        </p:nvSpPr>
        <p:spPr>
          <a:xfrm>
            <a:off x="2441082" y="6537797"/>
            <a:ext cx="2280457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PTP / chrony: robots, server, sniffer</a:t>
            </a:r>
            <a:endParaRPr lang="en-US" sz="720" dirty="0"/>
          </a:p>
        </p:txBody>
      </p:sp>
      <p:sp>
        <p:nvSpPr>
          <p:cNvPr id="74" name="arrow 74.0"/>
          <p:cNvSpPr/>
          <p:nvPr/>
        </p:nvSpPr>
        <p:spPr>
          <a:xfrm>
            <a:off x="1409665" y="6156806"/>
            <a:ext cx="0" cy="182875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headEnd type="triangle"/>
            <a:tailEnd type="triangle"/>
          </a:ln>
        </p:spPr>
      </p:sp>
      <p:sp>
        <p:nvSpPr>
          <p:cNvPr id="75" name="arrow 75.0"/>
          <p:cNvSpPr/>
          <p:nvPr/>
        </p:nvSpPr>
        <p:spPr>
          <a:xfrm>
            <a:off x="2209745" y="2362141"/>
            <a:ext cx="0" cy="426709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76" name="arrow 76.0"/>
          <p:cNvSpPr/>
          <p:nvPr/>
        </p:nvSpPr>
        <p:spPr>
          <a:xfrm>
            <a:off x="3047924" y="2362141"/>
            <a:ext cx="0" cy="426709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77" name="arrow 77.0"/>
          <p:cNvSpPr/>
          <p:nvPr/>
        </p:nvSpPr>
        <p:spPr>
          <a:xfrm>
            <a:off x="2209745" y="3352716"/>
            <a:ext cx="0" cy="487668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78" name="text 78"/>
          <p:cNvSpPr txBox="1"/>
          <p:nvPr/>
        </p:nvSpPr>
        <p:spPr>
          <a:xfrm>
            <a:off x="2270703" y="3451774"/>
            <a:ext cx="63640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odometry</a:t>
            </a:r>
            <a:endParaRPr lang="en-US" sz="720" dirty="0"/>
          </a:p>
        </p:txBody>
      </p:sp>
      <p:sp>
        <p:nvSpPr>
          <p:cNvPr id="79" name="arrow 79.0"/>
          <p:cNvSpPr/>
          <p:nvPr/>
        </p:nvSpPr>
        <p:spPr>
          <a:xfrm>
            <a:off x="3047924" y="3352716"/>
            <a:ext cx="0" cy="487668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80" name="text 80"/>
          <p:cNvSpPr txBox="1"/>
          <p:nvPr/>
        </p:nvSpPr>
        <p:spPr>
          <a:xfrm>
            <a:off x="3108882" y="3451774"/>
            <a:ext cx="919863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guess</a:t>
            </a:r>
            <a:endParaRPr lang="en-US" sz="720" dirty="0"/>
          </a:p>
        </p:txBody>
      </p:sp>
      <p:sp>
        <p:nvSpPr>
          <p:cNvPr id="81" name="arrow 81.0"/>
          <p:cNvSpPr/>
          <p:nvPr/>
        </p:nvSpPr>
        <p:spPr>
          <a:xfrm flipH="1">
            <a:off x="2453579" y="4160416"/>
            <a:ext cx="175256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82" name="arrow 82.0"/>
          <p:cNvSpPr/>
          <p:nvPr/>
        </p:nvSpPr>
        <p:spPr>
          <a:xfrm>
            <a:off x="1981150" y="4480448"/>
            <a:ext cx="0" cy="533387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83" name="shape 83"/>
          <p:cNvSpPr/>
          <p:nvPr/>
        </p:nvSpPr>
        <p:spPr>
          <a:xfrm>
            <a:off x="4922397" y="1539202"/>
            <a:ext cx="2423099" cy="990575"/>
          </a:xfrm>
          <a:prstGeom prst="roundRect">
            <a:avLst>
              <a:gd name="adj" fmla="val 5385"/>
            </a:avLst>
          </a:prstGeom>
          <a:solidFill>
            <a:srgbClr val="DFEAF8">
              <a:alpha val="60000"/>
            </a:srgbClr>
          </a:solidFill>
          <a:ln w="9144">
            <a:solidFill>
              <a:srgbClr val="9DB8DC">
                <a:alpha val="60000"/>
              </a:srgbClr>
            </a:solidFill>
            <a:prstDash val="solid"/>
          </a:ln>
        </p:spPr>
      </p:sp>
      <p:sp>
        <p:nvSpPr>
          <p:cNvPr id="84" name="shape 84"/>
          <p:cNvSpPr/>
          <p:nvPr/>
        </p:nvSpPr>
        <p:spPr>
          <a:xfrm>
            <a:off x="4876678" y="1493483"/>
            <a:ext cx="2423099" cy="990575"/>
          </a:xfrm>
          <a:prstGeom prst="roundRect">
            <a:avLst>
              <a:gd name="adj" fmla="val 5385"/>
            </a:avLst>
          </a:prstGeom>
          <a:solidFill>
            <a:srgbClr val="DFEAF8"/>
          </a:solidFill>
          <a:ln w="10668">
            <a:solidFill>
              <a:srgbClr val="9DB8DC"/>
            </a:solidFill>
            <a:prstDash val="solid"/>
          </a:ln>
        </p:spPr>
      </p:sp>
      <p:sp>
        <p:nvSpPr>
          <p:cNvPr id="85" name="text 85"/>
          <p:cNvSpPr txBox="1"/>
          <p:nvPr/>
        </p:nvSpPr>
        <p:spPr>
          <a:xfrm>
            <a:off x="4998595" y="1554441"/>
            <a:ext cx="1543469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SLAM</a:t>
            </a:r>
            <a:endParaRPr lang="en-US" sz="1080" dirty="0"/>
          </a:p>
        </p:txBody>
      </p:sp>
      <p:sp>
        <p:nvSpPr>
          <p:cNvPr id="86" name="text 86"/>
          <p:cNvSpPr txBox="1"/>
          <p:nvPr/>
        </p:nvSpPr>
        <p:spPr>
          <a:xfrm>
            <a:off x="6360636" y="1588730"/>
            <a:ext cx="832464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</a:t>
            </a:r>
            <a:endParaRPr lang="en-US" sz="750" dirty="0"/>
          </a:p>
        </p:txBody>
      </p:sp>
      <p:sp>
        <p:nvSpPr>
          <p:cNvPr id="87" name="shape 87"/>
          <p:cNvSpPr/>
          <p:nvPr/>
        </p:nvSpPr>
        <p:spPr>
          <a:xfrm>
            <a:off x="4998595" y="1798275"/>
            <a:ext cx="1066773" cy="54862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dash"/>
          </a:ln>
        </p:spPr>
      </p:sp>
      <p:sp>
        <p:nvSpPr>
          <p:cNvPr id="88" name="text 88"/>
          <p:cNvSpPr txBox="1"/>
          <p:nvPr/>
        </p:nvSpPr>
        <p:spPr>
          <a:xfrm>
            <a:off x="5121655" y="1885903"/>
            <a:ext cx="820653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store</a:t>
            </a:r>
            <a:endParaRPr lang="en-US" sz="900" dirty="0"/>
          </a:p>
        </p:txBody>
      </p:sp>
      <p:sp>
        <p:nvSpPr>
          <p:cNvPr id="89" name="text 89"/>
          <p:cNvSpPr txBox="1"/>
          <p:nvPr/>
        </p:nvSpPr>
        <p:spPr>
          <a:xfrm>
            <a:off x="4930322" y="2038299"/>
            <a:ext cx="1203320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keyframe packs in;</a:t>
            </a:r>
            <a:endParaRPr lang="en-US" sz="720" dirty="0"/>
          </a:p>
        </p:txBody>
      </p:sp>
      <p:sp>
        <p:nvSpPr>
          <p:cNvPr id="90" name="text 90"/>
          <p:cNvSpPr txBox="1"/>
          <p:nvPr/>
        </p:nvSpPr>
        <p:spPr>
          <a:xfrm>
            <a:off x="4788593" y="2152596"/>
            <a:ext cx="1486777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tiles + corrections out</a:t>
            </a:r>
            <a:endParaRPr lang="en-US" sz="720" dirty="0"/>
          </a:p>
        </p:txBody>
      </p:sp>
      <p:sp>
        <p:nvSpPr>
          <p:cNvPr id="91" name="shape 91"/>
          <p:cNvSpPr/>
          <p:nvPr/>
        </p:nvSpPr>
        <p:spPr>
          <a:xfrm>
            <a:off x="6141566" y="1798275"/>
            <a:ext cx="1066773" cy="54862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solid"/>
          </a:ln>
        </p:spPr>
      </p:sp>
      <p:sp>
        <p:nvSpPr>
          <p:cNvPr id="92" name="text 92"/>
          <p:cNvSpPr txBox="1"/>
          <p:nvPr/>
        </p:nvSpPr>
        <p:spPr>
          <a:xfrm>
            <a:off x="6229194" y="1885903"/>
            <a:ext cx="891518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Swarm-SLAM</a:t>
            </a:r>
            <a:endParaRPr lang="en-US" sz="900" dirty="0"/>
          </a:p>
        </p:txBody>
      </p:sp>
      <p:sp>
        <p:nvSpPr>
          <p:cNvPr id="93" name="text 93"/>
          <p:cNvSpPr txBox="1"/>
          <p:nvPr/>
        </p:nvSpPr>
        <p:spPr>
          <a:xfrm>
            <a:off x="6101639" y="2038299"/>
            <a:ext cx="1146629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inter-robot + map</a:t>
            </a:r>
            <a:endParaRPr lang="en-US" sz="720" dirty="0"/>
          </a:p>
        </p:txBody>
      </p:sp>
      <p:sp>
        <p:nvSpPr>
          <p:cNvPr id="94" name="text 94"/>
          <p:cNvSpPr txBox="1"/>
          <p:nvPr/>
        </p:nvSpPr>
        <p:spPr>
          <a:xfrm>
            <a:off x="6073293" y="2152596"/>
            <a:ext cx="1203320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SLAM corrections</a:t>
            </a:r>
            <a:endParaRPr lang="en-US" sz="720" dirty="0"/>
          </a:p>
        </p:txBody>
      </p:sp>
      <p:sp>
        <p:nvSpPr>
          <p:cNvPr id="95" name="shape 95"/>
          <p:cNvSpPr/>
          <p:nvPr/>
        </p:nvSpPr>
        <p:spPr>
          <a:xfrm>
            <a:off x="7452174" y="1539202"/>
            <a:ext cx="2423099" cy="990575"/>
          </a:xfrm>
          <a:prstGeom prst="roundRect">
            <a:avLst>
              <a:gd name="adj" fmla="val 5385"/>
            </a:avLst>
          </a:prstGeom>
          <a:solidFill>
            <a:srgbClr val="DFEAF8">
              <a:alpha val="60000"/>
            </a:srgbClr>
          </a:solidFill>
          <a:ln w="9144">
            <a:solidFill>
              <a:srgbClr val="9DB8DC">
                <a:alpha val="60000"/>
              </a:srgbClr>
            </a:solidFill>
            <a:prstDash val="solid"/>
          </a:ln>
        </p:spPr>
      </p:sp>
      <p:sp>
        <p:nvSpPr>
          <p:cNvPr id="96" name="shape 96"/>
          <p:cNvSpPr/>
          <p:nvPr/>
        </p:nvSpPr>
        <p:spPr>
          <a:xfrm>
            <a:off x="7406455" y="1493483"/>
            <a:ext cx="2423099" cy="990575"/>
          </a:xfrm>
          <a:prstGeom prst="roundRect">
            <a:avLst>
              <a:gd name="adj" fmla="val 5385"/>
            </a:avLst>
          </a:prstGeom>
          <a:solidFill>
            <a:srgbClr val="DFEAF8"/>
          </a:solidFill>
          <a:ln w="10668">
            <a:solidFill>
              <a:srgbClr val="9DB8DC"/>
            </a:solidFill>
            <a:prstDash val="solid"/>
          </a:ln>
        </p:spPr>
      </p:sp>
      <p:sp>
        <p:nvSpPr>
          <p:cNvPr id="97" name="text 97"/>
          <p:cNvSpPr txBox="1"/>
          <p:nvPr/>
        </p:nvSpPr>
        <p:spPr>
          <a:xfrm>
            <a:off x="7528372" y="1554441"/>
            <a:ext cx="1203320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mapping</a:t>
            </a:r>
            <a:endParaRPr lang="en-US" sz="1080" dirty="0"/>
          </a:p>
        </p:txBody>
      </p:sp>
      <p:sp>
        <p:nvSpPr>
          <p:cNvPr id="98" name="text 98"/>
          <p:cNvSpPr txBox="1"/>
          <p:nvPr/>
        </p:nvSpPr>
        <p:spPr>
          <a:xfrm>
            <a:off x="9362841" y="1588730"/>
            <a:ext cx="360036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</a:t>
            </a:r>
            <a:endParaRPr lang="en-US" sz="750" dirty="0"/>
          </a:p>
        </p:txBody>
      </p:sp>
      <p:sp>
        <p:nvSpPr>
          <p:cNvPr id="99" name="shape 99"/>
          <p:cNvSpPr/>
          <p:nvPr/>
        </p:nvSpPr>
        <p:spPr>
          <a:xfrm>
            <a:off x="7528372" y="1798275"/>
            <a:ext cx="1066773" cy="54862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dash"/>
          </a:ln>
        </p:spPr>
      </p:sp>
      <p:sp>
        <p:nvSpPr>
          <p:cNvPr id="100" name="text 100"/>
          <p:cNvSpPr txBox="1"/>
          <p:nvPr/>
        </p:nvSpPr>
        <p:spPr>
          <a:xfrm>
            <a:off x="7545135" y="1885903"/>
            <a:ext cx="1033246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Splat mapper</a:t>
            </a:r>
            <a:endParaRPr lang="en-US" sz="900" dirty="0"/>
          </a:p>
        </p:txBody>
      </p:sp>
      <p:sp>
        <p:nvSpPr>
          <p:cNvPr id="101" name="text 101"/>
          <p:cNvSpPr txBox="1"/>
          <p:nvPr/>
        </p:nvSpPr>
        <p:spPr>
          <a:xfrm>
            <a:off x="7630172" y="2038299"/>
            <a:ext cx="863172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Gaussian-LIC</a:t>
            </a:r>
            <a:endParaRPr lang="en-US" sz="720" dirty="0"/>
          </a:p>
        </p:txBody>
      </p:sp>
      <p:sp>
        <p:nvSpPr>
          <p:cNvPr id="102" name="text 102"/>
          <p:cNvSpPr txBox="1"/>
          <p:nvPr/>
        </p:nvSpPr>
        <p:spPr>
          <a:xfrm>
            <a:off x="7686864" y="2152596"/>
            <a:ext cx="749789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 2 port</a:t>
            </a:r>
            <a:endParaRPr lang="en-US" sz="720" dirty="0"/>
          </a:p>
        </p:txBody>
      </p:sp>
      <p:sp>
        <p:nvSpPr>
          <p:cNvPr id="103" name="shape 103"/>
          <p:cNvSpPr/>
          <p:nvPr/>
        </p:nvSpPr>
        <p:spPr>
          <a:xfrm>
            <a:off x="8671343" y="1798275"/>
            <a:ext cx="1066773" cy="54862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906">
            <a:solidFill>
              <a:srgbClr val="9DB8DC"/>
            </a:solidFill>
            <a:prstDash val="dash"/>
          </a:ln>
        </p:spPr>
      </p:sp>
      <p:sp>
        <p:nvSpPr>
          <p:cNvPr id="104" name="text 104"/>
          <p:cNvSpPr txBox="1"/>
          <p:nvPr/>
        </p:nvSpPr>
        <p:spPr>
          <a:xfrm>
            <a:off x="8829835" y="1885903"/>
            <a:ext cx="749789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</a:t>
            </a:r>
            <a:endParaRPr lang="en-US" sz="900" dirty="0"/>
          </a:p>
        </p:txBody>
      </p:sp>
      <p:sp>
        <p:nvSpPr>
          <p:cNvPr id="105" name="text 105"/>
          <p:cNvSpPr txBox="1"/>
          <p:nvPr/>
        </p:nvSpPr>
        <p:spPr>
          <a:xfrm>
            <a:off x="8688107" y="2038299"/>
            <a:ext cx="103324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splats</a:t>
            </a:r>
            <a:endParaRPr lang="en-US" sz="720" dirty="0"/>
          </a:p>
        </p:txBody>
      </p:sp>
      <p:sp>
        <p:nvSpPr>
          <p:cNvPr id="106" name="text 106"/>
          <p:cNvSpPr txBox="1"/>
          <p:nvPr/>
        </p:nvSpPr>
        <p:spPr>
          <a:xfrm>
            <a:off x="8716452" y="2152596"/>
            <a:ext cx="976555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LiDAR points</a:t>
            </a:r>
            <a:endParaRPr lang="en-US" sz="720" dirty="0"/>
          </a:p>
        </p:txBody>
      </p:sp>
      <p:sp>
        <p:nvSpPr>
          <p:cNvPr id="107" name="arrow 107.0"/>
          <p:cNvSpPr/>
          <p:nvPr/>
        </p:nvSpPr>
        <p:spPr>
          <a:xfrm>
            <a:off x="6065368" y="2072588"/>
            <a:ext cx="60958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08" name="arrow 108.0"/>
          <p:cNvSpPr/>
          <p:nvPr/>
        </p:nvSpPr>
        <p:spPr>
          <a:xfrm>
            <a:off x="7208340" y="2072588"/>
            <a:ext cx="304792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09" name="arrow 109.0"/>
          <p:cNvSpPr/>
          <p:nvPr/>
        </p:nvSpPr>
        <p:spPr>
          <a:xfrm>
            <a:off x="8595145" y="2072588"/>
            <a:ext cx="60958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10" name="shape 110"/>
          <p:cNvSpPr/>
          <p:nvPr/>
        </p:nvSpPr>
        <p:spPr>
          <a:xfrm>
            <a:off x="4922397" y="2682173"/>
            <a:ext cx="4952876" cy="1097253"/>
          </a:xfrm>
          <a:prstGeom prst="roundRect">
            <a:avLst>
              <a:gd name="adj" fmla="val 4861"/>
            </a:avLst>
          </a:prstGeom>
          <a:solidFill>
            <a:srgbClr val="FBF0D9">
              <a:alpha val="60000"/>
            </a:srgbClr>
          </a:solidFill>
          <a:ln w="9144">
            <a:solidFill>
              <a:srgbClr val="E2C17D">
                <a:alpha val="60000"/>
              </a:srgbClr>
            </a:solidFill>
            <a:prstDash val="solid"/>
          </a:ln>
        </p:spPr>
      </p:sp>
      <p:sp>
        <p:nvSpPr>
          <p:cNvPr id="111" name="shape 111"/>
          <p:cNvSpPr/>
          <p:nvPr/>
        </p:nvSpPr>
        <p:spPr>
          <a:xfrm>
            <a:off x="4876678" y="2636454"/>
            <a:ext cx="4952876" cy="1097253"/>
          </a:xfrm>
          <a:prstGeom prst="roundRect">
            <a:avLst>
              <a:gd name="adj" fmla="val 4861"/>
            </a:avLst>
          </a:prstGeom>
          <a:solidFill>
            <a:srgbClr val="FBF0D9"/>
          </a:solidFill>
          <a:ln w="10668">
            <a:solidFill>
              <a:srgbClr val="E2C17D"/>
            </a:solidFill>
            <a:prstDash val="solid"/>
          </a:ln>
        </p:spPr>
      </p:sp>
      <p:sp>
        <p:nvSpPr>
          <p:cNvPr id="112" name="text 112"/>
          <p:cNvSpPr txBox="1"/>
          <p:nvPr/>
        </p:nvSpPr>
        <p:spPr>
          <a:xfrm>
            <a:off x="4998595" y="2697413"/>
            <a:ext cx="1203320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update</a:t>
            </a:r>
            <a:endParaRPr lang="en-US" sz="1080" dirty="0"/>
          </a:p>
        </p:txBody>
      </p:sp>
      <p:sp>
        <p:nvSpPr>
          <p:cNvPr id="113" name="shape 113"/>
          <p:cNvSpPr/>
          <p:nvPr/>
        </p:nvSpPr>
        <p:spPr>
          <a:xfrm>
            <a:off x="5029074" y="2941246"/>
            <a:ext cx="1257269" cy="6248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906">
            <a:solidFill>
              <a:srgbClr val="E2C17D"/>
            </a:solidFill>
            <a:prstDash val="dash"/>
          </a:ln>
        </p:spPr>
      </p:sp>
      <p:sp>
        <p:nvSpPr>
          <p:cNvPr id="114" name="text 114"/>
          <p:cNvSpPr txBox="1"/>
          <p:nvPr/>
        </p:nvSpPr>
        <p:spPr>
          <a:xfrm>
            <a:off x="5105653" y="3066973"/>
            <a:ext cx="1104110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</a:t>
            </a:r>
            <a:endParaRPr lang="en-US" sz="900" dirty="0"/>
          </a:p>
        </p:txBody>
      </p:sp>
      <p:sp>
        <p:nvSpPr>
          <p:cNvPr id="115" name="text 115"/>
          <p:cNvSpPr txBox="1"/>
          <p:nvPr/>
        </p:nvSpPr>
        <p:spPr>
          <a:xfrm>
            <a:off x="5027703" y="3219370"/>
            <a:ext cx="1260012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segments, materials</a:t>
            </a:r>
            <a:endParaRPr lang="en-US" sz="720" dirty="0"/>
          </a:p>
        </p:txBody>
      </p:sp>
      <p:sp>
        <p:nvSpPr>
          <p:cNvPr id="116" name="text 116"/>
          <p:cNvSpPr txBox="1"/>
          <p:nvPr/>
        </p:nvSpPr>
        <p:spPr>
          <a:xfrm>
            <a:off x="4857629" y="3333667"/>
            <a:ext cx="1600160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maintenance: prune, reuse</a:t>
            </a:r>
            <a:endParaRPr lang="en-US" sz="720" dirty="0"/>
          </a:p>
        </p:txBody>
      </p:sp>
      <p:sp>
        <p:nvSpPr>
          <p:cNvPr id="117" name="shape 117"/>
          <p:cNvSpPr/>
          <p:nvPr/>
        </p:nvSpPr>
        <p:spPr>
          <a:xfrm>
            <a:off x="6393020" y="2941246"/>
            <a:ext cx="1752556" cy="6248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906">
            <a:solidFill>
              <a:srgbClr val="E2C17D"/>
            </a:solidFill>
            <a:prstDash val="dash"/>
          </a:ln>
        </p:spPr>
      </p:sp>
      <p:sp>
        <p:nvSpPr>
          <p:cNvPr id="118" name="text 118"/>
          <p:cNvSpPr txBox="1"/>
          <p:nvPr/>
        </p:nvSpPr>
        <p:spPr>
          <a:xfrm>
            <a:off x="6610947" y="3009825"/>
            <a:ext cx="1316703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retrieval</a:t>
            </a:r>
            <a:endParaRPr lang="en-US" sz="900" dirty="0"/>
          </a:p>
        </p:txBody>
      </p:sp>
      <p:sp>
        <p:nvSpPr>
          <p:cNvPr id="119" name="text 119"/>
          <p:cNvSpPr txBox="1"/>
          <p:nvPr/>
        </p:nvSpPr>
        <p:spPr>
          <a:xfrm>
            <a:off x="6497564" y="3162221"/>
            <a:ext cx="1543469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 keyframes, SAM 3 mask</a:t>
            </a:r>
            <a:endParaRPr lang="en-US" sz="720" dirty="0"/>
          </a:p>
        </p:txBody>
      </p:sp>
      <p:sp>
        <p:nvSpPr>
          <p:cNvPr id="120" name="text 120"/>
          <p:cNvSpPr txBox="1"/>
          <p:nvPr/>
        </p:nvSpPr>
        <p:spPr>
          <a:xfrm>
            <a:off x="6355836" y="3276518"/>
            <a:ext cx="182692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depth, LiDAR scale/offset fit</a:t>
            </a:r>
            <a:endParaRPr lang="en-US" sz="720" dirty="0"/>
          </a:p>
        </p:txBody>
      </p:sp>
      <p:sp>
        <p:nvSpPr>
          <p:cNvPr id="121" name="text 121"/>
          <p:cNvSpPr txBox="1"/>
          <p:nvPr/>
        </p:nvSpPr>
        <p:spPr>
          <a:xfrm>
            <a:off x="6270798" y="3390815"/>
            <a:ext cx="1997000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fused cloud, cached per keyframe</a:t>
            </a:r>
            <a:endParaRPr lang="en-US" sz="720" dirty="0"/>
          </a:p>
        </p:txBody>
      </p:sp>
      <p:sp>
        <p:nvSpPr>
          <p:cNvPr id="122" name="shape 122"/>
          <p:cNvSpPr/>
          <p:nvPr/>
        </p:nvSpPr>
        <p:spPr>
          <a:xfrm>
            <a:off x="8252254" y="2941246"/>
            <a:ext cx="1272508" cy="624824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906">
            <a:solidFill>
              <a:srgbClr val="E2C17D"/>
            </a:solidFill>
            <a:prstDash val="dash"/>
          </a:ln>
        </p:spPr>
      </p:sp>
      <p:sp>
        <p:nvSpPr>
          <p:cNvPr id="123" name="text 123"/>
          <p:cNvSpPr txBox="1"/>
          <p:nvPr/>
        </p:nvSpPr>
        <p:spPr>
          <a:xfrm>
            <a:off x="8230156" y="3066973"/>
            <a:ext cx="1316703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detection</a:t>
            </a:r>
            <a:endParaRPr lang="en-US" sz="900" dirty="0"/>
          </a:p>
        </p:txBody>
      </p:sp>
      <p:sp>
        <p:nvSpPr>
          <p:cNvPr id="124" name="text 124"/>
          <p:cNvSpPr txBox="1"/>
          <p:nvPr/>
        </p:nvSpPr>
        <p:spPr>
          <a:xfrm>
            <a:off x="8060082" y="3219370"/>
            <a:ext cx="1656851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scans vs current twin</a:t>
            </a:r>
            <a:endParaRPr lang="en-US" sz="720" dirty="0"/>
          </a:p>
        </p:txBody>
      </p:sp>
      <p:sp>
        <p:nvSpPr>
          <p:cNvPr id="125" name="text 125"/>
          <p:cNvSpPr txBox="1"/>
          <p:nvPr/>
        </p:nvSpPr>
        <p:spPr>
          <a:xfrm>
            <a:off x="8286848" y="3333667"/>
            <a:ext cx="1203320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free-space carving</a:t>
            </a:r>
            <a:endParaRPr lang="en-US" sz="720" dirty="0"/>
          </a:p>
        </p:txBody>
      </p:sp>
      <p:sp>
        <p:nvSpPr>
          <p:cNvPr id="126" name="arrow 126.0"/>
          <p:cNvSpPr/>
          <p:nvPr/>
        </p:nvSpPr>
        <p:spPr>
          <a:xfrm flipH="1">
            <a:off x="8160816" y="3253659"/>
            <a:ext cx="91438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27" name="arrow 127.0"/>
          <p:cNvSpPr/>
          <p:nvPr/>
        </p:nvSpPr>
        <p:spPr>
          <a:xfrm flipH="1">
            <a:off x="6301582" y="3253659"/>
            <a:ext cx="91438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28" name="arrow 128.0"/>
          <p:cNvSpPr/>
          <p:nvPr/>
        </p:nvSpPr>
        <p:spPr>
          <a:xfrm>
            <a:off x="8915177" y="2346901"/>
            <a:ext cx="0" cy="579106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29" name="text 129"/>
          <p:cNvSpPr txBox="1"/>
          <p:nvPr/>
        </p:nvSpPr>
        <p:spPr>
          <a:xfrm>
            <a:off x="8976136" y="2499298"/>
            <a:ext cx="63640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</a:t>
            </a:r>
            <a:endParaRPr lang="en-US" sz="720" dirty="0"/>
          </a:p>
        </p:txBody>
      </p:sp>
      <p:sp>
        <p:nvSpPr>
          <p:cNvPr id="130" name="shape 130"/>
          <p:cNvSpPr/>
          <p:nvPr/>
        </p:nvSpPr>
        <p:spPr>
          <a:xfrm>
            <a:off x="10027669" y="1539202"/>
            <a:ext cx="1828754" cy="2240224"/>
          </a:xfrm>
          <a:prstGeom prst="roundRect">
            <a:avLst>
              <a:gd name="adj" fmla="val 2917"/>
            </a:avLst>
          </a:prstGeom>
          <a:solidFill>
            <a:srgbClr val="E1F2E8">
              <a:alpha val="60000"/>
            </a:srgbClr>
          </a:solidFill>
          <a:ln w="9144">
            <a:solidFill>
              <a:srgbClr val="8FC4A5">
                <a:alpha val="60000"/>
              </a:srgbClr>
            </a:solidFill>
            <a:prstDash val="solid"/>
          </a:ln>
        </p:spPr>
      </p:sp>
      <p:sp>
        <p:nvSpPr>
          <p:cNvPr id="131" name="shape 131"/>
          <p:cNvSpPr/>
          <p:nvPr/>
        </p:nvSpPr>
        <p:spPr>
          <a:xfrm>
            <a:off x="9981950" y="1493483"/>
            <a:ext cx="1828754" cy="2240224"/>
          </a:xfrm>
          <a:prstGeom prst="roundRect">
            <a:avLst>
              <a:gd name="adj" fmla="val 2917"/>
            </a:avLst>
          </a:prstGeom>
          <a:solidFill>
            <a:srgbClr val="E1F2E8"/>
          </a:solidFill>
          <a:ln w="10668">
            <a:solidFill>
              <a:srgbClr val="8FC4A5"/>
            </a:solidFill>
            <a:prstDash val="solid"/>
          </a:ln>
        </p:spPr>
      </p:sp>
      <p:sp>
        <p:nvSpPr>
          <p:cNvPr id="132" name="text 132"/>
          <p:cNvSpPr txBox="1"/>
          <p:nvPr/>
        </p:nvSpPr>
        <p:spPr>
          <a:xfrm>
            <a:off x="10103867" y="1554441"/>
            <a:ext cx="1203320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twin</a:t>
            </a:r>
            <a:endParaRPr lang="en-US" sz="1080" dirty="0"/>
          </a:p>
        </p:txBody>
      </p:sp>
      <p:sp>
        <p:nvSpPr>
          <p:cNvPr id="133" name="text 133"/>
          <p:cNvSpPr txBox="1"/>
          <p:nvPr/>
        </p:nvSpPr>
        <p:spPr>
          <a:xfrm>
            <a:off x="10989670" y="1588730"/>
            <a:ext cx="714357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</a:t>
            </a:r>
            <a:endParaRPr lang="en-US" sz="750" dirty="0"/>
          </a:p>
        </p:txBody>
      </p:sp>
      <p:sp>
        <p:nvSpPr>
          <p:cNvPr id="134" name="shape 134"/>
          <p:cNvSpPr/>
          <p:nvPr/>
        </p:nvSpPr>
        <p:spPr>
          <a:xfrm>
            <a:off x="10103867" y="1767796"/>
            <a:ext cx="1584920" cy="36575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906">
            <a:solidFill>
              <a:srgbClr val="8FC4A5"/>
            </a:solidFill>
            <a:prstDash val="dash"/>
          </a:ln>
        </p:spPr>
      </p:sp>
      <p:sp>
        <p:nvSpPr>
          <p:cNvPr id="135" name="text 135"/>
          <p:cNvSpPr txBox="1"/>
          <p:nvPr/>
        </p:nvSpPr>
        <p:spPr>
          <a:xfrm>
            <a:off x="10415137" y="1821134"/>
            <a:ext cx="962382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update</a:t>
            </a:r>
            <a:endParaRPr lang="en-US" sz="900" dirty="0"/>
          </a:p>
        </p:txBody>
      </p:sp>
      <p:sp>
        <p:nvSpPr>
          <p:cNvPr id="136" name="text 136"/>
          <p:cNvSpPr txBox="1"/>
          <p:nvPr/>
        </p:nvSpPr>
        <p:spPr>
          <a:xfrm>
            <a:off x="9926173" y="1973531"/>
            <a:ext cx="1940308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on stored keyframe packs</a:t>
            </a:r>
            <a:endParaRPr lang="en-US" sz="720" dirty="0"/>
          </a:p>
        </p:txBody>
      </p:sp>
      <p:sp>
        <p:nvSpPr>
          <p:cNvPr id="137" name="shape 137"/>
          <p:cNvSpPr/>
          <p:nvPr/>
        </p:nvSpPr>
        <p:spPr>
          <a:xfrm>
            <a:off x="10103867" y="2247844"/>
            <a:ext cx="1584920" cy="36575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906">
            <a:solidFill>
              <a:srgbClr val="8FC4A5"/>
            </a:solidFill>
            <a:prstDash val="solid"/>
          </a:ln>
        </p:spPr>
      </p:sp>
      <p:sp>
        <p:nvSpPr>
          <p:cNvPr id="138" name="text 138"/>
          <p:cNvSpPr txBox="1"/>
          <p:nvPr/>
        </p:nvSpPr>
        <p:spPr>
          <a:xfrm>
            <a:off x="10486001" y="2301182"/>
            <a:ext cx="820653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GLIM + BA</a:t>
            </a:r>
            <a:endParaRPr lang="en-US" sz="900" dirty="0"/>
          </a:p>
        </p:txBody>
      </p:sp>
      <p:sp>
        <p:nvSpPr>
          <p:cNvPr id="139" name="text 139"/>
          <p:cNvSpPr txBox="1"/>
          <p:nvPr/>
        </p:nvSpPr>
        <p:spPr>
          <a:xfrm>
            <a:off x="10039556" y="2453579"/>
            <a:ext cx="1713543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GLIM map, board check: 4 mm</a:t>
            </a:r>
            <a:endParaRPr lang="en-US" sz="720" dirty="0"/>
          </a:p>
        </p:txBody>
      </p:sp>
      <p:sp>
        <p:nvSpPr>
          <p:cNvPr id="140" name="arrow 140.0"/>
          <p:cNvSpPr/>
          <p:nvPr/>
        </p:nvSpPr>
        <p:spPr>
          <a:xfrm>
            <a:off x="10896328" y="2133547"/>
            <a:ext cx="0" cy="106677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41" name="shape 141"/>
          <p:cNvSpPr/>
          <p:nvPr/>
        </p:nvSpPr>
        <p:spPr>
          <a:xfrm>
            <a:off x="10103867" y="2727892"/>
            <a:ext cx="1584920" cy="36575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906">
            <a:solidFill>
              <a:srgbClr val="8FC4A5"/>
            </a:solidFill>
            <a:prstDash val="solid"/>
          </a:ln>
        </p:spPr>
      </p:sp>
      <p:sp>
        <p:nvSpPr>
          <p:cNvPr id="142" name="text 142"/>
          <p:cNvSpPr txBox="1"/>
          <p:nvPr/>
        </p:nvSpPr>
        <p:spPr>
          <a:xfrm>
            <a:off x="10379705" y="2781230"/>
            <a:ext cx="1033246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Anchored map</a:t>
            </a:r>
            <a:endParaRPr lang="en-US" sz="900" dirty="0"/>
          </a:p>
        </p:txBody>
      </p:sp>
      <p:sp>
        <p:nvSpPr>
          <p:cNvPr id="143" name="text 143"/>
          <p:cNvSpPr txBox="1"/>
          <p:nvPr/>
        </p:nvSpPr>
        <p:spPr>
          <a:xfrm>
            <a:off x="9982865" y="2933627"/>
            <a:ext cx="182692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~1.3 cm · version n</a:t>
            </a:r>
            <a:endParaRPr lang="en-US" sz="720" dirty="0"/>
          </a:p>
        </p:txBody>
      </p:sp>
      <p:sp>
        <p:nvSpPr>
          <p:cNvPr id="144" name="arrow 144.0"/>
          <p:cNvSpPr/>
          <p:nvPr/>
        </p:nvSpPr>
        <p:spPr>
          <a:xfrm>
            <a:off x="10896328" y="2613595"/>
            <a:ext cx="0" cy="106677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45" name="shape 145"/>
          <p:cNvSpPr/>
          <p:nvPr/>
        </p:nvSpPr>
        <p:spPr>
          <a:xfrm>
            <a:off x="10103867" y="3207940"/>
            <a:ext cx="1584920" cy="365751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906">
            <a:solidFill>
              <a:srgbClr val="8FC4A5"/>
            </a:solidFill>
            <a:prstDash val="solid"/>
          </a:ln>
        </p:spPr>
      </p:sp>
      <p:sp>
        <p:nvSpPr>
          <p:cNvPr id="146" name="text 146"/>
          <p:cNvSpPr txBox="1"/>
          <p:nvPr/>
        </p:nvSpPr>
        <p:spPr>
          <a:xfrm>
            <a:off x="10273408" y="3261278"/>
            <a:ext cx="1245839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LOD-3DGS + mesh</a:t>
            </a:r>
            <a:endParaRPr lang="en-US" sz="900" dirty="0"/>
          </a:p>
        </p:txBody>
      </p:sp>
      <p:sp>
        <p:nvSpPr>
          <p:cNvPr id="147" name="text 147"/>
          <p:cNvSpPr txBox="1"/>
          <p:nvPr/>
        </p:nvSpPr>
        <p:spPr>
          <a:xfrm>
            <a:off x="10152939" y="3413675"/>
            <a:ext cx="1486777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splats, radio mesh</a:t>
            </a:r>
            <a:endParaRPr lang="en-US" sz="720" dirty="0"/>
          </a:p>
        </p:txBody>
      </p:sp>
      <p:sp>
        <p:nvSpPr>
          <p:cNvPr id="148" name="arrow 148.0"/>
          <p:cNvSpPr/>
          <p:nvPr/>
        </p:nvSpPr>
        <p:spPr>
          <a:xfrm>
            <a:off x="10896328" y="3093643"/>
            <a:ext cx="0" cy="106677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49" name="shape 149"/>
          <p:cNvSpPr/>
          <p:nvPr/>
        </p:nvSpPr>
        <p:spPr>
          <a:xfrm>
            <a:off x="4922397" y="3947061"/>
            <a:ext cx="6934027" cy="1021054"/>
          </a:xfrm>
          <a:prstGeom prst="roundRect">
            <a:avLst>
              <a:gd name="adj" fmla="val 5224"/>
            </a:avLst>
          </a:prstGeom>
          <a:solidFill>
            <a:srgbClr val="FCEFDC">
              <a:alpha val="60000"/>
            </a:srgbClr>
          </a:solidFill>
          <a:ln w="9144">
            <a:solidFill>
              <a:srgbClr val="E6BF86">
                <a:alpha val="60000"/>
              </a:srgbClr>
            </a:solidFill>
            <a:prstDash val="solid"/>
          </a:ln>
        </p:spPr>
      </p:sp>
      <p:sp>
        <p:nvSpPr>
          <p:cNvPr id="150" name="shape 150"/>
          <p:cNvSpPr/>
          <p:nvPr/>
        </p:nvSpPr>
        <p:spPr>
          <a:xfrm>
            <a:off x="4876678" y="3901342"/>
            <a:ext cx="6934027" cy="1021054"/>
          </a:xfrm>
          <a:prstGeom prst="roundRect">
            <a:avLst>
              <a:gd name="adj" fmla="val 5224"/>
            </a:avLst>
          </a:prstGeom>
          <a:solidFill>
            <a:srgbClr val="FCEFDC"/>
          </a:solidFill>
          <a:ln w="10668">
            <a:solidFill>
              <a:srgbClr val="E6BF86"/>
            </a:solidFill>
            <a:prstDash val="solid"/>
          </a:ln>
        </p:spPr>
      </p:sp>
      <p:sp>
        <p:nvSpPr>
          <p:cNvPr id="151" name="text 151"/>
          <p:cNvSpPr txBox="1"/>
          <p:nvPr/>
        </p:nvSpPr>
        <p:spPr>
          <a:xfrm>
            <a:off x="4998595" y="3962301"/>
            <a:ext cx="948209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Isaac Sim</a:t>
            </a:r>
            <a:endParaRPr lang="en-US" sz="1080" dirty="0"/>
          </a:p>
        </p:txBody>
      </p:sp>
      <p:sp>
        <p:nvSpPr>
          <p:cNvPr id="152" name="text 152"/>
          <p:cNvSpPr txBox="1"/>
          <p:nvPr/>
        </p:nvSpPr>
        <p:spPr>
          <a:xfrm>
            <a:off x="10989670" y="3996590"/>
            <a:ext cx="714357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stage</a:t>
            </a:r>
            <a:endParaRPr lang="en-US" sz="750" dirty="0"/>
          </a:p>
        </p:txBody>
      </p:sp>
      <p:sp>
        <p:nvSpPr>
          <p:cNvPr id="153" name="shape 153"/>
          <p:cNvSpPr/>
          <p:nvPr/>
        </p:nvSpPr>
        <p:spPr>
          <a:xfrm>
            <a:off x="5029074" y="4206135"/>
            <a:ext cx="1546821" cy="57910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906">
            <a:solidFill>
              <a:srgbClr val="E6BF86"/>
            </a:solidFill>
            <a:prstDash val="dash"/>
          </a:ln>
        </p:spPr>
      </p:sp>
      <p:sp>
        <p:nvSpPr>
          <p:cNvPr id="154" name="text 154"/>
          <p:cNvSpPr txBox="1"/>
          <p:nvPr/>
        </p:nvSpPr>
        <p:spPr>
          <a:xfrm>
            <a:off x="4966973" y="4309002"/>
            <a:ext cx="1671024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+ antenna prims</a:t>
            </a:r>
            <a:endParaRPr lang="en-US" sz="900" dirty="0"/>
          </a:p>
        </p:txBody>
      </p:sp>
      <p:sp>
        <p:nvSpPr>
          <p:cNvPr id="155" name="text 155"/>
          <p:cNvSpPr txBox="1"/>
          <p:nvPr/>
        </p:nvSpPr>
        <p:spPr>
          <a:xfrm>
            <a:off x="4889022" y="4461398"/>
            <a:ext cx="182692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 robot, map-frame pose</a:t>
            </a:r>
            <a:endParaRPr lang="en-US" sz="720" dirty="0"/>
          </a:p>
        </p:txBody>
      </p:sp>
      <p:sp>
        <p:nvSpPr>
          <p:cNvPr id="156" name="text 156"/>
          <p:cNvSpPr txBox="1"/>
          <p:nvPr/>
        </p:nvSpPr>
        <p:spPr>
          <a:xfrm>
            <a:off x="5399245" y="4575696"/>
            <a:ext cx="806481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frame</a:t>
            </a:r>
            <a:endParaRPr lang="en-US" sz="720" dirty="0"/>
          </a:p>
        </p:txBody>
      </p:sp>
      <p:sp>
        <p:nvSpPr>
          <p:cNvPr id="157" name="shape 157"/>
          <p:cNvSpPr/>
          <p:nvPr/>
        </p:nvSpPr>
        <p:spPr>
          <a:xfrm>
            <a:off x="6728292" y="4206135"/>
            <a:ext cx="1546821" cy="57910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906">
            <a:solidFill>
              <a:srgbClr val="E6BF86"/>
            </a:solidFill>
            <a:prstDash val="dash"/>
          </a:ln>
        </p:spPr>
      </p:sp>
      <p:sp>
        <p:nvSpPr>
          <p:cNvPr id="158" name="text 158"/>
          <p:cNvSpPr txBox="1"/>
          <p:nvPr/>
        </p:nvSpPr>
        <p:spPr>
          <a:xfrm>
            <a:off x="6914215" y="4309002"/>
            <a:ext cx="1174975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</a:t>
            </a:r>
            <a:endParaRPr lang="en-US" sz="900" dirty="0"/>
          </a:p>
        </p:txBody>
      </p:sp>
      <p:sp>
        <p:nvSpPr>
          <p:cNvPr id="159" name="text 159"/>
          <p:cNvSpPr txBox="1"/>
          <p:nvPr/>
        </p:nvSpPr>
        <p:spPr>
          <a:xfrm>
            <a:off x="6616585" y="4461398"/>
            <a:ext cx="1770234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+ instance ID per prim</a:t>
            </a:r>
            <a:endParaRPr lang="en-US" sz="720" dirty="0"/>
          </a:p>
        </p:txBody>
      </p:sp>
      <p:sp>
        <p:nvSpPr>
          <p:cNvPr id="160" name="text 160"/>
          <p:cNvSpPr txBox="1"/>
          <p:nvPr/>
        </p:nvSpPr>
        <p:spPr>
          <a:xfrm>
            <a:off x="6928388" y="4575696"/>
            <a:ext cx="1146629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scene update</a:t>
            </a:r>
            <a:endParaRPr lang="en-US" sz="720" dirty="0"/>
          </a:p>
        </p:txBody>
      </p:sp>
      <p:sp>
        <p:nvSpPr>
          <p:cNvPr id="161" name="shape 161"/>
          <p:cNvSpPr/>
          <p:nvPr/>
        </p:nvSpPr>
        <p:spPr>
          <a:xfrm>
            <a:off x="8427509" y="4206135"/>
            <a:ext cx="1546821" cy="57910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906">
            <a:solidFill>
              <a:srgbClr val="E6BF86"/>
            </a:solidFill>
            <a:prstDash val="dash"/>
          </a:ln>
        </p:spPr>
      </p:sp>
      <p:sp>
        <p:nvSpPr>
          <p:cNvPr id="162" name="text 162"/>
          <p:cNvSpPr txBox="1"/>
          <p:nvPr/>
        </p:nvSpPr>
        <p:spPr>
          <a:xfrm>
            <a:off x="8613433" y="4309002"/>
            <a:ext cx="1174975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layer</a:t>
            </a:r>
            <a:endParaRPr lang="en-US" sz="900" dirty="0"/>
          </a:p>
        </p:txBody>
      </p:sp>
      <p:sp>
        <p:nvSpPr>
          <p:cNvPr id="163" name="text 163"/>
          <p:cNvSpPr txBox="1"/>
          <p:nvPr/>
        </p:nvSpPr>
        <p:spPr>
          <a:xfrm>
            <a:off x="8485877" y="4461398"/>
            <a:ext cx="143008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twin splats + live map</a:t>
            </a:r>
            <a:endParaRPr lang="en-US" sz="720" dirty="0"/>
          </a:p>
        </p:txBody>
      </p:sp>
      <p:sp>
        <p:nvSpPr>
          <p:cNvPr id="164" name="text 164"/>
          <p:cNvSpPr txBox="1"/>
          <p:nvPr/>
        </p:nvSpPr>
        <p:spPr>
          <a:xfrm>
            <a:off x="8797680" y="4575696"/>
            <a:ext cx="806481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visuals</a:t>
            </a:r>
            <a:endParaRPr lang="en-US" sz="720" dirty="0"/>
          </a:p>
        </p:txBody>
      </p:sp>
      <p:sp>
        <p:nvSpPr>
          <p:cNvPr id="165" name="shape 165"/>
          <p:cNvSpPr/>
          <p:nvPr/>
        </p:nvSpPr>
        <p:spPr>
          <a:xfrm>
            <a:off x="10126727" y="4206135"/>
            <a:ext cx="1546821" cy="57910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906">
            <a:solidFill>
              <a:srgbClr val="E6BF86"/>
            </a:solidFill>
            <a:prstDash val="dash"/>
          </a:ln>
        </p:spPr>
      </p:sp>
      <p:sp>
        <p:nvSpPr>
          <p:cNvPr id="166" name="text 166"/>
          <p:cNvSpPr txBox="1"/>
          <p:nvPr/>
        </p:nvSpPr>
        <p:spPr>
          <a:xfrm>
            <a:off x="10454379" y="4366151"/>
            <a:ext cx="891518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layer</a:t>
            </a:r>
            <a:endParaRPr lang="en-US" sz="900" dirty="0"/>
          </a:p>
        </p:txBody>
      </p:sp>
      <p:sp>
        <p:nvSpPr>
          <p:cNvPr id="167" name="text 167"/>
          <p:cNvSpPr txBox="1"/>
          <p:nvPr/>
        </p:nvSpPr>
        <p:spPr>
          <a:xfrm>
            <a:off x="10128403" y="4518547"/>
            <a:ext cx="1543469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physics, radio materials</a:t>
            </a:r>
            <a:endParaRPr lang="en-US" sz="720" dirty="0"/>
          </a:p>
        </p:txBody>
      </p:sp>
      <p:sp>
        <p:nvSpPr>
          <p:cNvPr id="168" name="arrow 168.0"/>
          <p:cNvSpPr/>
          <p:nvPr/>
        </p:nvSpPr>
        <p:spPr>
          <a:xfrm>
            <a:off x="5752956" y="3566071"/>
            <a:ext cx="0" cy="320032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69" name="text 169"/>
          <p:cNvSpPr txBox="1"/>
          <p:nvPr/>
        </p:nvSpPr>
        <p:spPr>
          <a:xfrm>
            <a:off x="5813915" y="3672748"/>
            <a:ext cx="693098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edits</a:t>
            </a:r>
            <a:endParaRPr lang="en-US" sz="720" dirty="0"/>
          </a:p>
        </p:txBody>
      </p:sp>
      <p:sp>
        <p:nvSpPr>
          <p:cNvPr id="170" name="arrow 170.0"/>
          <p:cNvSpPr/>
          <p:nvPr/>
        </p:nvSpPr>
        <p:spPr>
          <a:xfrm>
            <a:off x="6857829" y="3566071"/>
            <a:ext cx="0" cy="624824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71" name="text 171"/>
          <p:cNvSpPr txBox="1"/>
          <p:nvPr/>
        </p:nvSpPr>
        <p:spPr>
          <a:xfrm>
            <a:off x="6918787" y="3672748"/>
            <a:ext cx="863172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classes, IDs</a:t>
            </a:r>
            <a:endParaRPr lang="en-US" sz="720" dirty="0"/>
          </a:p>
        </p:txBody>
      </p:sp>
      <p:sp>
        <p:nvSpPr>
          <p:cNvPr id="172" name="arrow 172.0"/>
          <p:cNvSpPr/>
          <p:nvPr/>
        </p:nvSpPr>
        <p:spPr>
          <a:xfrm>
            <a:off x="10896328" y="3573691"/>
            <a:ext cx="0" cy="617205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73" name="text 173"/>
          <p:cNvSpPr txBox="1"/>
          <p:nvPr/>
        </p:nvSpPr>
        <p:spPr>
          <a:xfrm>
            <a:off x="9972197" y="3947061"/>
            <a:ext cx="863172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splats, mesh</a:t>
            </a:r>
            <a:endParaRPr lang="en-US" sz="720" dirty="0"/>
          </a:p>
        </p:txBody>
      </p:sp>
      <p:sp>
        <p:nvSpPr>
          <p:cNvPr id="174" name="shape 174"/>
          <p:cNvSpPr/>
          <p:nvPr/>
        </p:nvSpPr>
        <p:spPr>
          <a:xfrm>
            <a:off x="4922397" y="5120512"/>
            <a:ext cx="6934027" cy="944856"/>
          </a:xfrm>
          <a:prstGeom prst="roundRect">
            <a:avLst>
              <a:gd name="adj" fmla="val 5645"/>
            </a:avLst>
          </a:prstGeom>
          <a:solidFill>
            <a:srgbClr val="ECE6F7">
              <a:alpha val="60000"/>
            </a:srgbClr>
          </a:solidFill>
          <a:ln w="9144">
            <a:solidFill>
              <a:srgbClr val="B4A2DC">
                <a:alpha val="60000"/>
              </a:srgbClr>
            </a:solidFill>
            <a:prstDash val="solid"/>
          </a:ln>
        </p:spPr>
      </p:sp>
      <p:sp>
        <p:nvSpPr>
          <p:cNvPr id="175" name="shape 175"/>
          <p:cNvSpPr/>
          <p:nvPr/>
        </p:nvSpPr>
        <p:spPr>
          <a:xfrm>
            <a:off x="4876678" y="5074793"/>
            <a:ext cx="6934027" cy="944856"/>
          </a:xfrm>
          <a:prstGeom prst="roundRect">
            <a:avLst>
              <a:gd name="adj" fmla="val 5645"/>
            </a:avLst>
          </a:prstGeom>
          <a:solidFill>
            <a:srgbClr val="ECE6F7"/>
          </a:solidFill>
          <a:ln w="10668">
            <a:solidFill>
              <a:srgbClr val="B4A2DC"/>
            </a:solidFill>
            <a:prstDash val="solid"/>
          </a:ln>
        </p:spPr>
      </p:sp>
      <p:sp>
        <p:nvSpPr>
          <p:cNvPr id="176" name="text 176"/>
          <p:cNvSpPr txBox="1"/>
          <p:nvPr/>
        </p:nvSpPr>
        <p:spPr>
          <a:xfrm>
            <a:off x="4998595" y="5135752"/>
            <a:ext cx="948209" cy="18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Sionna RT</a:t>
            </a:r>
            <a:endParaRPr lang="en-US" sz="1080" dirty="0"/>
          </a:p>
        </p:txBody>
      </p:sp>
      <p:sp>
        <p:nvSpPr>
          <p:cNvPr id="177" name="shape 177"/>
          <p:cNvSpPr/>
          <p:nvPr/>
        </p:nvSpPr>
        <p:spPr>
          <a:xfrm>
            <a:off x="5029074" y="5364346"/>
            <a:ext cx="1523962" cy="502907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906">
            <a:solidFill>
              <a:srgbClr val="B4A2DC"/>
            </a:solidFill>
            <a:prstDash val="solid"/>
          </a:ln>
        </p:spPr>
      </p:sp>
      <p:sp>
        <p:nvSpPr>
          <p:cNvPr id="178" name="text 178"/>
          <p:cNvSpPr txBox="1"/>
          <p:nvPr/>
        </p:nvSpPr>
        <p:spPr>
          <a:xfrm>
            <a:off x="5274432" y="5486263"/>
            <a:ext cx="1033246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export</a:t>
            </a:r>
            <a:endParaRPr lang="en-US" sz="900" dirty="0"/>
          </a:p>
        </p:txBody>
      </p:sp>
      <p:sp>
        <p:nvSpPr>
          <p:cNvPr id="179" name="text 179"/>
          <p:cNvSpPr txBox="1"/>
          <p:nvPr/>
        </p:nvSpPr>
        <p:spPr>
          <a:xfrm>
            <a:off x="5132704" y="5638659"/>
            <a:ext cx="1316703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to Mitsuba scene</a:t>
            </a:r>
            <a:endParaRPr lang="en-US" sz="720" dirty="0"/>
          </a:p>
        </p:txBody>
      </p:sp>
      <p:sp>
        <p:nvSpPr>
          <p:cNvPr id="180" name="shape 180"/>
          <p:cNvSpPr/>
          <p:nvPr/>
        </p:nvSpPr>
        <p:spPr>
          <a:xfrm>
            <a:off x="6705432" y="5364346"/>
            <a:ext cx="1523962" cy="502907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906">
            <a:solidFill>
              <a:srgbClr val="B4A2DC"/>
            </a:solidFill>
            <a:prstDash val="solid"/>
          </a:ln>
        </p:spPr>
      </p:sp>
      <p:sp>
        <p:nvSpPr>
          <p:cNvPr id="181" name="text 181"/>
          <p:cNvSpPr txBox="1"/>
          <p:nvPr/>
        </p:nvSpPr>
        <p:spPr>
          <a:xfrm>
            <a:off x="6986222" y="5486263"/>
            <a:ext cx="962382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solver</a:t>
            </a:r>
            <a:endParaRPr lang="en-US" sz="900" dirty="0"/>
          </a:p>
        </p:txBody>
      </p:sp>
      <p:sp>
        <p:nvSpPr>
          <p:cNvPr id="182" name="text 182"/>
          <p:cNvSpPr txBox="1"/>
          <p:nvPr/>
        </p:nvSpPr>
        <p:spPr>
          <a:xfrm>
            <a:off x="6950790" y="5638659"/>
            <a:ext cx="103324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Tx/Rx links</a:t>
            </a:r>
            <a:endParaRPr lang="en-US" sz="720" dirty="0"/>
          </a:p>
        </p:txBody>
      </p:sp>
      <p:sp>
        <p:nvSpPr>
          <p:cNvPr id="183" name="shape 183"/>
          <p:cNvSpPr/>
          <p:nvPr/>
        </p:nvSpPr>
        <p:spPr>
          <a:xfrm>
            <a:off x="8381790" y="5364346"/>
            <a:ext cx="1523962" cy="502907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906">
            <a:solidFill>
              <a:srgbClr val="B4A2DC"/>
            </a:solidFill>
            <a:prstDash val="solid"/>
          </a:ln>
        </p:spPr>
      </p:sp>
      <p:sp>
        <p:nvSpPr>
          <p:cNvPr id="184" name="text 184"/>
          <p:cNvSpPr txBox="1"/>
          <p:nvPr/>
        </p:nvSpPr>
        <p:spPr>
          <a:xfrm>
            <a:off x="8556284" y="5486263"/>
            <a:ext cx="1174975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output</a:t>
            </a:r>
            <a:endParaRPr lang="en-US" sz="900" dirty="0"/>
          </a:p>
        </p:txBody>
      </p:sp>
      <p:sp>
        <p:nvSpPr>
          <p:cNvPr id="185" name="text 185"/>
          <p:cNvSpPr txBox="1"/>
          <p:nvPr/>
        </p:nvSpPr>
        <p:spPr>
          <a:xfrm>
            <a:off x="8400383" y="5638659"/>
            <a:ext cx="1486777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 per link, radio map</a:t>
            </a:r>
            <a:endParaRPr lang="en-US" sz="720" dirty="0"/>
          </a:p>
        </p:txBody>
      </p:sp>
      <p:sp>
        <p:nvSpPr>
          <p:cNvPr id="186" name="shape 186"/>
          <p:cNvSpPr/>
          <p:nvPr/>
        </p:nvSpPr>
        <p:spPr>
          <a:xfrm>
            <a:off x="10058149" y="5364346"/>
            <a:ext cx="1615400" cy="502907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906">
            <a:solidFill>
              <a:srgbClr val="B4A2DC"/>
            </a:solidFill>
            <a:prstDash val="dash"/>
          </a:ln>
        </p:spPr>
      </p:sp>
      <p:sp>
        <p:nvSpPr>
          <p:cNvPr id="187" name="text 187"/>
          <p:cNvSpPr txBox="1"/>
          <p:nvPr/>
        </p:nvSpPr>
        <p:spPr>
          <a:xfrm>
            <a:off x="10420089" y="5429114"/>
            <a:ext cx="891518" cy="15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188" name="text 188"/>
          <p:cNvSpPr txBox="1"/>
          <p:nvPr/>
        </p:nvSpPr>
        <p:spPr>
          <a:xfrm>
            <a:off x="9952386" y="5581510"/>
            <a:ext cx="1826926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CSI / RSSI (sniffer)</a:t>
            </a:r>
            <a:endParaRPr lang="en-US" sz="720" dirty="0"/>
          </a:p>
        </p:txBody>
      </p:sp>
      <p:sp>
        <p:nvSpPr>
          <p:cNvPr id="189" name="text 189"/>
          <p:cNvSpPr txBox="1"/>
          <p:nvPr/>
        </p:nvSpPr>
        <p:spPr>
          <a:xfrm>
            <a:off x="10207497" y="5695808"/>
            <a:ext cx="1316703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simulated channel</a:t>
            </a:r>
            <a:endParaRPr lang="en-US" sz="720" dirty="0"/>
          </a:p>
        </p:txBody>
      </p:sp>
      <p:sp>
        <p:nvSpPr>
          <p:cNvPr id="190" name="arrow 190.0"/>
          <p:cNvSpPr/>
          <p:nvPr/>
        </p:nvSpPr>
        <p:spPr>
          <a:xfrm>
            <a:off x="6553036" y="5615800"/>
            <a:ext cx="137157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91" name="arrow 191.0"/>
          <p:cNvSpPr/>
          <p:nvPr/>
        </p:nvSpPr>
        <p:spPr>
          <a:xfrm>
            <a:off x="8229394" y="5615800"/>
            <a:ext cx="137157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92" name="arrow 192.0"/>
          <p:cNvSpPr/>
          <p:nvPr/>
        </p:nvSpPr>
        <p:spPr>
          <a:xfrm>
            <a:off x="9905752" y="5615800"/>
            <a:ext cx="137157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93" name="arrow 193.0"/>
          <p:cNvSpPr/>
          <p:nvPr/>
        </p:nvSpPr>
        <p:spPr>
          <a:xfrm>
            <a:off x="6095848" y="4922397"/>
            <a:ext cx="0" cy="426709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94" name="text 194"/>
          <p:cNvSpPr txBox="1"/>
          <p:nvPr/>
        </p:nvSpPr>
        <p:spPr>
          <a:xfrm>
            <a:off x="6156806" y="5090033"/>
            <a:ext cx="2110382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meshes, materials, all Tx/Rx poses</a:t>
            </a:r>
            <a:endParaRPr lang="en-US" sz="720" dirty="0"/>
          </a:p>
        </p:txBody>
      </p:sp>
      <p:sp>
        <p:nvSpPr>
          <p:cNvPr id="195" name="arrow 195.0"/>
          <p:cNvSpPr/>
          <p:nvPr/>
        </p:nvSpPr>
        <p:spPr>
          <a:xfrm flipV="1">
            <a:off x="8534187" y="3581310"/>
            <a:ext cx="0" cy="609585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96" name="text 196"/>
          <p:cNvSpPr txBox="1"/>
          <p:nvPr/>
        </p:nvSpPr>
        <p:spPr>
          <a:xfrm>
            <a:off x="7553365" y="3748946"/>
            <a:ext cx="919863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view</a:t>
            </a:r>
            <a:endParaRPr lang="en-US" sz="720" dirty="0"/>
          </a:p>
        </p:txBody>
      </p:sp>
      <p:sp>
        <p:nvSpPr>
          <p:cNvPr id="197" name="arrow 197.0"/>
          <p:cNvSpPr/>
          <p:nvPr/>
        </p:nvSpPr>
        <p:spPr>
          <a:xfrm>
            <a:off x="9616200" y="2346901"/>
            <a:ext cx="0" cy="1843994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198" name="arrow 198.0"/>
          <p:cNvSpPr/>
          <p:nvPr/>
        </p:nvSpPr>
        <p:spPr>
          <a:xfrm>
            <a:off x="9524762" y="3390815"/>
            <a:ext cx="380990" cy="0"/>
          </a:xfrm>
          <a:prstGeom prst="line">
            <a:avLst/>
          </a:prstGeom>
          <a:noFill/>
          <a:ln w="11430">
            <a:solidFill>
              <a:srgbClr val="222222"/>
            </a:solidFill>
            <a:prstDash val="dash"/>
          </a:ln>
        </p:spPr>
      </p:sp>
      <p:sp>
        <p:nvSpPr>
          <p:cNvPr id="199" name="arrow 198.1"/>
          <p:cNvSpPr/>
          <p:nvPr/>
        </p:nvSpPr>
        <p:spPr>
          <a:xfrm flipV="1">
            <a:off x="9905752" y="1950671"/>
            <a:ext cx="0" cy="1440144"/>
          </a:xfrm>
          <a:prstGeom prst="line">
            <a:avLst/>
          </a:prstGeom>
          <a:noFill/>
          <a:ln w="11430">
            <a:solidFill>
              <a:srgbClr val="222222"/>
            </a:solidFill>
            <a:prstDash val="dash"/>
          </a:ln>
        </p:spPr>
      </p:sp>
      <p:sp>
        <p:nvSpPr>
          <p:cNvPr id="200" name="arrow 198.2"/>
          <p:cNvSpPr/>
          <p:nvPr/>
        </p:nvSpPr>
        <p:spPr>
          <a:xfrm>
            <a:off x="9905752" y="1950671"/>
            <a:ext cx="182875" cy="0"/>
          </a:xfrm>
          <a:prstGeom prst="line">
            <a:avLst/>
          </a:prstGeom>
          <a:noFill/>
          <a:ln w="11430">
            <a:solidFill>
              <a:srgbClr val="222222"/>
            </a:solidFill>
            <a:prstDash val="dash"/>
            <a:tailEnd type="triangle"/>
          </a:ln>
        </p:spPr>
      </p:sp>
      <p:sp>
        <p:nvSpPr>
          <p:cNvPr id="201" name="arrow 199.0"/>
          <p:cNvSpPr/>
          <p:nvPr/>
        </p:nvSpPr>
        <p:spPr>
          <a:xfrm>
            <a:off x="4495688" y="5128132"/>
            <a:ext cx="167636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</a:ln>
        </p:spPr>
      </p:sp>
      <p:sp>
        <p:nvSpPr>
          <p:cNvPr id="202" name="arrow 199.1"/>
          <p:cNvSpPr/>
          <p:nvPr/>
        </p:nvSpPr>
        <p:spPr>
          <a:xfrm flipV="1">
            <a:off x="4663323" y="2209745"/>
            <a:ext cx="0" cy="2918387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</a:ln>
        </p:spPr>
      </p:sp>
      <p:sp>
        <p:nvSpPr>
          <p:cNvPr id="203" name="arrow 199.2"/>
          <p:cNvSpPr/>
          <p:nvPr/>
        </p:nvSpPr>
        <p:spPr>
          <a:xfrm>
            <a:off x="4663323" y="2209745"/>
            <a:ext cx="320032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04" name="arrow 200.0"/>
          <p:cNvSpPr/>
          <p:nvPr/>
        </p:nvSpPr>
        <p:spPr>
          <a:xfrm>
            <a:off x="4495688" y="5288148"/>
            <a:ext cx="289553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</a:ln>
        </p:spPr>
      </p:sp>
      <p:sp>
        <p:nvSpPr>
          <p:cNvPr id="205" name="arrow 200.1"/>
          <p:cNvSpPr/>
          <p:nvPr/>
        </p:nvSpPr>
        <p:spPr>
          <a:xfrm flipV="1">
            <a:off x="4785240" y="4495688"/>
            <a:ext cx="0" cy="79246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</a:ln>
        </p:spPr>
      </p:sp>
      <p:sp>
        <p:nvSpPr>
          <p:cNvPr id="206" name="arrow 200.2"/>
          <p:cNvSpPr/>
          <p:nvPr/>
        </p:nvSpPr>
        <p:spPr>
          <a:xfrm>
            <a:off x="4785240" y="4495688"/>
            <a:ext cx="228594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07" name="arrow 201.0"/>
          <p:cNvSpPr/>
          <p:nvPr/>
        </p:nvSpPr>
        <p:spPr>
          <a:xfrm flipH="1">
            <a:off x="4602365" y="1920192"/>
            <a:ext cx="396230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</a:ln>
        </p:spPr>
      </p:sp>
      <p:sp>
        <p:nvSpPr>
          <p:cNvPr id="208" name="arrow 201.1"/>
          <p:cNvSpPr/>
          <p:nvPr/>
        </p:nvSpPr>
        <p:spPr>
          <a:xfrm>
            <a:off x="4602365" y="1920192"/>
            <a:ext cx="0" cy="2240224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</a:ln>
        </p:spPr>
      </p:sp>
      <p:sp>
        <p:nvSpPr>
          <p:cNvPr id="209" name="arrow 201.2"/>
          <p:cNvSpPr/>
          <p:nvPr/>
        </p:nvSpPr>
        <p:spPr>
          <a:xfrm flipH="1">
            <a:off x="4510927" y="4160416"/>
            <a:ext cx="91438" cy="0"/>
          </a:xfrm>
          <a:prstGeom prst="line">
            <a:avLst/>
          </a:prstGeom>
          <a:noFill/>
          <a:ln w="12954">
            <a:solidFill>
              <a:srgbClr val="222222"/>
            </a:solidFill>
            <a:prstDash val="solid"/>
            <a:tailEnd type="triangle"/>
          </a:ln>
        </p:spPr>
      </p:sp>
      <p:sp>
        <p:nvSpPr>
          <p:cNvPr id="210" name="shape 202"/>
          <p:cNvSpPr/>
          <p:nvPr/>
        </p:nvSpPr>
        <p:spPr>
          <a:xfrm>
            <a:off x="4876678" y="6187285"/>
            <a:ext cx="167636" cy="106677"/>
          </a:xfrm>
          <a:prstGeom prst="roundRect">
            <a:avLst>
              <a:gd name="adj" fmla="val 21429"/>
            </a:avLst>
          </a:prstGeom>
          <a:solidFill>
            <a:srgbClr val="E9EBEF"/>
          </a:solidFill>
          <a:ln w="7620">
            <a:solidFill>
              <a:srgbClr val="B9BEC7"/>
            </a:solidFill>
            <a:prstDash val="solid"/>
          </a:ln>
        </p:spPr>
      </p:sp>
      <p:sp>
        <p:nvSpPr>
          <p:cNvPr id="211" name="text 203"/>
          <p:cNvSpPr txBox="1"/>
          <p:nvPr/>
        </p:nvSpPr>
        <p:spPr>
          <a:xfrm>
            <a:off x="5105272" y="6183475"/>
            <a:ext cx="1009625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hardware</a:t>
            </a:r>
            <a:endParaRPr lang="en-US" sz="750" dirty="0"/>
          </a:p>
        </p:txBody>
      </p:sp>
      <p:sp>
        <p:nvSpPr>
          <p:cNvPr id="212" name="shape 204"/>
          <p:cNvSpPr/>
          <p:nvPr/>
        </p:nvSpPr>
        <p:spPr>
          <a:xfrm>
            <a:off x="6019650" y="6187285"/>
            <a:ext cx="167636" cy="106677"/>
          </a:xfrm>
          <a:prstGeom prst="roundRect">
            <a:avLst>
              <a:gd name="adj" fmla="val 21429"/>
            </a:avLst>
          </a:prstGeom>
          <a:solidFill>
            <a:srgbClr val="DFEAF8"/>
          </a:solidFill>
          <a:ln w="7620">
            <a:solidFill>
              <a:srgbClr val="9DB8DC"/>
            </a:solidFill>
            <a:prstDash val="solid"/>
          </a:ln>
        </p:spPr>
      </p:sp>
      <p:sp>
        <p:nvSpPr>
          <p:cNvPr id="213" name="text 205"/>
          <p:cNvSpPr txBox="1"/>
          <p:nvPr/>
        </p:nvSpPr>
        <p:spPr>
          <a:xfrm>
            <a:off x="6248244" y="6183475"/>
            <a:ext cx="950571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SLAM, mapping</a:t>
            </a:r>
            <a:endParaRPr lang="en-US" sz="750" dirty="0"/>
          </a:p>
        </p:txBody>
      </p:sp>
      <p:sp>
        <p:nvSpPr>
          <p:cNvPr id="214" name="shape 206"/>
          <p:cNvSpPr/>
          <p:nvPr/>
        </p:nvSpPr>
        <p:spPr>
          <a:xfrm>
            <a:off x="7162621" y="6187285"/>
            <a:ext cx="167636" cy="106677"/>
          </a:xfrm>
          <a:prstGeom prst="roundRect">
            <a:avLst>
              <a:gd name="adj" fmla="val 21429"/>
            </a:avLst>
          </a:prstGeom>
          <a:solidFill>
            <a:srgbClr val="FBF0D9"/>
          </a:solidFill>
          <a:ln w="7620">
            <a:solidFill>
              <a:srgbClr val="E2C17D"/>
            </a:solidFill>
            <a:prstDash val="solid"/>
          </a:ln>
        </p:spPr>
      </p:sp>
      <p:sp>
        <p:nvSpPr>
          <p:cNvPr id="215" name="text 207"/>
          <p:cNvSpPr txBox="1"/>
          <p:nvPr/>
        </p:nvSpPr>
        <p:spPr>
          <a:xfrm>
            <a:off x="7391215" y="6183475"/>
            <a:ext cx="891518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scene update</a:t>
            </a:r>
            <a:endParaRPr lang="en-US" sz="750" dirty="0"/>
          </a:p>
        </p:txBody>
      </p:sp>
      <p:sp>
        <p:nvSpPr>
          <p:cNvPr id="216" name="shape 208"/>
          <p:cNvSpPr/>
          <p:nvPr/>
        </p:nvSpPr>
        <p:spPr>
          <a:xfrm>
            <a:off x="8229394" y="6187285"/>
            <a:ext cx="167636" cy="106677"/>
          </a:xfrm>
          <a:prstGeom prst="roundRect">
            <a:avLst>
              <a:gd name="adj" fmla="val 21429"/>
            </a:avLst>
          </a:prstGeom>
          <a:solidFill>
            <a:srgbClr val="E1F2E8"/>
          </a:solidFill>
          <a:ln w="7620">
            <a:solidFill>
              <a:srgbClr val="8FC4A5"/>
            </a:solidFill>
            <a:prstDash val="solid"/>
          </a:ln>
        </p:spPr>
      </p:sp>
      <p:sp>
        <p:nvSpPr>
          <p:cNvPr id="217" name="text 209"/>
          <p:cNvSpPr txBox="1"/>
          <p:nvPr/>
        </p:nvSpPr>
        <p:spPr>
          <a:xfrm>
            <a:off x="8457989" y="6183475"/>
            <a:ext cx="1186785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offline, per site</a:t>
            </a:r>
            <a:endParaRPr lang="en-US" sz="750" dirty="0"/>
          </a:p>
        </p:txBody>
      </p:sp>
      <p:sp>
        <p:nvSpPr>
          <p:cNvPr id="218" name="shape 210"/>
          <p:cNvSpPr/>
          <p:nvPr/>
        </p:nvSpPr>
        <p:spPr>
          <a:xfrm>
            <a:off x="9639059" y="6187285"/>
            <a:ext cx="167636" cy="106677"/>
          </a:xfrm>
          <a:prstGeom prst="roundRect">
            <a:avLst>
              <a:gd name="adj" fmla="val 21429"/>
            </a:avLst>
          </a:prstGeom>
          <a:solidFill>
            <a:srgbClr val="FCEFDC"/>
          </a:solidFill>
          <a:ln w="7620">
            <a:solidFill>
              <a:srgbClr val="E6BF86"/>
            </a:solidFill>
            <a:prstDash val="solid"/>
          </a:ln>
        </p:spPr>
      </p:sp>
      <p:sp>
        <p:nvSpPr>
          <p:cNvPr id="219" name="text 211"/>
          <p:cNvSpPr txBox="1"/>
          <p:nvPr/>
        </p:nvSpPr>
        <p:spPr>
          <a:xfrm>
            <a:off x="9867653" y="6183475"/>
            <a:ext cx="773411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</a:t>
            </a:r>
            <a:endParaRPr lang="en-US" sz="750" dirty="0"/>
          </a:p>
        </p:txBody>
      </p:sp>
      <p:sp>
        <p:nvSpPr>
          <p:cNvPr id="220" name="shape 212"/>
          <p:cNvSpPr/>
          <p:nvPr/>
        </p:nvSpPr>
        <p:spPr>
          <a:xfrm>
            <a:off x="10629634" y="6187285"/>
            <a:ext cx="167636" cy="106677"/>
          </a:xfrm>
          <a:prstGeom prst="roundRect">
            <a:avLst>
              <a:gd name="adj" fmla="val 21429"/>
            </a:avLst>
          </a:prstGeom>
          <a:solidFill>
            <a:srgbClr val="ECE6F7"/>
          </a:solidFill>
          <a:ln w="7620">
            <a:solidFill>
              <a:srgbClr val="B4A2DC"/>
            </a:solidFill>
            <a:prstDash val="solid"/>
          </a:ln>
        </p:spPr>
      </p:sp>
      <p:sp>
        <p:nvSpPr>
          <p:cNvPr id="221" name="text 213"/>
          <p:cNvSpPr txBox="1"/>
          <p:nvPr/>
        </p:nvSpPr>
        <p:spPr>
          <a:xfrm>
            <a:off x="10858229" y="6183475"/>
            <a:ext cx="478143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</a:t>
            </a:r>
            <a:endParaRPr lang="en-US" sz="750" dirty="0"/>
          </a:p>
        </p:txBody>
      </p:sp>
      <p:sp>
        <p:nvSpPr>
          <p:cNvPr id="222" name="arrow 214.0"/>
          <p:cNvSpPr/>
          <p:nvPr/>
        </p:nvSpPr>
        <p:spPr>
          <a:xfrm>
            <a:off x="4876678" y="6476838"/>
            <a:ext cx="167636" cy="0"/>
          </a:xfrm>
          <a:prstGeom prst="line">
            <a:avLst/>
          </a:prstGeom>
          <a:noFill/>
          <a:ln w="19050">
            <a:solidFill>
              <a:srgbClr val="E23B3B"/>
            </a:solidFill>
            <a:prstDash val="dash"/>
          </a:ln>
        </p:spPr>
      </p:sp>
      <p:sp>
        <p:nvSpPr>
          <p:cNvPr id="223" name="text 215"/>
          <p:cNvSpPr txBox="1"/>
          <p:nvPr/>
        </p:nvSpPr>
        <p:spPr>
          <a:xfrm>
            <a:off x="5105272" y="6412070"/>
            <a:ext cx="2604070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network: robot ↔ server and robot ↔ robot</a:t>
            </a:r>
            <a:endParaRPr lang="en-US" sz="750" dirty="0"/>
          </a:p>
        </p:txBody>
      </p:sp>
      <p:sp>
        <p:nvSpPr>
          <p:cNvPr id="224" name="shape 216"/>
          <p:cNvSpPr/>
          <p:nvPr/>
        </p:nvSpPr>
        <p:spPr>
          <a:xfrm>
            <a:off x="7543611" y="6423499"/>
            <a:ext cx="167636" cy="106677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7620">
            <a:solidFill>
              <a:srgbClr val="888888"/>
            </a:solidFill>
            <a:prstDash val="dash"/>
          </a:ln>
        </p:spPr>
      </p:sp>
      <p:sp>
        <p:nvSpPr>
          <p:cNvPr id="225" name="text 217"/>
          <p:cNvSpPr txBox="1"/>
          <p:nvPr/>
        </p:nvSpPr>
        <p:spPr>
          <a:xfrm>
            <a:off x="7772206" y="6412070"/>
            <a:ext cx="950571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built yet</a:t>
            </a:r>
            <a:endParaRPr lang="en-US" sz="750" dirty="0"/>
          </a:p>
        </p:txBody>
      </p:sp>
      <p:sp>
        <p:nvSpPr>
          <p:cNvPr id="226" name="text 218"/>
          <p:cNvSpPr txBox="1"/>
          <p:nvPr/>
        </p:nvSpPr>
        <p:spPr>
          <a:xfrm>
            <a:off x="8610385" y="6412070"/>
            <a:ext cx="3726087" cy="128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map→odom owner at a time; server takes over on reconnect</a:t>
            </a:r>
            <a:endParaRPr lang="en-US" sz="750" dirty="0"/>
          </a:p>
        </p:txBody>
      </p:sp>
      <p:sp>
        <p:nvSpPr>
          <p:cNvPr id="227" name="text 219"/>
          <p:cNvSpPr txBox="1"/>
          <p:nvPr/>
        </p:nvSpPr>
        <p:spPr>
          <a:xfrm>
            <a:off x="11022816" y="6560656"/>
            <a:ext cx="749789" cy="246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4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10/40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Twin Architecture and Data Flow</dc:title>
  <dc:subject>PptxGenJS Presentation</dc:subject>
  <dc:creator>PptxGenJS</dc:creator>
  <cp:lastModifiedBy>PptxGenJS</cp:lastModifiedBy>
  <cp:revision>1</cp:revision>
  <dcterms:created xsi:type="dcterms:W3CDTF">2026-10-28T08:51:56Z</dcterms:created>
  <dcterms:modified xsi:type="dcterms:W3CDTF">2026-10-28T08:51:56Z</dcterms:modified>
</cp:coreProperties>
</file>