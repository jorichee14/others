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3" r:id="rId14"/>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9602D0A-C95B-3949-D441-EF56852B0BD0}">
          <p14:sldIdLst>
            <p14:sldId id="256"/>
          </p14:sldIdLst>
        </p14:section>
        <p14:section name="Problem" id="{3F71D2DE-FFE3-EAC6-C277-616C512C3253}">
          <p14:sldIdLst>
            <p14:sldId id="257"/>
            <p14:sldId id="258"/>
          </p14:sldIdLst>
        </p14:section>
        <p14:section name="Idea" id="{FBC91F6A-2500-ED46-329C-BF187063DE93}">
          <p14:sldIdLst>
            <p14:sldId id="259"/>
            <p14:sldId id="260"/>
          </p14:sldIdLst>
        </p14:section>
        <p14:section name="Plan" id="{A57BD7C6-5D54-65EB-D8F3-CDD0425ACAC8}">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0" d="100"/>
          <a:sy n="150"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  <Relationship Id="rId14" Type="http://schemas.openxmlformats.org/officeDocument/2006/relationships/slide" Target="slides/slide8.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6264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coach scenario on the next slide. This slide is only on screen while you introduce yourself and the project name.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Click the video to start it; it runs 25 seconds with no sound, so talk over it. From about 10 seconds, numbers above 25 appear (84 at the right edge). By 18 seconds there are labels like 90, 98 and 110. Point at one: every new number is a player the tracker lost.
Picture a coach reviewing training video. Players cross, cluster, and block each other, and the video tracker loses who is who. On the SportsMOT benchmark, the standard ByteTrack tracker makes over 3,000 identity mistakes. So analysts fix it by hand, for hours, and most training sessions are never analysed at 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LocusConnect's UWB tags already know exactly where every player is, and never mix them up, because radio passes through bodies. But today that data only lines up with video in time. Drawing it onto the players in the frame needs a camera surveyed in advance.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35 seconds.
Our idea: point two or more ordinary phones at the court, anywhere. In the first minute of play, the system calibrates each camera by itself, using the players as the calibration target. UWB says where each tag is in metres, the camera sees people moving, and we find the one camera position and lens that make the two agree. Then every player carries a name label that never swaps. And when a player is blocked in one camera, the system switches their feed to the other camera within a frame, because the tag carries the identity across.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This is a fog computing system. Phones run pose detection and send only keypoints, a few kilobytes a second instead of video. The LocusConnect edge server, which already runs the positioning engine, does the calibration, matching, and switching. We will measure both numbers: bandwidth saved, and edge versus cloud latency.
Stretch goal if asked: a learned association model trained on labels the fusion produces itself, compared against plain Hungarian matching.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By the end of the semester we will show it live. Two phones on tripods calibrate themselves in a minute while four people play. Names stay on through crossings. Someone steps in front of a player, and that player's feed jumps to the other camera. Flip fusion off, and the labels swap. We will measure identity switches against ByteTrack, calibration error against the court lines, bandwidth, and latency.
Why a semester: identity is the measured weak point of sports video tracking, and radio identity fixes it. It is real fog engineering with numbers we can measure, on hardware we already have.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 am looking for teammates for four parts: calibration and geometry, the phone app, the edge server and networking, and evaluation and data collection. If any of that sounds like you, come talk to me after class.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skip it if you are short on time.
Walk left to right. Phones run pose detection and send only keypoints into the edge server. The UWB tags feed the shared world frame on the same server. In the first minute, each camera calibrates itself against that frame. After that, every frame, each tag is projected into every view, matched to a person, and a blocked player's feed switches to another camera. The cloud only appears as a latency comparison.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0"/>
            <a:ext cx="8046720" cy="91440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2148840"/>
            <a:ext cx="8046720" cy="548640"/>
          </a:xfrm>
          <a:prstGeom prst="rect">
            <a:avLst/>
          </a:prstGeom>
          <a:noFill/>
          <a:ln/>
        </p:spPr>
        <p:txBody>
          <a:bodyPr wrap="square" rtlCol="0"/>
          <a:lstStyle>
            <a:lvl1pPr marL="0" indent="0" algn="l">
              <a:buNone/>
              <a:defRPr lang="en-US" sz="2000" dirty="0">
                <a:solidFill>
                  <a:schemeClr val="accent5"/>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411480"/>
            <a:ext cx="8229600" cy="73152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hyperlink" Target="https://youtu.be/7bFXjk8wYs0" TargetMode="External"/><Relationship Id="rId5"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3.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0"/>
            <a:ext cx="8046720" cy="914400"/>
          </a:xfrm>
          <a:prstGeom prst="rect">
            <a:avLst/>
          </a:prstGeom>
          <a:noFill/>
          <a:ln/>
        </p:spPr>
        <p:txBody>
          <a:bodyPr wrap="square" lIns="0" tIns="0" rIns="0" bIns="0" rtlCol="0" anchor="b"/>
          <a:lstStyle/>
          <a:p>
            <a:pPr marL="0" indent="0" algn="l">
              <a:buNone/>
            </a:pPr>
            <a:r>
              <a:rPr lang="en-US" sz="4400" b="1" dirty="0">
                <a:solidFill>
                  <a:schemeClr val="bg1"/>
                </a:solidFill>
              </a:rPr>
              <a:t>Names That Never Swap</a:t>
            </a:r>
            <a:endParaRPr lang="en-US" sz="4400" dirty="0"/>
          </a:p>
        </p:txBody>
      </p:sp>
      <p:sp>
        <p:nvSpPr>
          <p:cNvPr id="3" name="Text 0"/>
          <p:cNvSpPr>
            <a:spLocks noGrp="1"/>
          </p:cNvSpPr>
          <p:nvPr>
            <p:ph type="body" idx="101" hasCustomPrompt="1"/>
          </p:nvPr>
        </p:nvSpPr>
        <p:spPr>
          <a:xfrm>
            <a:off x="548640" y="2148840"/>
            <a:ext cx="8046720" cy="548640"/>
          </a:xfrm>
          <a:prstGeom prst="rect">
            <a:avLst/>
          </a:prstGeom>
          <a:noFill/>
          <a:ln/>
        </p:spPr>
        <p:txBody>
          <a:bodyPr wrap="square" lIns="0" tIns="0" rIns="0" bIns="0" rtlCol="0" anchor="t"/>
          <a:lstStyle/>
          <a:p>
            <a:pPr marL="0" indent="0" algn="l">
              <a:buNone/>
            </a:pPr>
            <a:r>
              <a:rPr lang="en-US" sz="2000" dirty="0">
                <a:solidFill>
                  <a:schemeClr val="accent5"/>
                </a:solidFill>
              </a:rPr>
              <a:t>Self-calibrating multi-camera UWB-to-video fusion on the edge</a:t>
            </a:r>
            <a:endParaRPr lang="en-US" sz="2000" dirty="0"/>
          </a:p>
        </p:txBody>
      </p:sp>
      <p:sp>
        <p:nvSpPr>
          <p:cNvPr id="5" name="Phones circle"/>
          <p:cNvSpPr/>
          <p:nvPr/>
        </p:nvSpPr>
        <p:spPr>
          <a:xfrm>
            <a:off x="548640" y="3520440"/>
            <a:ext cx="685800" cy="685800"/>
          </a:xfrm>
          <a:prstGeom prst="ellipse">
            <a:avLst/>
          </a:prstGeom>
          <a:solidFill>
            <a:schemeClr val="accent2"/>
          </a:solidFill>
          <a:ln w="12700">
            <a:solidFill>
              <a:schemeClr val="accent2"/>
            </a:solidFill>
            <a:prstDash val="solid"/>
          </a:ln>
        </p:spPr>
      </p:sp>
      <p:pic>
        <p:nvPicPr>
          <p:cNvPr id="6" name="Phones icon" descr="preencoded.png"/>
          <p:cNvPicPr>
            <a:picLocks noChangeAspect="1"/>
          </p:cNvPicPr>
          <p:nvPr/>
        </p:nvPicPr>
        <p:blipFill>
          <a:blip r:embed="rId3"/>
          <a:stretch>
            <a:fillRect/>
          </a:stretch>
        </p:blipFill>
        <p:spPr>
          <a:xfrm>
            <a:off x="713232" y="3685032"/>
            <a:ext cx="356616" cy="356616"/>
          </a:xfrm>
          <a:prstGeom prst="rect">
            <a:avLst/>
          </a:prstGeom>
        </p:spPr>
      </p:pic>
      <p:sp>
        <p:nvSpPr>
          <p:cNvPr id="7" name="Phones label"/>
          <p:cNvSpPr txBox="1"/>
          <p:nvPr/>
        </p:nvSpPr>
        <p:spPr>
          <a:xfrm>
            <a:off x="320040" y="4251960"/>
            <a:ext cx="1143000" cy="320040"/>
          </a:xfrm>
          <a:prstGeom prst="rect">
            <a:avLst/>
          </a:prstGeom>
          <a:noFill/>
          <a:ln/>
        </p:spPr>
        <p:txBody>
          <a:bodyPr wrap="square" lIns="0" tIns="0" rIns="0" bIns="0" rtlCol="0" anchor="ctr"/>
          <a:lstStyle/>
          <a:p>
            <a:pPr marL="0" indent="0" algn="ctr">
              <a:buNone/>
            </a:pPr>
            <a:r>
              <a:rPr lang="en-US" sz="1200" dirty="0">
                <a:solidFill>
                  <a:schemeClr val="bg1"/>
                </a:solidFill>
              </a:rPr>
              <a:t>Phones</a:t>
            </a:r>
            <a:endParaRPr lang="en-US" sz="1200" dirty="0"/>
          </a:p>
        </p:txBody>
      </p:sp>
      <p:sp>
        <p:nvSpPr>
          <p:cNvPr id="8" name="Chain arrow 1"/>
          <p:cNvSpPr/>
          <p:nvPr/>
        </p:nvSpPr>
        <p:spPr>
          <a:xfrm>
            <a:off x="1389888" y="3749040"/>
            <a:ext cx="411480" cy="228600"/>
          </a:xfrm>
          <a:prstGeom prst="rightArrow">
            <a:avLst/>
          </a:prstGeom>
          <a:solidFill>
            <a:schemeClr val="accent5"/>
          </a:solidFill>
          <a:ln w="12700">
            <a:solidFill>
              <a:schemeClr val="accent5"/>
            </a:solidFill>
            <a:prstDash val="solid"/>
          </a:ln>
        </p:spPr>
      </p:sp>
      <p:sp>
        <p:nvSpPr>
          <p:cNvPr id="9" name="UWB tags circle"/>
          <p:cNvSpPr/>
          <p:nvPr/>
        </p:nvSpPr>
        <p:spPr>
          <a:xfrm>
            <a:off x="1965960" y="3520440"/>
            <a:ext cx="685800" cy="685800"/>
          </a:xfrm>
          <a:prstGeom prst="ellipse">
            <a:avLst/>
          </a:prstGeom>
          <a:solidFill>
            <a:schemeClr val="accent2"/>
          </a:solidFill>
          <a:ln w="12700">
            <a:solidFill>
              <a:schemeClr val="accent2"/>
            </a:solidFill>
            <a:prstDash val="solid"/>
          </a:ln>
        </p:spPr>
      </p:sp>
      <p:pic>
        <p:nvPicPr>
          <p:cNvPr id="10" name="UWB tags icon" descr="preencoded.png"/>
          <p:cNvPicPr>
            <a:picLocks noChangeAspect="1"/>
          </p:cNvPicPr>
          <p:nvPr/>
        </p:nvPicPr>
        <p:blipFill>
          <a:blip r:embed="rId4"/>
          <a:stretch>
            <a:fillRect/>
          </a:stretch>
        </p:blipFill>
        <p:spPr>
          <a:xfrm>
            <a:off x="2130552" y="3685032"/>
            <a:ext cx="356616" cy="356616"/>
          </a:xfrm>
          <a:prstGeom prst="rect">
            <a:avLst/>
          </a:prstGeom>
        </p:spPr>
      </p:pic>
      <p:sp>
        <p:nvSpPr>
          <p:cNvPr id="11" name="UWB tags label"/>
          <p:cNvSpPr txBox="1"/>
          <p:nvPr/>
        </p:nvSpPr>
        <p:spPr>
          <a:xfrm>
            <a:off x="1737360" y="4251960"/>
            <a:ext cx="1143000" cy="320040"/>
          </a:xfrm>
          <a:prstGeom prst="rect">
            <a:avLst/>
          </a:prstGeom>
          <a:noFill/>
          <a:ln/>
        </p:spPr>
        <p:txBody>
          <a:bodyPr wrap="square" lIns="0" tIns="0" rIns="0" bIns="0" rtlCol="0" anchor="ctr"/>
          <a:lstStyle/>
          <a:p>
            <a:pPr marL="0" indent="0" algn="ctr">
              <a:buNone/>
            </a:pPr>
            <a:r>
              <a:rPr lang="en-US" sz="1200" dirty="0">
                <a:solidFill>
                  <a:schemeClr val="bg1"/>
                </a:solidFill>
              </a:rPr>
              <a:t>UWB tags</a:t>
            </a:r>
            <a:endParaRPr lang="en-US" sz="1200" dirty="0"/>
          </a:p>
        </p:txBody>
      </p:sp>
      <p:sp>
        <p:nvSpPr>
          <p:cNvPr id="12" name="Chain arrow 2"/>
          <p:cNvSpPr/>
          <p:nvPr/>
        </p:nvSpPr>
        <p:spPr>
          <a:xfrm>
            <a:off x="2807208" y="3749040"/>
            <a:ext cx="411480" cy="228600"/>
          </a:xfrm>
          <a:prstGeom prst="rightArrow">
            <a:avLst/>
          </a:prstGeom>
          <a:solidFill>
            <a:schemeClr val="accent5"/>
          </a:solidFill>
          <a:ln w="12700">
            <a:solidFill>
              <a:schemeClr val="accent5"/>
            </a:solidFill>
            <a:prstDash val="solid"/>
          </a:ln>
        </p:spPr>
      </p:sp>
      <p:sp>
        <p:nvSpPr>
          <p:cNvPr id="13" name="Edge server circle"/>
          <p:cNvSpPr/>
          <p:nvPr/>
        </p:nvSpPr>
        <p:spPr>
          <a:xfrm>
            <a:off x="3383280" y="3520440"/>
            <a:ext cx="685800" cy="685800"/>
          </a:xfrm>
          <a:prstGeom prst="ellipse">
            <a:avLst/>
          </a:prstGeom>
          <a:solidFill>
            <a:schemeClr val="accent2"/>
          </a:solidFill>
          <a:ln w="12700">
            <a:solidFill>
              <a:schemeClr val="accent2"/>
            </a:solidFill>
            <a:prstDash val="solid"/>
          </a:ln>
        </p:spPr>
      </p:sp>
      <p:pic>
        <p:nvPicPr>
          <p:cNvPr id="14" name="Edge server icon" descr="preencoded.png"/>
          <p:cNvPicPr>
            <a:picLocks noChangeAspect="1"/>
          </p:cNvPicPr>
          <p:nvPr/>
        </p:nvPicPr>
        <p:blipFill>
          <a:blip r:embed="rId5"/>
          <a:stretch>
            <a:fillRect/>
          </a:stretch>
        </p:blipFill>
        <p:spPr>
          <a:xfrm>
            <a:off x="3547872" y="3685032"/>
            <a:ext cx="356616" cy="356616"/>
          </a:xfrm>
          <a:prstGeom prst="rect">
            <a:avLst/>
          </a:prstGeom>
        </p:spPr>
      </p:pic>
      <p:sp>
        <p:nvSpPr>
          <p:cNvPr id="15" name="Edge server label"/>
          <p:cNvSpPr txBox="1"/>
          <p:nvPr/>
        </p:nvSpPr>
        <p:spPr>
          <a:xfrm>
            <a:off x="3154680" y="4251960"/>
            <a:ext cx="1143000" cy="320040"/>
          </a:xfrm>
          <a:prstGeom prst="rect">
            <a:avLst/>
          </a:prstGeom>
          <a:noFill/>
          <a:ln/>
        </p:spPr>
        <p:txBody>
          <a:bodyPr wrap="square" lIns="0" tIns="0" rIns="0" bIns="0" rtlCol="0" anchor="ctr"/>
          <a:lstStyle/>
          <a:p>
            <a:pPr marL="0" indent="0" algn="ctr">
              <a:buNone/>
            </a:pPr>
            <a:r>
              <a:rPr lang="en-US" sz="1200" dirty="0">
                <a:solidFill>
                  <a:schemeClr val="bg1"/>
                </a:solidFill>
              </a:rPr>
              <a:t>Edge server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Trackers lose who is who</a:t>
            </a:r>
            <a:endParaRPr lang="en-US" sz="3600" dirty="0"/>
          </a:p>
        </p:txBody>
      </p:sp>
      <p:pic>
        <p:nvPicPr>
          <p:cNvPr id="3" name="ByteTrack demo 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57200" y="1143000"/>
            <a:ext cx="5120640" cy="2880360"/>
          </a:xfrm>
          <a:prstGeom prst="rect">
            <a:avLst/>
          </a:prstGeom>
        </p:spPr>
      </p:pic>
      <p:sp>
        <p:nvSpPr>
          <p:cNvPr id="4" name="Video caption"/>
          <p:cNvSpPr txBox="1"/>
          <p:nvPr/>
        </p:nvSpPr>
        <p:spPr>
          <a:xfrm>
            <a:off x="457200" y="4096512"/>
            <a:ext cx="5120640" cy="502920"/>
          </a:xfrm>
          <a:prstGeom prst="rect">
            <a:avLst/>
          </a:prstGeom>
          <a:noFill/>
          <a:ln/>
        </p:spPr>
        <p:txBody>
          <a:bodyPr wrap="square" lIns="0" tIns="0" rIns="0" bIns="0" rtlCol="0" anchor="t"/>
          <a:lstStyle/>
          <a:p>
            <a:pPr marL="0" indent="0">
              <a:buNone/>
            </a:pPr>
            <a:r>
              <a:rPr lang="en-US" sz="1000" dirty="0">
                <a:solidFill>
                  <a:schemeClr val="accent4"/>
                </a:solidFill>
              </a:rPr>
              <a:t>YOLOv8 + ByteTrack, 25 s. About 25 people are on the pitch, yet labels like 90, 98 and 110 appear by 18 s: each new number is a lost identity. Video: Darkmyter, Football-Players-Tracking, </a:t>
            </a:r>
            <a:r>
              <a:rPr lang="en-US" sz="1000" u="sng" dirty="0">
                <a:solidFill>
                  <a:schemeClr val="accent4"/>
                </a:solidFill>
                <a:hlinkClick r:id="rId6">
                  <a:extLst>
                    <a:ext uri="{A12FA001-AC4F-418D-AE19-62706E023703}">
                      <ahyp:hlinkClr xmlns:ahyp="http://schemas.microsoft.com/office/drawing/2018/hyperlinkcolor" val="tx"/>
                    </a:ext>
                  </a:extLst>
                </a:hlinkClick>
              </a:rPr>
              <a:t>youtu.be/7bFXjk8wYs0</a:t>
            </a:r>
            <a:endParaRPr lang="en-US" sz="1000" dirty="0"/>
          </a:p>
        </p:txBody>
      </p:sp>
      <p:sp>
        <p:nvSpPr>
          <p:cNvPr id="5" name="Stat ID switches"/>
          <p:cNvSpPr txBox="1"/>
          <p:nvPr/>
        </p:nvSpPr>
        <p:spPr>
          <a:xfrm>
            <a:off x="5943600" y="1051560"/>
            <a:ext cx="2743200" cy="868680"/>
          </a:xfrm>
          <a:prstGeom prst="rect">
            <a:avLst/>
          </a:prstGeom>
          <a:noFill/>
          <a:ln/>
        </p:spPr>
        <p:txBody>
          <a:bodyPr wrap="square" lIns="0" tIns="0" rIns="0" bIns="0" rtlCol="0" anchor="ctr"/>
          <a:lstStyle/>
          <a:p>
            <a:pPr marL="0" indent="0">
              <a:buNone/>
            </a:pPr>
            <a:r>
              <a:rPr lang="en-US" sz="5400" b="1" dirty="0">
                <a:solidFill>
                  <a:schemeClr val="accent3"/>
                </a:solidFill>
              </a:rPr>
              <a:t>3,089</a:t>
            </a:r>
            <a:endParaRPr lang="en-US" sz="5400" dirty="0"/>
          </a:p>
        </p:txBody>
      </p:sp>
      <p:sp>
        <p:nvSpPr>
          <p:cNvPr id="6" name="Stat ID switches label"/>
          <p:cNvSpPr txBox="1"/>
          <p:nvPr/>
        </p:nvSpPr>
        <p:spPr>
          <a:xfrm>
            <a:off x="5943600" y="1920240"/>
            <a:ext cx="2743200" cy="640080"/>
          </a:xfrm>
          <a:prstGeom prst="rect">
            <a:avLst/>
          </a:prstGeom>
          <a:noFill/>
          <a:ln/>
        </p:spPr>
        <p:txBody>
          <a:bodyPr wrap="square" lIns="0" tIns="0" rIns="0" bIns="0" rtlCol="0" anchor="t"/>
          <a:lstStyle/>
          <a:p>
            <a:pPr marL="0" indent="0">
              <a:buNone/>
            </a:pPr>
            <a:r>
              <a:rPr lang="en-US" sz="1400" dirty="0">
                <a:solidFill>
                  <a:schemeClr val="tx1"/>
                </a:solidFill>
              </a:rPr>
              <a:t>identity switches by ByteTrack on the SportsMOT test set</a:t>
            </a:r>
            <a:endParaRPr lang="en-US" sz="1400" dirty="0"/>
          </a:p>
        </p:txBody>
      </p:sp>
      <p:sp>
        <p:nvSpPr>
          <p:cNvPr id="7" name="Stat hours"/>
          <p:cNvSpPr txBox="1"/>
          <p:nvPr/>
        </p:nvSpPr>
        <p:spPr>
          <a:xfrm>
            <a:off x="5943600" y="2697480"/>
            <a:ext cx="2743200" cy="685800"/>
          </a:xfrm>
          <a:prstGeom prst="rect">
            <a:avLst/>
          </a:prstGeom>
          <a:noFill/>
          <a:ln/>
        </p:spPr>
        <p:txBody>
          <a:bodyPr wrap="square" lIns="0" tIns="0" rIns="0" bIns="0" rtlCol="0" anchor="ctr"/>
          <a:lstStyle/>
          <a:p>
            <a:pPr marL="0" indent="0">
              <a:buNone/>
            </a:pPr>
            <a:r>
              <a:rPr lang="en-US" sz="4400" b="1" dirty="0">
                <a:solidFill>
                  <a:schemeClr val="tx1"/>
                </a:solidFill>
              </a:rPr>
              <a:t>Hours</a:t>
            </a:r>
            <a:endParaRPr lang="en-US" sz="4400" dirty="0"/>
          </a:p>
        </p:txBody>
      </p:sp>
      <p:sp>
        <p:nvSpPr>
          <p:cNvPr id="8" name="Stat hours label"/>
          <p:cNvSpPr txBox="1"/>
          <p:nvPr/>
        </p:nvSpPr>
        <p:spPr>
          <a:xfrm>
            <a:off x="5943600" y="3383280"/>
            <a:ext cx="2743200" cy="685800"/>
          </a:xfrm>
          <a:prstGeom prst="rect">
            <a:avLst/>
          </a:prstGeom>
          <a:noFill/>
          <a:ln/>
        </p:spPr>
        <p:txBody>
          <a:bodyPr wrap="square" lIns="0" tIns="0" rIns="0" bIns="0" rtlCol="0" anchor="t"/>
          <a:lstStyle/>
          <a:p>
            <a:pPr marL="0" indent="0">
              <a:buNone/>
            </a:pPr>
            <a:r>
              <a:rPr lang="en-US" sz="1400" dirty="0">
                <a:solidFill>
                  <a:schemeClr val="tx1"/>
                </a:solidFill>
              </a:rPr>
              <a:t>of re-labelling by hand per match, so training sessions go unanalysed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UWB knows. Video doesn't.</a:t>
            </a:r>
            <a:endParaRPr lang="en-US" sz="3600" dirty="0"/>
          </a:p>
        </p:txBody>
      </p:sp>
      <p:sp>
        <p:nvSpPr>
          <p:cNvPr id="3" name="Video card"/>
          <p:cNvSpPr/>
          <p:nvPr/>
        </p:nvSpPr>
        <p:spPr>
          <a:xfrm>
            <a:off x="457200" y="1143000"/>
            <a:ext cx="3931920" cy="2331720"/>
          </a:xfrm>
          <a:prstGeom prst="roundRect">
            <a:avLst>
              <a:gd name="adj" fmla="val 4706"/>
            </a:avLst>
          </a:prstGeom>
          <a:solidFill>
            <a:schemeClr val="bg2"/>
          </a:solidFill>
          <a:ln w="12700">
            <a:solidFill>
              <a:schemeClr val="bg2"/>
            </a:solidFill>
            <a:prstDash val="solid"/>
          </a:ln>
        </p:spPr>
      </p:sp>
      <p:sp>
        <p:nvSpPr>
          <p:cNvPr id="4" name="Video circle"/>
          <p:cNvSpPr/>
          <p:nvPr/>
        </p:nvSpPr>
        <p:spPr>
          <a:xfrm>
            <a:off x="731520" y="1371600"/>
            <a:ext cx="640080" cy="640080"/>
          </a:xfrm>
          <a:prstGeom prst="ellipse">
            <a:avLst/>
          </a:prstGeom>
          <a:solidFill>
            <a:schemeClr val="accent4"/>
          </a:solidFill>
          <a:ln w="12700">
            <a:solidFill>
              <a:schemeClr val="accent4"/>
            </a:solidFill>
            <a:prstDash val="solid"/>
          </a:ln>
        </p:spPr>
      </p:sp>
      <p:pic>
        <p:nvPicPr>
          <p:cNvPr id="5" name="Video icon" descr="preencoded.png"/>
          <p:cNvPicPr>
            <a:picLocks noChangeAspect="1"/>
          </p:cNvPicPr>
          <p:nvPr/>
        </p:nvPicPr>
        <p:blipFill>
          <a:blip r:embed="rId3"/>
          <a:stretch>
            <a:fillRect/>
          </a:stretch>
        </p:blipFill>
        <p:spPr>
          <a:xfrm>
            <a:off x="885139" y="1525219"/>
            <a:ext cx="332842" cy="332842"/>
          </a:xfrm>
          <a:prstGeom prst="rect">
            <a:avLst/>
          </a:prstGeom>
        </p:spPr>
      </p:pic>
      <p:sp>
        <p:nvSpPr>
          <p:cNvPr id="6" name="Video heading"/>
          <p:cNvSpPr txBox="1"/>
          <p:nvPr/>
        </p:nvSpPr>
        <p:spPr>
          <a:xfrm>
            <a:off x="1508760" y="1371600"/>
            <a:ext cx="2697480" cy="640080"/>
          </a:xfrm>
          <a:prstGeom prst="rect">
            <a:avLst/>
          </a:prstGeom>
          <a:noFill/>
          <a:ln/>
        </p:spPr>
        <p:txBody>
          <a:bodyPr wrap="square" lIns="0" tIns="0" rIns="0" bIns="0" rtlCol="0" anchor="ctr"/>
          <a:lstStyle/>
          <a:p>
            <a:pPr marL="0" indent="0">
              <a:buNone/>
            </a:pPr>
            <a:r>
              <a:rPr lang="en-US" sz="2000" b="1" dirty="0">
                <a:solidFill>
                  <a:schemeClr val="tx1"/>
                </a:solidFill>
              </a:rPr>
              <a:t>Video</a:t>
            </a:r>
            <a:endParaRPr lang="en-US" sz="2000" dirty="0"/>
          </a:p>
        </p:txBody>
      </p:sp>
      <p:sp>
        <p:nvSpPr>
          <p:cNvPr id="7" name="Video points"/>
          <p:cNvSpPr txBox="1"/>
          <p:nvPr/>
        </p:nvSpPr>
        <p:spPr>
          <a:xfrm>
            <a:off x="731520" y="2148840"/>
            <a:ext cx="34747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Shows the play coaches need</a:t>
            </a:r>
            <a:endParaRPr lang="en-US" sz="1400" dirty="0"/>
          </a:p>
          <a:p>
            <a:pPr marL="342900" indent="-342900">
              <a:spcAft>
                <a:spcPts val="600"/>
              </a:spcAft>
              <a:buSzPct val="100000"/>
              <a:buChar char="•"/>
            </a:pPr>
            <a:r>
              <a:rPr lang="en-US" sz="1400" dirty="0">
                <a:solidFill>
                  <a:schemeClr val="tx1"/>
                </a:solidFill>
              </a:rPr>
              <a:t>Loses identity when players cross or cluster</a:t>
            </a:r>
            <a:endParaRPr lang="en-US" sz="1400" dirty="0"/>
          </a:p>
          <a:p>
            <a:pPr marL="342900" indent="-342900">
              <a:spcAft>
                <a:spcPts val="600"/>
              </a:spcAft>
              <a:buSzPct val="100000"/>
              <a:buChar char="•"/>
            </a:pPr>
            <a:r>
              <a:rPr lang="en-US" sz="1400" dirty="0">
                <a:solidFill>
                  <a:schemeClr val="tx1"/>
                </a:solidFill>
              </a:rPr>
              <a:t>Same jerseys make it worse</a:t>
            </a:r>
            <a:endParaRPr lang="en-US" sz="1400" dirty="0"/>
          </a:p>
        </p:txBody>
      </p:sp>
      <p:sp>
        <p:nvSpPr>
          <p:cNvPr id="8" name="UWB card"/>
          <p:cNvSpPr/>
          <p:nvPr/>
        </p:nvSpPr>
        <p:spPr>
          <a:xfrm>
            <a:off x="4754880" y="1143000"/>
            <a:ext cx="3931920" cy="2331720"/>
          </a:xfrm>
          <a:prstGeom prst="roundRect">
            <a:avLst>
              <a:gd name="adj" fmla="val 4706"/>
            </a:avLst>
          </a:prstGeom>
          <a:solidFill>
            <a:schemeClr val="bg2"/>
          </a:solidFill>
          <a:ln w="12700">
            <a:solidFill>
              <a:schemeClr val="bg2"/>
            </a:solidFill>
            <a:prstDash val="solid"/>
          </a:ln>
        </p:spPr>
      </p:sp>
      <p:sp>
        <p:nvSpPr>
          <p:cNvPr id="9" name="UWB circle"/>
          <p:cNvSpPr/>
          <p:nvPr/>
        </p:nvSpPr>
        <p:spPr>
          <a:xfrm>
            <a:off x="5029200" y="1371600"/>
            <a:ext cx="640080" cy="640080"/>
          </a:xfrm>
          <a:prstGeom prst="ellipse">
            <a:avLst/>
          </a:prstGeom>
          <a:solidFill>
            <a:schemeClr val="accent2"/>
          </a:solidFill>
          <a:ln w="12700">
            <a:solidFill>
              <a:schemeClr val="accent2"/>
            </a:solidFill>
            <a:prstDash val="solid"/>
          </a:ln>
        </p:spPr>
      </p:sp>
      <p:pic>
        <p:nvPicPr>
          <p:cNvPr id="10" name="UWB icon" descr="preencoded.png"/>
          <p:cNvPicPr>
            <a:picLocks noChangeAspect="1"/>
          </p:cNvPicPr>
          <p:nvPr/>
        </p:nvPicPr>
        <p:blipFill>
          <a:blip r:embed="rId4"/>
          <a:stretch>
            <a:fillRect/>
          </a:stretch>
        </p:blipFill>
        <p:spPr>
          <a:xfrm>
            <a:off x="5182819" y="1525219"/>
            <a:ext cx="332842" cy="332842"/>
          </a:xfrm>
          <a:prstGeom prst="rect">
            <a:avLst/>
          </a:prstGeom>
        </p:spPr>
      </p:pic>
      <p:sp>
        <p:nvSpPr>
          <p:cNvPr id="11" name="UWB heading"/>
          <p:cNvSpPr txBox="1"/>
          <p:nvPr/>
        </p:nvSpPr>
        <p:spPr>
          <a:xfrm>
            <a:off x="5806440" y="1371600"/>
            <a:ext cx="2697480" cy="640080"/>
          </a:xfrm>
          <a:prstGeom prst="rect">
            <a:avLst/>
          </a:prstGeom>
          <a:noFill/>
          <a:ln/>
        </p:spPr>
        <p:txBody>
          <a:bodyPr wrap="square" lIns="0" tIns="0" rIns="0" bIns="0" rtlCol="0" anchor="ctr"/>
          <a:lstStyle/>
          <a:p>
            <a:pPr marL="0" indent="0">
              <a:buNone/>
            </a:pPr>
            <a:r>
              <a:rPr lang="en-US" sz="2000" b="1" dirty="0">
                <a:solidFill>
                  <a:schemeClr val="tx1"/>
                </a:solidFill>
              </a:rPr>
              <a:t>LocusConnect UWB</a:t>
            </a:r>
            <a:endParaRPr lang="en-US" sz="2000" dirty="0"/>
          </a:p>
        </p:txBody>
      </p:sp>
      <p:sp>
        <p:nvSpPr>
          <p:cNvPr id="12" name="UWB points"/>
          <p:cNvSpPr txBox="1"/>
          <p:nvPr/>
        </p:nvSpPr>
        <p:spPr>
          <a:xfrm>
            <a:off x="5029200" y="2148840"/>
            <a:ext cx="34747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Knows every player's identity</a:t>
            </a:r>
            <a:endParaRPr lang="en-US" sz="1400" dirty="0"/>
          </a:p>
          <a:p>
            <a:pPr marL="342900" indent="-342900">
              <a:spcAft>
                <a:spcPts val="600"/>
              </a:spcAft>
              <a:buSzPct val="100000"/>
              <a:buChar char="•"/>
            </a:pPr>
            <a:r>
              <a:rPr lang="en-US" sz="1400" dirty="0">
                <a:solidFill>
                  <a:schemeClr val="tx1"/>
                </a:solidFill>
              </a:rPr>
              <a:t>3D position through occlusion: radio passes through bodies</a:t>
            </a:r>
            <a:endParaRPr lang="en-US" sz="1400" dirty="0"/>
          </a:p>
          <a:p>
            <a:pPr marL="342900" indent="-342900">
              <a:spcAft>
                <a:spcPts val="600"/>
              </a:spcAft>
              <a:buSzPct val="100000"/>
              <a:buChar char="•"/>
            </a:pPr>
            <a:r>
              <a:rPr lang="en-US" sz="1400" dirty="0">
                <a:solidFill>
                  <a:schemeClr val="tx1"/>
                </a:solidFill>
              </a:rPr>
              <a:t>No picture of the play</a:t>
            </a:r>
            <a:endParaRPr lang="en-US" sz="1400" dirty="0"/>
          </a:p>
        </p:txBody>
      </p:sp>
      <p:sp>
        <p:nvSpPr>
          <p:cNvPr id="13" name="Gap callout"/>
          <p:cNvSpPr/>
          <p:nvPr/>
        </p:nvSpPr>
        <p:spPr>
          <a:xfrm>
            <a:off x="457200" y="3703320"/>
            <a:ext cx="8229600" cy="777240"/>
          </a:xfrm>
          <a:prstGeom prst="roundRect">
            <a:avLst>
              <a:gd name="adj" fmla="val 14118"/>
            </a:avLst>
          </a:prstGeom>
          <a:solidFill>
            <a:schemeClr val="accent1"/>
          </a:solidFill>
          <a:ln w="12700">
            <a:solidFill>
              <a:schemeClr val="accent1"/>
            </a:solidFill>
            <a:prstDash val="solid"/>
          </a:ln>
        </p:spPr>
      </p:sp>
      <p:sp>
        <p:nvSpPr>
          <p:cNvPr id="14" name="Gap callout text"/>
          <p:cNvSpPr txBox="1"/>
          <p:nvPr/>
        </p:nvSpPr>
        <p:spPr>
          <a:xfrm>
            <a:off x="685800" y="3703320"/>
            <a:ext cx="7772400" cy="777240"/>
          </a:xfrm>
          <a:prstGeom prst="rect">
            <a:avLst/>
          </a:prstGeom>
          <a:noFill/>
          <a:ln/>
        </p:spPr>
        <p:txBody>
          <a:bodyPr wrap="square" lIns="0" tIns="0" rIns="0" bIns="0" rtlCol="0" anchor="ctr"/>
          <a:lstStyle/>
          <a:p>
            <a:pPr marL="0" indent="0">
              <a:buNone/>
            </a:pPr>
            <a:r>
              <a:rPr lang="en-US" sz="1500" dirty="0">
                <a:solidFill>
                  <a:schemeClr val="bg1"/>
                </a:solidFill>
              </a:rPr>
              <a:t>Today they meet only on a timeline. Putting names on players in the frame needs a surveyed, fixed camera, so training footage from phones never gets it.</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Players calibrate the cameras</a:t>
            </a:r>
            <a:endParaRPr lang="en-US" sz="3600" dirty="0"/>
          </a:p>
        </p:txBody>
      </p:sp>
      <p:sp>
        <p:nvSpPr>
          <p:cNvPr id="3" name="Step 1 card"/>
          <p:cNvSpPr/>
          <p:nvPr/>
        </p:nvSpPr>
        <p:spPr>
          <a:xfrm>
            <a:off x="457200" y="1143000"/>
            <a:ext cx="2560320" cy="2560320"/>
          </a:xfrm>
          <a:prstGeom prst="roundRect">
            <a:avLst>
              <a:gd name="adj" fmla="val 4286"/>
            </a:avLst>
          </a:prstGeom>
          <a:solidFill>
            <a:schemeClr val="bg2"/>
          </a:solidFill>
          <a:ln w="12700">
            <a:solidFill>
              <a:schemeClr val="bg2"/>
            </a:solidFill>
            <a:prstDash val="solid"/>
          </a:ln>
        </p:spPr>
      </p:sp>
      <p:sp>
        <p:nvSpPr>
          <p:cNvPr id="4" name="Step 1 number circle"/>
          <p:cNvSpPr/>
          <p:nvPr/>
        </p:nvSpPr>
        <p:spPr>
          <a:xfrm>
            <a:off x="685800" y="1325880"/>
            <a:ext cx="502920" cy="502920"/>
          </a:xfrm>
          <a:prstGeom prst="ellipse">
            <a:avLst/>
          </a:prstGeom>
          <a:solidFill>
            <a:schemeClr val="accent1"/>
          </a:solidFill>
          <a:ln w="12700">
            <a:solidFill>
              <a:schemeClr val="accent1"/>
            </a:solidFill>
            <a:prstDash val="solid"/>
          </a:ln>
        </p:spPr>
      </p:sp>
      <p:sp>
        <p:nvSpPr>
          <p:cNvPr id="5" name="Step 1 number"/>
          <p:cNvSpPr txBox="1"/>
          <p:nvPr/>
        </p:nvSpPr>
        <p:spPr>
          <a:xfrm>
            <a:off x="685800" y="132588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6" name="Step 1 heading"/>
          <p:cNvSpPr txBox="1"/>
          <p:nvPr/>
        </p:nvSpPr>
        <p:spPr>
          <a:xfrm>
            <a:off x="685800" y="1920240"/>
            <a:ext cx="2148840" cy="548640"/>
          </a:xfrm>
          <a:prstGeom prst="rect">
            <a:avLst/>
          </a:prstGeom>
          <a:noFill/>
          <a:ln/>
        </p:spPr>
        <p:txBody>
          <a:bodyPr wrap="square" lIns="0" tIns="0" rIns="0" bIns="0" rtlCol="0" anchor="t"/>
          <a:lstStyle/>
          <a:p>
            <a:pPr marL="0" indent="0">
              <a:buNone/>
            </a:pPr>
            <a:r>
              <a:rPr lang="en-US" sz="1700" b="1" dirty="0">
                <a:solidFill>
                  <a:schemeClr val="tx1"/>
                </a:solidFill>
              </a:rPr>
              <a:t>Point phones anywhere</a:t>
            </a:r>
            <a:endParaRPr lang="en-US" sz="1700" dirty="0"/>
          </a:p>
        </p:txBody>
      </p:sp>
      <p:sp>
        <p:nvSpPr>
          <p:cNvPr id="7" name="Step 1 text"/>
          <p:cNvSpPr txBox="1"/>
          <p:nvPr/>
        </p:nvSpPr>
        <p:spPr>
          <a:xfrm>
            <a:off x="685800" y="2514600"/>
            <a:ext cx="2148840" cy="1097280"/>
          </a:xfrm>
          <a:prstGeom prst="rect">
            <a:avLst/>
          </a:prstGeom>
          <a:noFill/>
          <a:ln/>
        </p:spPr>
        <p:txBody>
          <a:bodyPr wrap="square" lIns="0" tIns="0" rIns="0" bIns="0" rtlCol="0" anchor="t"/>
          <a:lstStyle/>
          <a:p>
            <a:pPr marL="0" indent="0">
              <a:buNone/>
            </a:pPr>
            <a:r>
              <a:rPr lang="en-US" sz="1400" dirty="0">
                <a:solidFill>
                  <a:schemeClr val="tx1"/>
                </a:solidFill>
              </a:rPr>
              <a:t>Two or more phones on tripods. No board, no survey, no overlap between cameras.</a:t>
            </a:r>
            <a:endParaRPr lang="en-US" sz="1400" dirty="0"/>
          </a:p>
        </p:txBody>
      </p:sp>
      <p:sp>
        <p:nvSpPr>
          <p:cNvPr id="8" name="Step arrow 1"/>
          <p:cNvSpPr/>
          <p:nvPr/>
        </p:nvSpPr>
        <p:spPr>
          <a:xfrm>
            <a:off x="3044952" y="2240280"/>
            <a:ext cx="219456" cy="256032"/>
          </a:xfrm>
          <a:prstGeom prst="rightArrow">
            <a:avLst/>
          </a:prstGeom>
          <a:solidFill>
            <a:schemeClr val="accent1"/>
          </a:solidFill>
          <a:ln w="12700">
            <a:solidFill>
              <a:schemeClr val="accent1"/>
            </a:solidFill>
            <a:prstDash val="solid"/>
          </a:ln>
        </p:spPr>
      </p:sp>
      <p:sp>
        <p:nvSpPr>
          <p:cNvPr id="9" name="Step 2 card"/>
          <p:cNvSpPr/>
          <p:nvPr/>
        </p:nvSpPr>
        <p:spPr>
          <a:xfrm>
            <a:off x="3291840" y="1143000"/>
            <a:ext cx="2560320" cy="2560320"/>
          </a:xfrm>
          <a:prstGeom prst="roundRect">
            <a:avLst>
              <a:gd name="adj" fmla="val 4286"/>
            </a:avLst>
          </a:prstGeom>
          <a:solidFill>
            <a:schemeClr val="bg2"/>
          </a:solidFill>
          <a:ln w="12700">
            <a:solidFill>
              <a:schemeClr val="bg2"/>
            </a:solidFill>
            <a:prstDash val="solid"/>
          </a:ln>
        </p:spPr>
      </p:sp>
      <p:sp>
        <p:nvSpPr>
          <p:cNvPr id="10" name="Step 2 number circle"/>
          <p:cNvSpPr/>
          <p:nvPr/>
        </p:nvSpPr>
        <p:spPr>
          <a:xfrm>
            <a:off x="3520440" y="1325880"/>
            <a:ext cx="502920" cy="502920"/>
          </a:xfrm>
          <a:prstGeom prst="ellipse">
            <a:avLst/>
          </a:prstGeom>
          <a:solidFill>
            <a:schemeClr val="accent1"/>
          </a:solidFill>
          <a:ln w="12700">
            <a:solidFill>
              <a:schemeClr val="accent1"/>
            </a:solidFill>
            <a:prstDash val="solid"/>
          </a:ln>
        </p:spPr>
      </p:sp>
      <p:sp>
        <p:nvSpPr>
          <p:cNvPr id="11" name="Step 2 number"/>
          <p:cNvSpPr txBox="1"/>
          <p:nvPr/>
        </p:nvSpPr>
        <p:spPr>
          <a:xfrm>
            <a:off x="3520440" y="132588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Step 2 heading"/>
          <p:cNvSpPr txBox="1"/>
          <p:nvPr/>
        </p:nvSpPr>
        <p:spPr>
          <a:xfrm>
            <a:off x="3520440" y="1920240"/>
            <a:ext cx="2148840" cy="548640"/>
          </a:xfrm>
          <a:prstGeom prst="rect">
            <a:avLst/>
          </a:prstGeom>
          <a:noFill/>
          <a:ln/>
        </p:spPr>
        <p:txBody>
          <a:bodyPr wrap="square" lIns="0" tIns="0" rIns="0" bIns="0" rtlCol="0" anchor="t"/>
          <a:lstStyle/>
          <a:p>
            <a:pPr marL="0" indent="0">
              <a:buNone/>
            </a:pPr>
            <a:r>
              <a:rPr lang="en-US" sz="1700" b="1" dirty="0">
                <a:solidFill>
                  <a:schemeClr val="tx1"/>
                </a:solidFill>
              </a:rPr>
              <a:t>Calibrate</a:t>
            </a:r>
            <a:endParaRPr lang="en-US" sz="1700" dirty="0"/>
          </a:p>
        </p:txBody>
      </p:sp>
      <p:sp>
        <p:nvSpPr>
          <p:cNvPr id="13" name="Step 2 text"/>
          <p:cNvSpPr txBox="1"/>
          <p:nvPr/>
        </p:nvSpPr>
        <p:spPr>
          <a:xfrm>
            <a:off x="3520440" y="2514600"/>
            <a:ext cx="2148840" cy="1097280"/>
          </a:xfrm>
          <a:prstGeom prst="rect">
            <a:avLst/>
          </a:prstGeom>
          <a:noFill/>
          <a:ln/>
        </p:spPr>
        <p:txBody>
          <a:bodyPr wrap="square" lIns="0" tIns="0" rIns="0" bIns="0" rtlCol="0" anchor="t"/>
          <a:lstStyle/>
          <a:p>
            <a:pPr marL="0" indent="0">
              <a:buNone/>
            </a:pPr>
            <a:r>
              <a:rPr lang="en-US" sz="1400" dirty="0">
                <a:solidFill>
                  <a:schemeClr val="tx1"/>
                </a:solidFill>
              </a:rPr>
              <a:t>UWB knows each tag's position; the camera sees people move. Solve pose, focal length, clock offset.</a:t>
            </a:r>
            <a:endParaRPr lang="en-US" sz="1400" dirty="0"/>
          </a:p>
        </p:txBody>
      </p:sp>
      <p:sp>
        <p:nvSpPr>
          <p:cNvPr id="14" name="Step arrow 2"/>
          <p:cNvSpPr/>
          <p:nvPr/>
        </p:nvSpPr>
        <p:spPr>
          <a:xfrm>
            <a:off x="5879592" y="2240280"/>
            <a:ext cx="219456" cy="256032"/>
          </a:xfrm>
          <a:prstGeom prst="rightArrow">
            <a:avLst/>
          </a:prstGeom>
          <a:solidFill>
            <a:schemeClr val="accent1"/>
          </a:solidFill>
          <a:ln w="12700">
            <a:solidFill>
              <a:schemeClr val="accent1"/>
            </a:solidFill>
            <a:prstDash val="solid"/>
          </a:ln>
        </p:spPr>
      </p:sp>
      <p:sp>
        <p:nvSpPr>
          <p:cNvPr id="15" name="Step 3 card"/>
          <p:cNvSpPr/>
          <p:nvPr/>
        </p:nvSpPr>
        <p:spPr>
          <a:xfrm>
            <a:off x="6126480" y="1143000"/>
            <a:ext cx="2560320" cy="2560320"/>
          </a:xfrm>
          <a:prstGeom prst="roundRect">
            <a:avLst>
              <a:gd name="adj" fmla="val 4286"/>
            </a:avLst>
          </a:prstGeom>
          <a:solidFill>
            <a:schemeClr val="bg2"/>
          </a:solidFill>
          <a:ln w="12700">
            <a:solidFill>
              <a:schemeClr val="bg2"/>
            </a:solidFill>
            <a:prstDash val="solid"/>
          </a:ln>
        </p:spPr>
      </p:sp>
      <p:sp>
        <p:nvSpPr>
          <p:cNvPr id="16" name="Step 3 number circle"/>
          <p:cNvSpPr/>
          <p:nvPr/>
        </p:nvSpPr>
        <p:spPr>
          <a:xfrm>
            <a:off x="6355080" y="1325880"/>
            <a:ext cx="502920" cy="502920"/>
          </a:xfrm>
          <a:prstGeom prst="ellipse">
            <a:avLst/>
          </a:prstGeom>
          <a:solidFill>
            <a:schemeClr val="accent1"/>
          </a:solidFill>
          <a:ln w="12700">
            <a:solidFill>
              <a:schemeClr val="accent1"/>
            </a:solidFill>
            <a:prstDash val="solid"/>
          </a:ln>
        </p:spPr>
      </p:sp>
      <p:sp>
        <p:nvSpPr>
          <p:cNvPr id="17" name="Step 3 number"/>
          <p:cNvSpPr txBox="1"/>
          <p:nvPr/>
        </p:nvSpPr>
        <p:spPr>
          <a:xfrm>
            <a:off x="6355080" y="132588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8" name="Step 3 heading"/>
          <p:cNvSpPr txBox="1"/>
          <p:nvPr/>
        </p:nvSpPr>
        <p:spPr>
          <a:xfrm>
            <a:off x="6355080" y="1920240"/>
            <a:ext cx="2148840" cy="548640"/>
          </a:xfrm>
          <a:prstGeom prst="rect">
            <a:avLst/>
          </a:prstGeom>
          <a:noFill/>
          <a:ln/>
        </p:spPr>
        <p:txBody>
          <a:bodyPr wrap="square" lIns="0" tIns="0" rIns="0" bIns="0" rtlCol="0" anchor="t"/>
          <a:lstStyle/>
          <a:p>
            <a:pPr marL="0" indent="0">
              <a:buNone/>
            </a:pPr>
            <a:r>
              <a:rPr lang="en-US" sz="1700" b="1" dirty="0">
                <a:solidFill>
                  <a:schemeClr val="tx1"/>
                </a:solidFill>
              </a:rPr>
              <a:t>Names that never swap</a:t>
            </a:r>
            <a:endParaRPr lang="en-US" sz="1700" dirty="0"/>
          </a:p>
        </p:txBody>
      </p:sp>
      <p:sp>
        <p:nvSpPr>
          <p:cNvPr id="19" name="Step 3 text"/>
          <p:cNvSpPr txBox="1"/>
          <p:nvPr/>
        </p:nvSpPr>
        <p:spPr>
          <a:xfrm>
            <a:off x="6355080" y="2514600"/>
            <a:ext cx="2148840" cy="1097280"/>
          </a:xfrm>
          <a:prstGeom prst="rect">
            <a:avLst/>
          </a:prstGeom>
          <a:noFill/>
          <a:ln/>
        </p:spPr>
        <p:txBody>
          <a:bodyPr wrap="square" lIns="0" tIns="0" rIns="0" bIns="0" rtlCol="0" anchor="t"/>
          <a:lstStyle/>
          <a:p>
            <a:pPr marL="0" indent="0">
              <a:buNone/>
            </a:pPr>
            <a:r>
              <a:rPr lang="en-US" sz="1400" dirty="0">
                <a:solidFill>
                  <a:schemeClr val="tx1"/>
                </a:solidFill>
              </a:rPr>
              <a:t>Every tag projected into every view. A blocked player's feed switches camera within a frame.</a:t>
            </a:r>
            <a:endParaRPr lang="en-US" sz="1400" dirty="0"/>
          </a:p>
        </p:txBody>
      </p:sp>
      <p:sp>
        <p:nvSpPr>
          <p:cNvPr id="20" name="Novelty circle"/>
          <p:cNvSpPr/>
          <p:nvPr/>
        </p:nvSpPr>
        <p:spPr>
          <a:xfrm>
            <a:off x="457200" y="3931920"/>
            <a:ext cx="457200" cy="457200"/>
          </a:xfrm>
          <a:prstGeom prst="ellipse">
            <a:avLst/>
          </a:prstGeom>
          <a:solidFill>
            <a:schemeClr val="accent2"/>
          </a:solidFill>
          <a:ln w="12700">
            <a:solidFill>
              <a:schemeClr val="accent2"/>
            </a:solidFill>
            <a:prstDash val="solid"/>
          </a:ln>
        </p:spPr>
      </p:sp>
      <p:pic>
        <p:nvPicPr>
          <p:cNvPr id="21" name="Novelty icon" descr="preencoded.png"/>
          <p:cNvPicPr>
            <a:picLocks noChangeAspect="1"/>
          </p:cNvPicPr>
          <p:nvPr/>
        </p:nvPicPr>
        <p:blipFill>
          <a:blip r:embed="rId3"/>
          <a:stretch>
            <a:fillRect/>
          </a:stretch>
        </p:blipFill>
        <p:spPr>
          <a:xfrm>
            <a:off x="566928" y="4041648"/>
            <a:ext cx="237744" cy="237744"/>
          </a:xfrm>
          <a:prstGeom prst="rect">
            <a:avLst/>
          </a:prstGeom>
        </p:spPr>
      </p:pic>
      <p:sp>
        <p:nvSpPr>
          <p:cNvPr id="22" name="Novelty text"/>
          <p:cNvSpPr txBox="1"/>
          <p:nvPr/>
        </p:nvSpPr>
        <p:spPr>
          <a:xfrm>
            <a:off x="1051560" y="3931920"/>
            <a:ext cx="7635240" cy="457200"/>
          </a:xfrm>
          <a:prstGeom prst="rect">
            <a:avLst/>
          </a:prstGeom>
          <a:noFill/>
          <a:ln/>
        </p:spPr>
        <p:txBody>
          <a:bodyPr wrap="square" lIns="0" tIns="0" rIns="0" bIns="0" rtlCol="0" anchor="ctr"/>
          <a:lstStyle/>
          <a:p>
            <a:pPr marL="0" indent="0">
              <a:buNone/>
            </a:pPr>
            <a:r>
              <a:rPr lang="en-US" sz="1500" i="1" dirty="0">
                <a:solidFill>
                  <a:schemeClr val="tx1"/>
                </a:solidFill>
              </a:rPr>
              <a:t>Not yet published: calibrating any camera to UWB from several tagged players at once.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Video never leaves the phone</a:t>
            </a:r>
            <a:endParaRPr lang="en-US" sz="3600" dirty="0"/>
          </a:p>
        </p:txBody>
      </p:sp>
      <p:sp>
        <p:nvSpPr>
          <p:cNvPr id="3" name="Phones tier"/>
          <p:cNvSpPr/>
          <p:nvPr/>
        </p:nvSpPr>
        <p:spPr>
          <a:xfrm>
            <a:off x="457200" y="1143000"/>
            <a:ext cx="2377440" cy="1783080"/>
          </a:xfrm>
          <a:prstGeom prst="roundRect">
            <a:avLst>
              <a:gd name="adj" fmla="val 6154"/>
            </a:avLst>
          </a:prstGeom>
          <a:solidFill>
            <a:schemeClr val="bg2"/>
          </a:solidFill>
          <a:ln w="12700">
            <a:solidFill>
              <a:schemeClr val="bg2"/>
            </a:solidFill>
            <a:prstDash val="solid"/>
          </a:ln>
        </p:spPr>
      </p:sp>
      <p:sp>
        <p:nvSpPr>
          <p:cNvPr id="4" name="Phones tier circle"/>
          <p:cNvSpPr/>
          <p:nvPr/>
        </p:nvSpPr>
        <p:spPr>
          <a:xfrm>
            <a:off x="640080" y="1298448"/>
            <a:ext cx="502920" cy="502920"/>
          </a:xfrm>
          <a:prstGeom prst="ellipse">
            <a:avLst/>
          </a:prstGeom>
          <a:solidFill>
            <a:schemeClr val="accent4"/>
          </a:solidFill>
          <a:ln w="12700">
            <a:solidFill>
              <a:schemeClr val="accent4"/>
            </a:solidFill>
            <a:prstDash val="solid"/>
          </a:ln>
        </p:spPr>
      </p:sp>
      <p:pic>
        <p:nvPicPr>
          <p:cNvPr id="5" name="Phones tier icon" descr="preencoded.png"/>
          <p:cNvPicPr>
            <a:picLocks noChangeAspect="1"/>
          </p:cNvPicPr>
          <p:nvPr/>
        </p:nvPicPr>
        <p:blipFill>
          <a:blip r:embed="rId3"/>
          <a:stretch>
            <a:fillRect/>
          </a:stretch>
        </p:blipFill>
        <p:spPr>
          <a:xfrm>
            <a:off x="760781" y="1419149"/>
            <a:ext cx="261518" cy="261518"/>
          </a:xfrm>
          <a:prstGeom prst="rect">
            <a:avLst/>
          </a:prstGeom>
        </p:spPr>
      </p:pic>
      <p:sp>
        <p:nvSpPr>
          <p:cNvPr id="6" name="Phones heading"/>
          <p:cNvSpPr txBox="1"/>
          <p:nvPr/>
        </p:nvSpPr>
        <p:spPr>
          <a:xfrm>
            <a:off x="1234440" y="1298448"/>
            <a:ext cx="1463040" cy="502920"/>
          </a:xfrm>
          <a:prstGeom prst="rect">
            <a:avLst/>
          </a:prstGeom>
          <a:noFill/>
          <a:ln/>
        </p:spPr>
        <p:txBody>
          <a:bodyPr wrap="square" lIns="0" tIns="0" rIns="0" bIns="0" rtlCol="0" anchor="ctr"/>
          <a:lstStyle/>
          <a:p>
            <a:pPr marL="0" indent="0">
              <a:buNone/>
            </a:pPr>
            <a:r>
              <a:rPr lang="en-US" sz="1700" b="1" dirty="0">
                <a:solidFill>
                  <a:schemeClr val="tx1"/>
                </a:solidFill>
              </a:rPr>
              <a:t>Phones</a:t>
            </a:r>
            <a:endParaRPr lang="en-US" sz="1700" dirty="0"/>
          </a:p>
        </p:txBody>
      </p:sp>
      <p:sp>
        <p:nvSpPr>
          <p:cNvPr id="7" name="Phones text"/>
          <p:cNvSpPr txBox="1"/>
          <p:nvPr/>
        </p:nvSpPr>
        <p:spPr>
          <a:xfrm>
            <a:off x="640080" y="1920240"/>
            <a:ext cx="2057400" cy="914400"/>
          </a:xfrm>
          <a:prstGeom prst="rect">
            <a:avLst/>
          </a:prstGeom>
          <a:noFill/>
          <a:ln/>
        </p:spPr>
        <p:txBody>
          <a:bodyPr wrap="square" lIns="0" tIns="0" rIns="0" bIns="0" rtlCol="0" anchor="t"/>
          <a:lstStyle/>
          <a:p>
            <a:pPr marL="0" indent="0">
              <a:buNone/>
            </a:pPr>
            <a:r>
              <a:rPr lang="en-US" sz="1400" dirty="0">
                <a:solidFill>
                  <a:schemeClr val="tx1"/>
                </a:solidFill>
              </a:rPr>
              <a:t>Run pose detection on device and send only hip keypoints</a:t>
            </a:r>
            <a:endParaRPr lang="en-US" sz="1400" dirty="0"/>
          </a:p>
        </p:txBody>
      </p:sp>
      <p:sp>
        <p:nvSpPr>
          <p:cNvPr id="8" name="Edge tier"/>
          <p:cNvSpPr/>
          <p:nvPr/>
        </p:nvSpPr>
        <p:spPr>
          <a:xfrm>
            <a:off x="3337560" y="1143000"/>
            <a:ext cx="2971800" cy="1783080"/>
          </a:xfrm>
          <a:prstGeom prst="roundRect">
            <a:avLst>
              <a:gd name="adj" fmla="val 6154"/>
            </a:avLst>
          </a:prstGeom>
          <a:solidFill>
            <a:schemeClr val="accent1"/>
          </a:solidFill>
          <a:ln w="12700">
            <a:solidFill>
              <a:schemeClr val="accent1"/>
            </a:solidFill>
            <a:prstDash val="solid"/>
          </a:ln>
        </p:spPr>
      </p:sp>
      <p:sp>
        <p:nvSpPr>
          <p:cNvPr id="9" name="Edge tier circle"/>
          <p:cNvSpPr/>
          <p:nvPr/>
        </p:nvSpPr>
        <p:spPr>
          <a:xfrm>
            <a:off x="3520440" y="1298448"/>
            <a:ext cx="502920" cy="502920"/>
          </a:xfrm>
          <a:prstGeom prst="ellipse">
            <a:avLst/>
          </a:prstGeom>
          <a:solidFill>
            <a:schemeClr val="tx2"/>
          </a:solidFill>
          <a:ln w="12700">
            <a:solidFill>
              <a:schemeClr val="tx2"/>
            </a:solidFill>
            <a:prstDash val="solid"/>
          </a:ln>
        </p:spPr>
      </p:sp>
      <p:pic>
        <p:nvPicPr>
          <p:cNvPr id="10" name="Edge tier icon" descr="preencoded.png"/>
          <p:cNvPicPr>
            <a:picLocks noChangeAspect="1"/>
          </p:cNvPicPr>
          <p:nvPr/>
        </p:nvPicPr>
        <p:blipFill>
          <a:blip r:embed="rId4"/>
          <a:stretch>
            <a:fillRect/>
          </a:stretch>
        </p:blipFill>
        <p:spPr>
          <a:xfrm>
            <a:off x="3641141" y="1419149"/>
            <a:ext cx="261518" cy="261518"/>
          </a:xfrm>
          <a:prstGeom prst="rect">
            <a:avLst/>
          </a:prstGeom>
        </p:spPr>
      </p:pic>
      <p:sp>
        <p:nvSpPr>
          <p:cNvPr id="11" name="Edge heading"/>
          <p:cNvSpPr txBox="1"/>
          <p:nvPr/>
        </p:nvSpPr>
        <p:spPr>
          <a:xfrm>
            <a:off x="4114800" y="1298448"/>
            <a:ext cx="2103120" cy="502920"/>
          </a:xfrm>
          <a:prstGeom prst="rect">
            <a:avLst/>
          </a:prstGeom>
          <a:noFill/>
          <a:ln/>
        </p:spPr>
        <p:txBody>
          <a:bodyPr wrap="square" lIns="0" tIns="0" rIns="0" bIns="0" rtlCol="0" anchor="ctr"/>
          <a:lstStyle/>
          <a:p>
            <a:pPr marL="0" indent="0">
              <a:buNone/>
            </a:pPr>
            <a:r>
              <a:rPr lang="en-US" sz="1500" b="1" dirty="0">
                <a:solidFill>
                  <a:schemeClr val="bg1"/>
                </a:solidFill>
              </a:rPr>
              <a:t>LocusConnect edge server</a:t>
            </a:r>
            <a:endParaRPr lang="en-US" sz="1500" dirty="0"/>
          </a:p>
        </p:txBody>
      </p:sp>
      <p:sp>
        <p:nvSpPr>
          <p:cNvPr id="12" name="Edge text"/>
          <p:cNvSpPr txBox="1"/>
          <p:nvPr/>
        </p:nvSpPr>
        <p:spPr>
          <a:xfrm>
            <a:off x="3520440" y="1920240"/>
            <a:ext cx="2651760" cy="914400"/>
          </a:xfrm>
          <a:prstGeom prst="rect">
            <a:avLst/>
          </a:prstGeom>
          <a:noFill/>
          <a:ln/>
        </p:spPr>
        <p:txBody>
          <a:bodyPr wrap="square" lIns="0" tIns="0" rIns="0" bIns="0" rtlCol="0" anchor="t"/>
          <a:lstStyle/>
          <a:p>
            <a:pPr marL="0" indent="0">
              <a:buNone/>
            </a:pPr>
            <a:r>
              <a:rPr lang="en-US" sz="1400" dirty="0">
                <a:solidFill>
                  <a:schemeClr val="bg1"/>
                </a:solidFill>
              </a:rPr>
              <a:t>Calibration, identity matching, camera switching, beside the positioning engine it already runs</a:t>
            </a:r>
            <a:endParaRPr lang="en-US" sz="1400" dirty="0"/>
          </a:p>
        </p:txBody>
      </p:sp>
      <p:sp>
        <p:nvSpPr>
          <p:cNvPr id="13" name="Cloud tier"/>
          <p:cNvSpPr/>
          <p:nvPr/>
        </p:nvSpPr>
        <p:spPr>
          <a:xfrm>
            <a:off x="6812280" y="1143000"/>
            <a:ext cx="1874520" cy="1783080"/>
          </a:xfrm>
          <a:prstGeom prst="roundRect">
            <a:avLst>
              <a:gd name="adj" fmla="val 6154"/>
            </a:avLst>
          </a:prstGeom>
          <a:solidFill>
            <a:schemeClr val="bg1"/>
          </a:solidFill>
          <a:ln w="15875">
            <a:solidFill>
              <a:schemeClr val="accent4"/>
            </a:solidFill>
            <a:prstDash val="dash"/>
          </a:ln>
        </p:spPr>
      </p:sp>
      <p:pic>
        <p:nvPicPr>
          <p:cNvPr id="14" name="Cloud icon" descr="preencoded.png"/>
          <p:cNvPicPr>
            <a:picLocks noChangeAspect="1"/>
          </p:cNvPicPr>
          <p:nvPr/>
        </p:nvPicPr>
        <p:blipFill>
          <a:blip r:embed="rId5"/>
          <a:stretch>
            <a:fillRect/>
          </a:stretch>
        </p:blipFill>
        <p:spPr>
          <a:xfrm>
            <a:off x="6995160" y="1344168"/>
            <a:ext cx="457200" cy="457200"/>
          </a:xfrm>
          <a:prstGeom prst="rect">
            <a:avLst/>
          </a:prstGeom>
        </p:spPr>
      </p:pic>
      <p:sp>
        <p:nvSpPr>
          <p:cNvPr id="15" name="Cloud heading"/>
          <p:cNvSpPr txBox="1"/>
          <p:nvPr/>
        </p:nvSpPr>
        <p:spPr>
          <a:xfrm>
            <a:off x="7543800" y="1298448"/>
            <a:ext cx="1051560" cy="502920"/>
          </a:xfrm>
          <a:prstGeom prst="rect">
            <a:avLst/>
          </a:prstGeom>
          <a:noFill/>
          <a:ln/>
        </p:spPr>
        <p:txBody>
          <a:bodyPr wrap="square" lIns="0" tIns="0" rIns="0" bIns="0" rtlCol="0" anchor="ctr"/>
          <a:lstStyle/>
          <a:p>
            <a:pPr marL="0" indent="0">
              <a:buNone/>
            </a:pPr>
            <a:r>
              <a:rPr lang="en-US" sz="1700" b="1" dirty="0">
                <a:solidFill>
                  <a:schemeClr val="accent4"/>
                </a:solidFill>
              </a:rPr>
              <a:t>Cloud</a:t>
            </a:r>
            <a:endParaRPr lang="en-US" sz="1700" dirty="0"/>
          </a:p>
        </p:txBody>
      </p:sp>
      <p:sp>
        <p:nvSpPr>
          <p:cNvPr id="16" name="Cloud text"/>
          <p:cNvSpPr txBox="1"/>
          <p:nvPr/>
        </p:nvSpPr>
        <p:spPr>
          <a:xfrm>
            <a:off x="6995160" y="1920240"/>
            <a:ext cx="1554480" cy="914400"/>
          </a:xfrm>
          <a:prstGeom prst="rect">
            <a:avLst/>
          </a:prstGeom>
          <a:noFill/>
          <a:ln/>
        </p:spPr>
        <p:txBody>
          <a:bodyPr wrap="square" lIns="0" tIns="0" rIns="0" bIns="0" rtlCol="0" anchor="t"/>
          <a:lstStyle/>
          <a:p>
            <a:pPr marL="0" indent="0">
              <a:buNone/>
            </a:pPr>
            <a:r>
              <a:rPr lang="en-US" sz="1400" dirty="0">
                <a:solidFill>
                  <a:schemeClr val="accent4"/>
                </a:solidFill>
              </a:rPr>
              <a:t>Comparison only, to measure latency</a:t>
            </a:r>
            <a:endParaRPr lang="en-US" sz="1400" dirty="0"/>
          </a:p>
        </p:txBody>
      </p:sp>
      <p:sp>
        <p:nvSpPr>
          <p:cNvPr id="17" name="Arrow phones to edge"/>
          <p:cNvSpPr/>
          <p:nvPr/>
        </p:nvSpPr>
        <p:spPr>
          <a:xfrm>
            <a:off x="2926080" y="1901952"/>
            <a:ext cx="329184" cy="256032"/>
          </a:xfrm>
          <a:prstGeom prst="rightArrow">
            <a:avLst/>
          </a:prstGeom>
          <a:solidFill>
            <a:schemeClr val="accent4"/>
          </a:solidFill>
          <a:ln w="12700">
            <a:solidFill>
              <a:schemeClr val="accent4"/>
            </a:solidFill>
            <a:prstDash val="solid"/>
          </a:ln>
        </p:spPr>
      </p:sp>
      <p:sp>
        <p:nvSpPr>
          <p:cNvPr id="18" name="Arrow edge to cloud"/>
          <p:cNvSpPr/>
          <p:nvPr/>
        </p:nvSpPr>
        <p:spPr>
          <a:xfrm>
            <a:off x="6400800" y="1901952"/>
            <a:ext cx="329184" cy="256032"/>
          </a:xfrm>
          <a:prstGeom prst="rightArrow">
            <a:avLst/>
          </a:prstGeom>
          <a:solidFill>
            <a:schemeClr val="bg2"/>
          </a:solidFill>
          <a:ln w="12700">
            <a:solidFill>
              <a:schemeClr val="accent4"/>
            </a:solidFill>
            <a:prstDash val="dash"/>
          </a:ln>
        </p:spPr>
      </p:sp>
      <p:sp>
        <p:nvSpPr>
          <p:cNvPr id="19" name="Stat uplink"/>
          <p:cNvSpPr txBox="1"/>
          <p:nvPr/>
        </p:nvSpPr>
        <p:spPr>
          <a:xfrm>
            <a:off x="457200" y="3200400"/>
            <a:ext cx="3931920" cy="731520"/>
          </a:xfrm>
          <a:prstGeom prst="rect">
            <a:avLst/>
          </a:prstGeom>
          <a:noFill/>
          <a:ln/>
        </p:spPr>
        <p:txBody>
          <a:bodyPr wrap="square" lIns="0" tIns="0" rIns="0" bIns="0" rtlCol="0" anchor="ctr"/>
          <a:lstStyle/>
          <a:p>
            <a:pPr marL="0" indent="0">
              <a:buNone/>
            </a:pPr>
            <a:r>
              <a:rPr lang="en-US" sz="4400" b="1" dirty="0">
                <a:solidFill>
                  <a:schemeClr val="accent1"/>
                </a:solidFill>
              </a:rPr>
              <a:t>&gt; 95%</a:t>
            </a:r>
            <a:endParaRPr lang="en-US" sz="4400" dirty="0"/>
          </a:p>
        </p:txBody>
      </p:sp>
      <p:sp>
        <p:nvSpPr>
          <p:cNvPr id="20" name="Stat uplink label"/>
          <p:cNvSpPr txBox="1"/>
          <p:nvPr/>
        </p:nvSpPr>
        <p:spPr>
          <a:xfrm>
            <a:off x="457200" y="3931920"/>
            <a:ext cx="3931920" cy="548640"/>
          </a:xfrm>
          <a:prstGeom prst="rect">
            <a:avLst/>
          </a:prstGeom>
          <a:noFill/>
          <a:ln/>
        </p:spPr>
        <p:txBody>
          <a:bodyPr wrap="square" lIns="0" tIns="0" rIns="0" bIns="0" rtlCol="0" anchor="t"/>
          <a:lstStyle/>
          <a:p>
            <a:pPr marL="0" indent="0">
              <a:buNone/>
            </a:pPr>
            <a:r>
              <a:rPr lang="en-US" sz="1400" dirty="0">
                <a:solidFill>
                  <a:schemeClr val="tx1"/>
                </a:solidFill>
              </a:rPr>
              <a:t>less uplink per phone than streaming 720p video</a:t>
            </a:r>
            <a:endParaRPr lang="en-US" sz="1400" dirty="0"/>
          </a:p>
        </p:txBody>
      </p:sp>
      <p:sp>
        <p:nvSpPr>
          <p:cNvPr id="21" name="Stat latency"/>
          <p:cNvSpPr txBox="1"/>
          <p:nvPr/>
        </p:nvSpPr>
        <p:spPr>
          <a:xfrm>
            <a:off x="4754880" y="3200400"/>
            <a:ext cx="3931920" cy="731520"/>
          </a:xfrm>
          <a:prstGeom prst="rect">
            <a:avLst/>
          </a:prstGeom>
          <a:noFill/>
          <a:ln/>
        </p:spPr>
        <p:txBody>
          <a:bodyPr wrap="square" lIns="0" tIns="0" rIns="0" bIns="0" rtlCol="0" anchor="ctr"/>
          <a:lstStyle/>
          <a:p>
            <a:pPr marL="0" indent="0">
              <a:buNone/>
            </a:pPr>
            <a:r>
              <a:rPr lang="en-US" sz="4400" b="1" dirty="0">
                <a:solidFill>
                  <a:schemeClr val="accent1"/>
                </a:solidFill>
              </a:rPr>
              <a:t>&lt; 100 ms</a:t>
            </a:r>
            <a:endParaRPr lang="en-US" sz="4400" dirty="0"/>
          </a:p>
        </p:txBody>
      </p:sp>
      <p:sp>
        <p:nvSpPr>
          <p:cNvPr id="22" name="Stat latency label"/>
          <p:cNvSpPr txBox="1"/>
          <p:nvPr/>
        </p:nvSpPr>
        <p:spPr>
          <a:xfrm>
            <a:off x="4754880" y="3931920"/>
            <a:ext cx="3931920" cy="548640"/>
          </a:xfrm>
          <a:prstGeom prst="rect">
            <a:avLst/>
          </a:prstGeom>
          <a:noFill/>
          <a:ln/>
        </p:spPr>
        <p:txBody>
          <a:bodyPr wrap="square" lIns="0" tIns="0" rIns="0" bIns="0" rtlCol="0" anchor="t"/>
          <a:lstStyle/>
          <a:p>
            <a:pPr marL="0" indent="0">
              <a:buNone/>
            </a:pPr>
            <a:r>
              <a:rPr lang="en-US" sz="1400" dirty="0">
                <a:solidFill>
                  <a:schemeClr val="tx1"/>
                </a:solidFill>
              </a:rPr>
              <a:t>per frame on the edge, measured against a cloud round trip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What we will show live</a:t>
            </a:r>
            <a:endParaRPr lang="en-US" sz="3600" dirty="0"/>
          </a:p>
        </p:txBody>
      </p:sp>
      <p:sp>
        <p:nvSpPr>
          <p:cNvPr id="3" name="Moment 1 circle"/>
          <p:cNvSpPr/>
          <p:nvPr/>
        </p:nvSpPr>
        <p:spPr>
          <a:xfrm>
            <a:off x="457200" y="1188720"/>
            <a:ext cx="457200" cy="457200"/>
          </a:xfrm>
          <a:prstGeom prst="ellipse">
            <a:avLst/>
          </a:prstGeom>
          <a:solidFill>
            <a:schemeClr val="accent2"/>
          </a:solidFill>
          <a:ln w="12700">
            <a:solidFill>
              <a:schemeClr val="accent2"/>
            </a:solidFill>
            <a:prstDash val="solid"/>
          </a:ln>
        </p:spPr>
      </p:sp>
      <p:sp>
        <p:nvSpPr>
          <p:cNvPr id="4" name="Moment 1 number"/>
          <p:cNvSpPr txBox="1"/>
          <p:nvPr/>
        </p:nvSpPr>
        <p:spPr>
          <a:xfrm>
            <a:off x="457200" y="1188720"/>
            <a:ext cx="457200" cy="457200"/>
          </a:xfrm>
          <a:prstGeom prst="rect">
            <a:avLst/>
          </a:prstGeom>
          <a:noFill/>
          <a:ln/>
        </p:spPr>
        <p:txBody>
          <a:bodyPr wrap="square" lIns="0" tIns="0" rIns="0" bIns="0" rtlCol="0" anchor="ctr"/>
          <a:lstStyle/>
          <a:p>
            <a:pPr marL="0" indent="0" algn="ctr">
              <a:buNone/>
            </a:pPr>
            <a:r>
              <a:rPr lang="en-US" sz="1800" b="1" dirty="0">
                <a:solidFill>
                  <a:schemeClr val="tx2"/>
                </a:solidFill>
              </a:rPr>
              <a:t>1</a:t>
            </a:r>
            <a:endParaRPr lang="en-US" sz="1800" dirty="0"/>
          </a:p>
        </p:txBody>
      </p:sp>
      <p:sp>
        <p:nvSpPr>
          <p:cNvPr id="5" name="Moment 1 heading"/>
          <p:cNvSpPr txBox="1"/>
          <p:nvPr/>
        </p:nvSpPr>
        <p:spPr>
          <a:xfrm>
            <a:off x="1097280" y="1170432"/>
            <a:ext cx="3383280" cy="365760"/>
          </a:xfrm>
          <a:prstGeom prst="rect">
            <a:avLst/>
          </a:prstGeom>
          <a:noFill/>
          <a:ln/>
        </p:spPr>
        <p:txBody>
          <a:bodyPr wrap="square" lIns="0" tIns="0" rIns="0" bIns="0" rtlCol="0" anchor="t"/>
          <a:lstStyle/>
          <a:p>
            <a:pPr marL="0" indent="0">
              <a:buNone/>
            </a:pPr>
            <a:r>
              <a:rPr lang="en-US" sz="1700" b="1" dirty="0">
                <a:solidFill>
                  <a:schemeClr val="tx1"/>
                </a:solidFill>
              </a:rPr>
              <a:t>Self-calibration</a:t>
            </a:r>
            <a:endParaRPr lang="en-US" sz="1700" dirty="0"/>
          </a:p>
        </p:txBody>
      </p:sp>
      <p:sp>
        <p:nvSpPr>
          <p:cNvPr id="6" name="Moment 1 text"/>
          <p:cNvSpPr txBox="1"/>
          <p:nvPr/>
        </p:nvSpPr>
        <p:spPr>
          <a:xfrm>
            <a:off x="1097280" y="1536192"/>
            <a:ext cx="3383280" cy="594360"/>
          </a:xfrm>
          <a:prstGeom prst="rect">
            <a:avLst/>
          </a:prstGeom>
          <a:noFill/>
          <a:ln/>
        </p:spPr>
        <p:txBody>
          <a:bodyPr wrap="square" lIns="0" tIns="0" rIns="0" bIns="0" rtlCol="0" anchor="t"/>
          <a:lstStyle/>
          <a:p>
            <a:pPr marL="0" indent="0">
              <a:buNone/>
            </a:pPr>
            <a:r>
              <a:rPr lang="en-US" sz="1400" dirty="0">
                <a:solidFill>
                  <a:schemeClr val="tx1"/>
                </a:solidFill>
              </a:rPr>
              <a:t>Two phones at arbitrary spots calibrate within a minute of play.</a:t>
            </a:r>
            <a:endParaRPr lang="en-US" sz="1400" dirty="0"/>
          </a:p>
        </p:txBody>
      </p:sp>
      <p:sp>
        <p:nvSpPr>
          <p:cNvPr id="7" name="Moment 2 circle"/>
          <p:cNvSpPr/>
          <p:nvPr/>
        </p:nvSpPr>
        <p:spPr>
          <a:xfrm>
            <a:off x="457200" y="2286000"/>
            <a:ext cx="457200" cy="457200"/>
          </a:xfrm>
          <a:prstGeom prst="ellipse">
            <a:avLst/>
          </a:prstGeom>
          <a:solidFill>
            <a:schemeClr val="accent2"/>
          </a:solidFill>
          <a:ln w="12700">
            <a:solidFill>
              <a:schemeClr val="accent2"/>
            </a:solidFill>
            <a:prstDash val="solid"/>
          </a:ln>
        </p:spPr>
      </p:sp>
      <p:sp>
        <p:nvSpPr>
          <p:cNvPr id="8" name="Moment 2 number"/>
          <p:cNvSpPr txBox="1"/>
          <p:nvPr/>
        </p:nvSpPr>
        <p:spPr>
          <a:xfrm>
            <a:off x="457200" y="2286000"/>
            <a:ext cx="457200" cy="457200"/>
          </a:xfrm>
          <a:prstGeom prst="rect">
            <a:avLst/>
          </a:prstGeom>
          <a:noFill/>
          <a:ln/>
        </p:spPr>
        <p:txBody>
          <a:bodyPr wrap="square" lIns="0" tIns="0" rIns="0" bIns="0" rtlCol="0" anchor="ctr"/>
          <a:lstStyle/>
          <a:p>
            <a:pPr marL="0" indent="0" algn="ctr">
              <a:buNone/>
            </a:pPr>
            <a:r>
              <a:rPr lang="en-US" sz="1800" b="1" dirty="0">
                <a:solidFill>
                  <a:schemeClr val="tx2"/>
                </a:solidFill>
              </a:rPr>
              <a:t>2</a:t>
            </a:r>
            <a:endParaRPr lang="en-US" sz="1800" dirty="0"/>
          </a:p>
        </p:txBody>
      </p:sp>
      <p:sp>
        <p:nvSpPr>
          <p:cNvPr id="9" name="Moment 2 heading"/>
          <p:cNvSpPr txBox="1"/>
          <p:nvPr/>
        </p:nvSpPr>
        <p:spPr>
          <a:xfrm>
            <a:off x="1097280" y="2267712"/>
            <a:ext cx="3383280" cy="365760"/>
          </a:xfrm>
          <a:prstGeom prst="rect">
            <a:avLst/>
          </a:prstGeom>
          <a:noFill/>
          <a:ln/>
        </p:spPr>
        <p:txBody>
          <a:bodyPr wrap="square" lIns="0" tIns="0" rIns="0" bIns="0" rtlCol="0" anchor="t"/>
          <a:lstStyle/>
          <a:p>
            <a:pPr marL="0" indent="0">
              <a:buNone/>
            </a:pPr>
            <a:r>
              <a:rPr lang="en-US" sz="1700" b="1" dirty="0">
                <a:solidFill>
                  <a:schemeClr val="tx1"/>
                </a:solidFill>
              </a:rPr>
              <a:t>Labels hold, feed switches</a:t>
            </a:r>
            <a:endParaRPr lang="en-US" sz="1700" dirty="0"/>
          </a:p>
        </p:txBody>
      </p:sp>
      <p:sp>
        <p:nvSpPr>
          <p:cNvPr id="10" name="Moment 2 text"/>
          <p:cNvSpPr txBox="1"/>
          <p:nvPr/>
        </p:nvSpPr>
        <p:spPr>
          <a:xfrm>
            <a:off x="1097280" y="2633472"/>
            <a:ext cx="3383280" cy="594360"/>
          </a:xfrm>
          <a:prstGeom prst="rect">
            <a:avLst/>
          </a:prstGeom>
          <a:noFill/>
          <a:ln/>
        </p:spPr>
        <p:txBody>
          <a:bodyPr wrap="square" lIns="0" tIns="0" rIns="0" bIns="0" rtlCol="0" anchor="t"/>
          <a:lstStyle/>
          <a:p>
            <a:pPr marL="0" indent="0">
              <a:buNone/>
            </a:pPr>
            <a:r>
              <a:rPr lang="en-US" sz="1400" dirty="0">
                <a:solidFill>
                  <a:schemeClr val="tx1"/>
                </a:solidFill>
              </a:rPr>
              <a:t>Names survive crossings; a blocked player's feed jumps cameras.</a:t>
            </a:r>
            <a:endParaRPr lang="en-US" sz="1400" dirty="0"/>
          </a:p>
        </p:txBody>
      </p:sp>
      <p:sp>
        <p:nvSpPr>
          <p:cNvPr id="11" name="Moment 3 circle"/>
          <p:cNvSpPr/>
          <p:nvPr/>
        </p:nvSpPr>
        <p:spPr>
          <a:xfrm>
            <a:off x="457200" y="3383280"/>
            <a:ext cx="457200" cy="457200"/>
          </a:xfrm>
          <a:prstGeom prst="ellipse">
            <a:avLst/>
          </a:prstGeom>
          <a:solidFill>
            <a:schemeClr val="accent2"/>
          </a:solidFill>
          <a:ln w="12700">
            <a:solidFill>
              <a:schemeClr val="accent2"/>
            </a:solidFill>
            <a:prstDash val="solid"/>
          </a:ln>
        </p:spPr>
      </p:sp>
      <p:sp>
        <p:nvSpPr>
          <p:cNvPr id="12" name="Moment 3 number"/>
          <p:cNvSpPr txBox="1"/>
          <p:nvPr/>
        </p:nvSpPr>
        <p:spPr>
          <a:xfrm>
            <a:off x="457200" y="3383280"/>
            <a:ext cx="457200" cy="457200"/>
          </a:xfrm>
          <a:prstGeom prst="rect">
            <a:avLst/>
          </a:prstGeom>
          <a:noFill/>
          <a:ln/>
        </p:spPr>
        <p:txBody>
          <a:bodyPr wrap="square" lIns="0" tIns="0" rIns="0" bIns="0" rtlCol="0" anchor="ctr"/>
          <a:lstStyle/>
          <a:p>
            <a:pPr marL="0" indent="0" algn="ctr">
              <a:buNone/>
            </a:pPr>
            <a:r>
              <a:rPr lang="en-US" sz="1800" b="1" dirty="0">
                <a:solidFill>
                  <a:schemeClr val="tx2"/>
                </a:solidFill>
              </a:rPr>
              <a:t>3</a:t>
            </a:r>
            <a:endParaRPr lang="en-US" sz="1800" dirty="0"/>
          </a:p>
        </p:txBody>
      </p:sp>
      <p:sp>
        <p:nvSpPr>
          <p:cNvPr id="13" name="Moment 3 heading"/>
          <p:cNvSpPr txBox="1"/>
          <p:nvPr/>
        </p:nvSpPr>
        <p:spPr>
          <a:xfrm>
            <a:off x="1097280" y="3364992"/>
            <a:ext cx="3383280" cy="365760"/>
          </a:xfrm>
          <a:prstGeom prst="rect">
            <a:avLst/>
          </a:prstGeom>
          <a:noFill/>
          <a:ln/>
        </p:spPr>
        <p:txBody>
          <a:bodyPr wrap="square" lIns="0" tIns="0" rIns="0" bIns="0" rtlCol="0" anchor="t"/>
          <a:lstStyle/>
          <a:p>
            <a:pPr marL="0" indent="0">
              <a:buNone/>
            </a:pPr>
            <a:r>
              <a:rPr lang="en-US" sz="1700" b="1" dirty="0">
                <a:solidFill>
                  <a:schemeClr val="tx1"/>
                </a:solidFill>
              </a:rPr>
              <a:t>Fusion off</a:t>
            </a:r>
            <a:endParaRPr lang="en-US" sz="1700" dirty="0"/>
          </a:p>
        </p:txBody>
      </p:sp>
      <p:sp>
        <p:nvSpPr>
          <p:cNvPr id="14" name="Moment 3 text"/>
          <p:cNvSpPr txBox="1"/>
          <p:nvPr/>
        </p:nvSpPr>
        <p:spPr>
          <a:xfrm>
            <a:off x="1097280" y="3730752"/>
            <a:ext cx="3383280" cy="594360"/>
          </a:xfrm>
          <a:prstGeom prst="rect">
            <a:avLst/>
          </a:prstGeom>
          <a:noFill/>
          <a:ln/>
        </p:spPr>
        <p:txBody>
          <a:bodyPr wrap="square" lIns="0" tIns="0" rIns="0" bIns="0" rtlCol="0" anchor="t"/>
          <a:lstStyle/>
          <a:p>
            <a:pPr marL="0" indent="0">
              <a:buNone/>
            </a:pPr>
            <a:r>
              <a:rPr lang="en-US" sz="1400" dirty="0">
                <a:solidFill>
                  <a:schemeClr val="tx1"/>
                </a:solidFill>
              </a:rPr>
              <a:t>Flip it off and the labels start swapping again.</a:t>
            </a:r>
            <a:endParaRPr lang="en-US" sz="1400" dirty="0"/>
          </a:p>
        </p:txBody>
      </p:sp>
      <p:sp>
        <p:nvSpPr>
          <p:cNvPr id="15" name="Metrics card"/>
          <p:cNvSpPr/>
          <p:nvPr/>
        </p:nvSpPr>
        <p:spPr>
          <a:xfrm>
            <a:off x="4846320" y="1143000"/>
            <a:ext cx="3840480" cy="3383280"/>
          </a:xfrm>
          <a:prstGeom prst="roundRect">
            <a:avLst>
              <a:gd name="adj" fmla="val 3243"/>
            </a:avLst>
          </a:prstGeom>
          <a:solidFill>
            <a:schemeClr val="bg2"/>
          </a:solidFill>
          <a:ln w="12700">
            <a:solidFill>
              <a:schemeClr val="bg2"/>
            </a:solidFill>
            <a:prstDash val="solid"/>
          </a:ln>
        </p:spPr>
      </p:sp>
      <p:sp>
        <p:nvSpPr>
          <p:cNvPr id="16" name="Metrics circle"/>
          <p:cNvSpPr/>
          <p:nvPr/>
        </p:nvSpPr>
        <p:spPr>
          <a:xfrm>
            <a:off x="5074920" y="1325880"/>
            <a:ext cx="457200" cy="457200"/>
          </a:xfrm>
          <a:prstGeom prst="ellipse">
            <a:avLst/>
          </a:prstGeom>
          <a:solidFill>
            <a:schemeClr val="accent5"/>
          </a:solidFill>
          <a:ln w="12700">
            <a:solidFill>
              <a:schemeClr val="accent5"/>
            </a:solidFill>
            <a:prstDash val="solid"/>
          </a:ln>
        </p:spPr>
      </p:sp>
      <p:pic>
        <p:nvPicPr>
          <p:cNvPr id="17" name="Metrics icon" descr="preencoded.png"/>
          <p:cNvPicPr>
            <a:picLocks noChangeAspect="1"/>
          </p:cNvPicPr>
          <p:nvPr/>
        </p:nvPicPr>
        <p:blipFill>
          <a:blip r:embed="rId3"/>
          <a:stretch>
            <a:fillRect/>
          </a:stretch>
        </p:blipFill>
        <p:spPr>
          <a:xfrm>
            <a:off x="5184648" y="1435608"/>
            <a:ext cx="237744" cy="237744"/>
          </a:xfrm>
          <a:prstGeom prst="rect">
            <a:avLst/>
          </a:prstGeom>
        </p:spPr>
      </p:pic>
      <p:sp>
        <p:nvSpPr>
          <p:cNvPr id="18" name="Metrics heading"/>
          <p:cNvSpPr txBox="1"/>
          <p:nvPr/>
        </p:nvSpPr>
        <p:spPr>
          <a:xfrm>
            <a:off x="5669280" y="1325880"/>
            <a:ext cx="2834640" cy="457200"/>
          </a:xfrm>
          <a:prstGeom prst="rect">
            <a:avLst/>
          </a:prstGeom>
          <a:noFill/>
          <a:ln/>
        </p:spPr>
        <p:txBody>
          <a:bodyPr wrap="square" lIns="0" tIns="0" rIns="0" bIns="0" rtlCol="0" anchor="ctr"/>
          <a:lstStyle/>
          <a:p>
            <a:pPr marL="0" indent="0">
              <a:buNone/>
            </a:pPr>
            <a:r>
              <a:rPr lang="en-US" sz="1700" b="1" dirty="0">
                <a:solidFill>
                  <a:schemeClr val="tx1"/>
                </a:solidFill>
              </a:rPr>
              <a:t>How we measure it</a:t>
            </a:r>
            <a:endParaRPr lang="en-US" sz="1700" dirty="0"/>
          </a:p>
        </p:txBody>
      </p:sp>
      <p:graphicFrame>
        <p:nvGraphicFramePr>
          <p:cNvPr id="19" name="Metrics table"/>
          <p:cNvGraphicFramePr>
            <a:graphicFrameLocks noGrp="1"/>
          </p:cNvGraphicFramePr>
          <p:nvPr>
            <p:extLst>
              <p:ext uri="{D42A27DB-BD31-4B8C-83A1-F6EECF244321}">
                <p14:modId xmlns:p14="http://schemas.microsoft.com/office/powerpoint/2010/main" val="1579011935"/>
              </p:ext>
            </p:extLst>
          </p:nvPr>
        </p:nvGraphicFramePr>
        <p:xfrm>
          <a:off x="5074920" y="1920240"/>
          <a:ext cx="3383280" cy="2377440"/>
        </p:xfrm>
        <a:graphic>
          <a:graphicData uri="http://schemas.openxmlformats.org/drawingml/2006/table">
            <a:tbl>
              <a:tblPr/>
              <a:tblGrid>
                <a:gridCol w="18288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475488">
                <a:tc>
                  <a:txBody>
                    <a:bodyPr/>
                    <a:lstStyle/>
                    <a:p>
                      <a:pPr marL="0" indent="0">
                        <a:buNone/>
                      </a:pPr>
                      <a:r>
                        <a:rPr lang="en-US" sz="1400" dirty="0">
                          <a:solidFill>
                            <a:schemeClr val="tx1"/>
                          </a:solidFill>
                        </a:rPr>
                        <a:t>ID switches vs ByteTrack</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c>
                  <a:txBody>
                    <a:bodyPr/>
                    <a:lstStyle/>
                    <a:p>
                      <a:pPr marL="0" indent="0" algn="r">
                        <a:buNone/>
                      </a:pPr>
                      <a:r>
                        <a:rPr lang="en-US" sz="1400" b="1" dirty="0">
                          <a:solidFill>
                            <a:schemeClr val="accent1"/>
                          </a:solidFill>
                        </a:rPr>
                        <a:t>90% fewer</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extLst>
                  <a:ext uri="{0D108BD9-81ED-4DB2-BD59-A6C34878D82A}">
                    <a16:rowId xmlns:a16="http://schemas.microsoft.com/office/drawing/2014/main" val="10000"/>
                  </a:ext>
                </a:extLst>
              </a:tr>
              <a:tr h="475488">
                <a:tc>
                  <a:txBody>
                    <a:bodyPr/>
                    <a:lstStyle/>
                    <a:p>
                      <a:pPr marL="0" indent="0">
                        <a:buNone/>
                      </a:pPr>
                      <a:r>
                        <a:rPr lang="en-US" sz="1400" dirty="0">
                          <a:solidFill>
                            <a:schemeClr val="tx1"/>
                          </a:solidFill>
                        </a:rPr>
                        <a:t>Calibration vs court lines</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c>
                  <a:txBody>
                    <a:bodyPr/>
                    <a:lstStyle/>
                    <a:p>
                      <a:pPr marL="0" indent="0" algn="r">
                        <a:buNone/>
                      </a:pPr>
                      <a:r>
                        <a:rPr lang="en-US" sz="1400" b="1" dirty="0">
                          <a:solidFill>
                            <a:schemeClr val="accent1"/>
                          </a:solidFill>
                        </a:rPr>
                        <a:t>&lt; 1°, &lt; 20 cm</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extLst>
                  <a:ext uri="{0D108BD9-81ED-4DB2-BD59-A6C34878D82A}">
                    <a16:rowId xmlns:a16="http://schemas.microsoft.com/office/drawing/2014/main" val="10001"/>
                  </a:ext>
                </a:extLst>
              </a:tr>
              <a:tr h="475488">
                <a:tc>
                  <a:txBody>
                    <a:bodyPr/>
                    <a:lstStyle/>
                    <a:p>
                      <a:pPr marL="0" indent="0">
                        <a:buNone/>
                      </a:pPr>
                      <a:r>
                        <a:rPr lang="en-US" sz="1400" dirty="0">
                          <a:solidFill>
                            <a:schemeClr val="tx1"/>
                          </a:solidFill>
                        </a:rPr>
                        <a:t>Player visible in chosen view</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c>
                  <a:txBody>
                    <a:bodyPr/>
                    <a:lstStyle/>
                    <a:p>
                      <a:pPr marL="0" indent="0" algn="r">
                        <a:buNone/>
                      </a:pPr>
                      <a:r>
                        <a:rPr lang="en-US" sz="1400" b="1" dirty="0">
                          <a:solidFill>
                            <a:schemeClr val="accent1"/>
                          </a:solidFill>
                        </a:rPr>
                        <a:t>&gt; 95% of frames</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extLst>
                  <a:ext uri="{0D108BD9-81ED-4DB2-BD59-A6C34878D82A}">
                    <a16:rowId xmlns:a16="http://schemas.microsoft.com/office/drawing/2014/main" val="10002"/>
                  </a:ext>
                </a:extLst>
              </a:tr>
              <a:tr h="475488">
                <a:tc>
                  <a:txBody>
                    <a:bodyPr/>
                    <a:lstStyle/>
                    <a:p>
                      <a:pPr marL="0" indent="0">
                        <a:buNone/>
                      </a:pPr>
                      <a:r>
                        <a:rPr lang="en-US" sz="1400" dirty="0">
                          <a:solidFill>
                            <a:schemeClr val="tx1"/>
                          </a:solidFill>
                        </a:rPr>
                        <a:t>Uplink saved vs video</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c>
                  <a:txBody>
                    <a:bodyPr/>
                    <a:lstStyle/>
                    <a:p>
                      <a:pPr marL="0" indent="0" algn="r">
                        <a:buNone/>
                      </a:pPr>
                      <a:r>
                        <a:rPr lang="en-US" sz="1400" b="1" dirty="0">
                          <a:solidFill>
                            <a:schemeClr val="accent1"/>
                          </a:solidFill>
                        </a:rPr>
                        <a:t>&gt; 95%</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extLst>
                  <a:ext uri="{0D108BD9-81ED-4DB2-BD59-A6C34878D82A}">
                    <a16:rowId xmlns:a16="http://schemas.microsoft.com/office/drawing/2014/main" val="10003"/>
                  </a:ext>
                </a:extLst>
              </a:tr>
              <a:tr h="475488">
                <a:tc>
                  <a:txBody>
                    <a:bodyPr/>
                    <a:lstStyle/>
                    <a:p>
                      <a:pPr marL="0" indent="0">
                        <a:buNone/>
                      </a:pPr>
                      <a:r>
                        <a:rPr lang="en-US" sz="1400" dirty="0">
                          <a:solidFill>
                            <a:schemeClr val="tx1"/>
                          </a:solidFill>
                        </a:rPr>
                        <a:t>Edge latency per frame</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tc>
                  <a:txBody>
                    <a:bodyPr/>
                    <a:lstStyle/>
                    <a:p>
                      <a:pPr marL="0" indent="0" algn="r">
                        <a:buNone/>
                      </a:pPr>
                      <a:r>
                        <a:rPr lang="en-US" sz="1400" b="1" dirty="0">
                          <a:solidFill>
                            <a:schemeClr val="accent1"/>
                          </a:solidFill>
                        </a:rPr>
                        <a:t>&lt; 100 ms</a:t>
                      </a:r>
                      <a:endParaRPr lang="en-US" sz="1400" dirty="0"/>
                    </a:p>
                  </a:txBody>
                  <a:tcPr marL="45720" marR="45720" marT="0" marB="0" anchor="ctr">
                    <a:lnL w="9525" cap="flat" cmpd="sng" algn="ctr">
                      <a:solidFill>
                        <a:srgbClr val="A7D8BC"/>
                      </a:solidFill>
                      <a:prstDash val="solid"/>
                      <a:round/>
                      <a:headEnd type="none" w="med" len="med"/>
                      <a:tailEnd type="none" w="med" len="med"/>
                    </a:lnL>
                    <a:lnR w="9525" cap="flat" cmpd="sng" algn="ctr">
                      <a:solidFill>
                        <a:srgbClr val="A7D8BC"/>
                      </a:solidFill>
                      <a:prstDash val="solid"/>
                      <a:round/>
                      <a:headEnd type="none" w="med" len="med"/>
                      <a:tailEnd type="none" w="med" len="med"/>
                    </a:lnR>
                    <a:lnT w="9525" cap="flat" cmpd="sng" algn="ctr">
                      <a:solidFill>
                        <a:srgbClr val="A7D8BC"/>
                      </a:solidFill>
                      <a:prstDash val="solid"/>
                      <a:round/>
                      <a:headEnd type="none" w="med" len="med"/>
                      <a:tailEnd type="none" w="med" len="med"/>
                    </a:lnT>
                    <a:lnB w="9525" cap="flat" cmpd="sng" algn="ctr">
                      <a:solidFill>
                        <a:srgbClr val="A7D8BC"/>
                      </a:solidFill>
                      <a:prstDash val="solid"/>
                      <a:round/>
                      <a:headEnd type="none" w="med" len="med"/>
                      <a:tailEnd type="none" w="med" len="med"/>
                    </a:lnB>
                    <a:solidFill>
                      <a:srgbClr val="EEF4F0"/>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Role 1 card"/>
          <p:cNvSpPr/>
          <p:nvPr/>
        </p:nvSpPr>
        <p:spPr>
          <a:xfrm>
            <a:off x="457200" y="1417320"/>
            <a:ext cx="1874520" cy="2377440"/>
          </a:xfrm>
          <a:prstGeom prst="roundRect">
            <a:avLst>
              <a:gd name="adj" fmla="val 5854"/>
            </a:avLst>
          </a:prstGeom>
          <a:solidFill>
            <a:schemeClr val="accent1"/>
          </a:solidFill>
          <a:ln w="12700">
            <a:solidFill>
              <a:schemeClr val="accent1"/>
            </a:solidFill>
            <a:prstDash val="solid"/>
          </a:ln>
        </p:spPr>
      </p:sp>
      <p:sp>
        <p:nvSpPr>
          <p:cNvPr id="4" name="Role 1 circle"/>
          <p:cNvSpPr/>
          <p:nvPr/>
        </p:nvSpPr>
        <p:spPr>
          <a:xfrm>
            <a:off x="658368" y="1600200"/>
            <a:ext cx="548640" cy="548640"/>
          </a:xfrm>
          <a:prstGeom prst="ellipse">
            <a:avLst/>
          </a:prstGeom>
          <a:solidFill>
            <a:schemeClr val="accent2"/>
          </a:solidFill>
          <a:ln w="12700">
            <a:solidFill>
              <a:schemeClr val="accent2"/>
            </a:solidFill>
            <a:prstDash val="solid"/>
          </a:ln>
        </p:spPr>
      </p:sp>
      <p:pic>
        <p:nvPicPr>
          <p:cNvPr id="5" name="Role 1 icon" descr="preencoded.png"/>
          <p:cNvPicPr>
            <a:picLocks noChangeAspect="1"/>
          </p:cNvPicPr>
          <p:nvPr/>
        </p:nvPicPr>
        <p:blipFill>
          <a:blip r:embed="rId3"/>
          <a:stretch>
            <a:fillRect/>
          </a:stretch>
        </p:blipFill>
        <p:spPr>
          <a:xfrm>
            <a:off x="790042" y="1731874"/>
            <a:ext cx="285293" cy="285293"/>
          </a:xfrm>
          <a:prstGeom prst="rect">
            <a:avLst/>
          </a:prstGeom>
        </p:spPr>
      </p:pic>
      <p:sp>
        <p:nvSpPr>
          <p:cNvPr id="6" name="Role 1 heading"/>
          <p:cNvSpPr txBox="1"/>
          <p:nvPr/>
        </p:nvSpPr>
        <p:spPr>
          <a:xfrm>
            <a:off x="658368" y="2286000"/>
            <a:ext cx="1508760" cy="640080"/>
          </a:xfrm>
          <a:prstGeom prst="rect">
            <a:avLst/>
          </a:prstGeom>
          <a:noFill/>
          <a:ln/>
        </p:spPr>
        <p:txBody>
          <a:bodyPr wrap="square" lIns="0" tIns="0" rIns="0" bIns="0" rtlCol="0" anchor="t"/>
          <a:lstStyle/>
          <a:p>
            <a:pPr marL="0" indent="0">
              <a:buNone/>
            </a:pPr>
            <a:r>
              <a:rPr lang="en-US" sz="1500" b="1" dirty="0">
                <a:solidFill>
                  <a:schemeClr val="bg1"/>
                </a:solidFill>
              </a:rPr>
              <a:t>Calibration and geometry</a:t>
            </a:r>
            <a:endParaRPr lang="en-US" sz="1500" dirty="0"/>
          </a:p>
        </p:txBody>
      </p:sp>
      <p:sp>
        <p:nvSpPr>
          <p:cNvPr id="7" name="Role 1 text"/>
          <p:cNvSpPr txBox="1"/>
          <p:nvPr/>
        </p:nvSpPr>
        <p:spPr>
          <a:xfrm>
            <a:off x="658368" y="2926080"/>
            <a:ext cx="1508760" cy="731520"/>
          </a:xfrm>
          <a:prstGeom prst="rect">
            <a:avLst/>
          </a:prstGeom>
          <a:noFill/>
          <a:ln/>
        </p:spPr>
        <p:txBody>
          <a:bodyPr wrap="square" lIns="0" tIns="0" rIns="0" bIns="0" rtlCol="0" anchor="t"/>
          <a:lstStyle/>
          <a:p>
            <a:pPr marL="0" indent="0">
              <a:buNone/>
            </a:pPr>
            <a:r>
              <a:rPr lang="en-US" sz="1400" dirty="0">
                <a:solidFill>
                  <a:schemeClr val="bg1"/>
                </a:solidFill>
              </a:rPr>
              <a:t>RANSAC, PnP, clock offset</a:t>
            </a:r>
            <a:endParaRPr lang="en-US" sz="1400" dirty="0"/>
          </a:p>
        </p:txBody>
      </p:sp>
      <p:sp>
        <p:nvSpPr>
          <p:cNvPr id="8" name="Role 2 card"/>
          <p:cNvSpPr/>
          <p:nvPr/>
        </p:nvSpPr>
        <p:spPr>
          <a:xfrm>
            <a:off x="2560320" y="1417320"/>
            <a:ext cx="1874520" cy="2377440"/>
          </a:xfrm>
          <a:prstGeom prst="roundRect">
            <a:avLst>
              <a:gd name="adj" fmla="val 5854"/>
            </a:avLst>
          </a:prstGeom>
          <a:solidFill>
            <a:schemeClr val="accent1"/>
          </a:solidFill>
          <a:ln w="12700">
            <a:solidFill>
              <a:schemeClr val="accent1"/>
            </a:solidFill>
            <a:prstDash val="solid"/>
          </a:ln>
        </p:spPr>
      </p:sp>
      <p:sp>
        <p:nvSpPr>
          <p:cNvPr id="9" name="Role 2 circle"/>
          <p:cNvSpPr/>
          <p:nvPr/>
        </p:nvSpPr>
        <p:spPr>
          <a:xfrm>
            <a:off x="2761488" y="1600200"/>
            <a:ext cx="548640" cy="548640"/>
          </a:xfrm>
          <a:prstGeom prst="ellipse">
            <a:avLst/>
          </a:prstGeom>
          <a:solidFill>
            <a:schemeClr val="accent2"/>
          </a:solidFill>
          <a:ln w="12700">
            <a:solidFill>
              <a:schemeClr val="accent2"/>
            </a:solidFill>
            <a:prstDash val="solid"/>
          </a:ln>
        </p:spPr>
      </p:sp>
      <p:pic>
        <p:nvPicPr>
          <p:cNvPr id="10" name="Role 2 icon" descr="preencoded.png"/>
          <p:cNvPicPr>
            <a:picLocks noChangeAspect="1"/>
          </p:cNvPicPr>
          <p:nvPr/>
        </p:nvPicPr>
        <p:blipFill>
          <a:blip r:embed="rId4"/>
          <a:stretch>
            <a:fillRect/>
          </a:stretch>
        </p:blipFill>
        <p:spPr>
          <a:xfrm>
            <a:off x="2893162" y="1731874"/>
            <a:ext cx="285293" cy="285293"/>
          </a:xfrm>
          <a:prstGeom prst="rect">
            <a:avLst/>
          </a:prstGeom>
        </p:spPr>
      </p:pic>
      <p:sp>
        <p:nvSpPr>
          <p:cNvPr id="11" name="Role 2 heading"/>
          <p:cNvSpPr txBox="1"/>
          <p:nvPr/>
        </p:nvSpPr>
        <p:spPr>
          <a:xfrm>
            <a:off x="2761488" y="2286000"/>
            <a:ext cx="1508760" cy="640080"/>
          </a:xfrm>
          <a:prstGeom prst="rect">
            <a:avLst/>
          </a:prstGeom>
          <a:noFill/>
          <a:ln/>
        </p:spPr>
        <p:txBody>
          <a:bodyPr wrap="square" lIns="0" tIns="0" rIns="0" bIns="0" rtlCol="0" anchor="t"/>
          <a:lstStyle/>
          <a:p>
            <a:pPr marL="0" indent="0">
              <a:buNone/>
            </a:pPr>
            <a:r>
              <a:rPr lang="en-US" sz="1500" b="1" dirty="0">
                <a:solidFill>
                  <a:schemeClr val="bg1"/>
                </a:solidFill>
              </a:rPr>
              <a:t>Phone app</a:t>
            </a:r>
            <a:endParaRPr lang="en-US" sz="1500" dirty="0"/>
          </a:p>
        </p:txBody>
      </p:sp>
      <p:sp>
        <p:nvSpPr>
          <p:cNvPr id="12" name="Role 2 text"/>
          <p:cNvSpPr txBox="1"/>
          <p:nvPr/>
        </p:nvSpPr>
        <p:spPr>
          <a:xfrm>
            <a:off x="2761488" y="2926080"/>
            <a:ext cx="1508760" cy="731520"/>
          </a:xfrm>
          <a:prstGeom prst="rect">
            <a:avLst/>
          </a:prstGeom>
          <a:noFill/>
          <a:ln/>
        </p:spPr>
        <p:txBody>
          <a:bodyPr wrap="square" lIns="0" tIns="0" rIns="0" bIns="0" rtlCol="0" anchor="t"/>
          <a:lstStyle/>
          <a:p>
            <a:pPr marL="0" indent="0">
              <a:buNone/>
            </a:pPr>
            <a:r>
              <a:rPr lang="en-US" sz="1400" dirty="0">
                <a:solidFill>
                  <a:schemeClr val="bg1"/>
                </a:solidFill>
              </a:rPr>
              <a:t>Pose on device, keypoint streaming</a:t>
            </a:r>
            <a:endParaRPr lang="en-US" sz="1400" dirty="0"/>
          </a:p>
        </p:txBody>
      </p:sp>
      <p:sp>
        <p:nvSpPr>
          <p:cNvPr id="13" name="Role 3 card"/>
          <p:cNvSpPr/>
          <p:nvPr/>
        </p:nvSpPr>
        <p:spPr>
          <a:xfrm>
            <a:off x="4663440" y="1417320"/>
            <a:ext cx="1874520" cy="2377440"/>
          </a:xfrm>
          <a:prstGeom prst="roundRect">
            <a:avLst>
              <a:gd name="adj" fmla="val 5854"/>
            </a:avLst>
          </a:prstGeom>
          <a:solidFill>
            <a:schemeClr val="accent1"/>
          </a:solidFill>
          <a:ln w="12700">
            <a:solidFill>
              <a:schemeClr val="accent1"/>
            </a:solidFill>
            <a:prstDash val="solid"/>
          </a:ln>
        </p:spPr>
      </p:sp>
      <p:sp>
        <p:nvSpPr>
          <p:cNvPr id="14" name="Role 3 circle"/>
          <p:cNvSpPr/>
          <p:nvPr/>
        </p:nvSpPr>
        <p:spPr>
          <a:xfrm>
            <a:off x="4864608" y="1600200"/>
            <a:ext cx="548640" cy="548640"/>
          </a:xfrm>
          <a:prstGeom prst="ellipse">
            <a:avLst/>
          </a:prstGeom>
          <a:solidFill>
            <a:schemeClr val="accent2"/>
          </a:solidFill>
          <a:ln w="12700">
            <a:solidFill>
              <a:schemeClr val="accent2"/>
            </a:solidFill>
            <a:prstDash val="solid"/>
          </a:ln>
        </p:spPr>
      </p:sp>
      <p:pic>
        <p:nvPicPr>
          <p:cNvPr id="15" name="Role 3 icon" descr="preencoded.png"/>
          <p:cNvPicPr>
            <a:picLocks noChangeAspect="1"/>
          </p:cNvPicPr>
          <p:nvPr/>
        </p:nvPicPr>
        <p:blipFill>
          <a:blip r:embed="rId5"/>
          <a:stretch>
            <a:fillRect/>
          </a:stretch>
        </p:blipFill>
        <p:spPr>
          <a:xfrm>
            <a:off x="4996282" y="1731874"/>
            <a:ext cx="285293" cy="285293"/>
          </a:xfrm>
          <a:prstGeom prst="rect">
            <a:avLst/>
          </a:prstGeom>
        </p:spPr>
      </p:pic>
      <p:sp>
        <p:nvSpPr>
          <p:cNvPr id="16" name="Role 3 heading"/>
          <p:cNvSpPr txBox="1"/>
          <p:nvPr/>
        </p:nvSpPr>
        <p:spPr>
          <a:xfrm>
            <a:off x="4864608" y="2286000"/>
            <a:ext cx="1508760" cy="640080"/>
          </a:xfrm>
          <a:prstGeom prst="rect">
            <a:avLst/>
          </a:prstGeom>
          <a:noFill/>
          <a:ln/>
        </p:spPr>
        <p:txBody>
          <a:bodyPr wrap="square" lIns="0" tIns="0" rIns="0" bIns="0" rtlCol="0" anchor="t"/>
          <a:lstStyle/>
          <a:p>
            <a:pPr marL="0" indent="0">
              <a:buNone/>
            </a:pPr>
            <a:r>
              <a:rPr lang="en-US" sz="1500" b="1" dirty="0">
                <a:solidFill>
                  <a:schemeClr val="bg1"/>
                </a:solidFill>
              </a:rPr>
              <a:t>Edge server and networking</a:t>
            </a:r>
            <a:endParaRPr lang="en-US" sz="1500" dirty="0"/>
          </a:p>
        </p:txBody>
      </p:sp>
      <p:sp>
        <p:nvSpPr>
          <p:cNvPr id="17" name="Role 3 text"/>
          <p:cNvSpPr txBox="1"/>
          <p:nvPr/>
        </p:nvSpPr>
        <p:spPr>
          <a:xfrm>
            <a:off x="4864608" y="2926080"/>
            <a:ext cx="1508760" cy="731520"/>
          </a:xfrm>
          <a:prstGeom prst="rect">
            <a:avLst/>
          </a:prstGeom>
          <a:noFill/>
          <a:ln/>
        </p:spPr>
        <p:txBody>
          <a:bodyPr wrap="square" lIns="0" tIns="0" rIns="0" bIns="0" rtlCol="0" anchor="t"/>
          <a:lstStyle/>
          <a:p>
            <a:pPr marL="0" indent="0">
              <a:buNone/>
            </a:pPr>
            <a:r>
              <a:rPr lang="en-US" sz="1400" dirty="0">
                <a:solidFill>
                  <a:schemeClr val="bg1"/>
                </a:solidFill>
              </a:rPr>
              <a:t>MQTT streams, matching, switching</a:t>
            </a:r>
            <a:endParaRPr lang="en-US" sz="1400" dirty="0"/>
          </a:p>
        </p:txBody>
      </p:sp>
      <p:sp>
        <p:nvSpPr>
          <p:cNvPr id="18" name="Role 4 card"/>
          <p:cNvSpPr/>
          <p:nvPr/>
        </p:nvSpPr>
        <p:spPr>
          <a:xfrm>
            <a:off x="6766560" y="1417320"/>
            <a:ext cx="1874520" cy="2377440"/>
          </a:xfrm>
          <a:prstGeom prst="roundRect">
            <a:avLst>
              <a:gd name="adj" fmla="val 5854"/>
            </a:avLst>
          </a:prstGeom>
          <a:solidFill>
            <a:schemeClr val="accent1"/>
          </a:solidFill>
          <a:ln w="12700">
            <a:solidFill>
              <a:schemeClr val="accent1"/>
            </a:solidFill>
            <a:prstDash val="solid"/>
          </a:ln>
        </p:spPr>
      </p:sp>
      <p:sp>
        <p:nvSpPr>
          <p:cNvPr id="19" name="Role 4 circle"/>
          <p:cNvSpPr/>
          <p:nvPr/>
        </p:nvSpPr>
        <p:spPr>
          <a:xfrm>
            <a:off x="6967728" y="1600200"/>
            <a:ext cx="548640" cy="548640"/>
          </a:xfrm>
          <a:prstGeom prst="ellipse">
            <a:avLst/>
          </a:prstGeom>
          <a:solidFill>
            <a:schemeClr val="accent2"/>
          </a:solidFill>
          <a:ln w="12700">
            <a:solidFill>
              <a:schemeClr val="accent2"/>
            </a:solidFill>
            <a:prstDash val="solid"/>
          </a:ln>
        </p:spPr>
      </p:sp>
      <p:pic>
        <p:nvPicPr>
          <p:cNvPr id="20" name="Role 4 icon" descr="preencoded.png"/>
          <p:cNvPicPr>
            <a:picLocks noChangeAspect="1"/>
          </p:cNvPicPr>
          <p:nvPr/>
        </p:nvPicPr>
        <p:blipFill>
          <a:blip r:embed="rId6"/>
          <a:stretch>
            <a:fillRect/>
          </a:stretch>
        </p:blipFill>
        <p:spPr>
          <a:xfrm>
            <a:off x="7099402" y="1731874"/>
            <a:ext cx="285293" cy="285293"/>
          </a:xfrm>
          <a:prstGeom prst="rect">
            <a:avLst/>
          </a:prstGeom>
        </p:spPr>
      </p:pic>
      <p:sp>
        <p:nvSpPr>
          <p:cNvPr id="21" name="Role 4 heading"/>
          <p:cNvSpPr txBox="1"/>
          <p:nvPr/>
        </p:nvSpPr>
        <p:spPr>
          <a:xfrm>
            <a:off x="6967728" y="2286000"/>
            <a:ext cx="1508760" cy="640080"/>
          </a:xfrm>
          <a:prstGeom prst="rect">
            <a:avLst/>
          </a:prstGeom>
          <a:noFill/>
          <a:ln/>
        </p:spPr>
        <p:txBody>
          <a:bodyPr wrap="square" lIns="0" tIns="0" rIns="0" bIns="0" rtlCol="0" anchor="t"/>
          <a:lstStyle/>
          <a:p>
            <a:pPr marL="0" indent="0">
              <a:buNone/>
            </a:pPr>
            <a:r>
              <a:rPr lang="en-US" sz="1500" b="1" dirty="0">
                <a:solidFill>
                  <a:schemeClr val="bg1"/>
                </a:solidFill>
              </a:rPr>
              <a:t>Evaluation and data</a:t>
            </a:r>
            <a:endParaRPr lang="en-US" sz="1500" dirty="0"/>
          </a:p>
        </p:txBody>
      </p:sp>
      <p:sp>
        <p:nvSpPr>
          <p:cNvPr id="22" name="Role 4 text"/>
          <p:cNvSpPr txBox="1"/>
          <p:nvPr/>
        </p:nvSpPr>
        <p:spPr>
          <a:xfrm>
            <a:off x="6967728" y="2926080"/>
            <a:ext cx="1508760" cy="731520"/>
          </a:xfrm>
          <a:prstGeom prst="rect">
            <a:avLst/>
          </a:prstGeom>
          <a:noFill/>
          <a:ln/>
        </p:spPr>
        <p:txBody>
          <a:bodyPr wrap="square" lIns="0" tIns="0" rIns="0" bIns="0" rtlCol="0" anchor="t"/>
          <a:lstStyle/>
          <a:p>
            <a:pPr marL="0" indent="0">
              <a:buNone/>
            </a:pPr>
            <a:r>
              <a:rPr lang="en-US" sz="1400" dirty="0">
                <a:solidFill>
                  <a:schemeClr val="bg1"/>
                </a:solidFill>
              </a:rPr>
              <a:t>Recording sessions, labels, metrics</a:t>
            </a:r>
            <a:endParaRPr lang="en-US" sz="1400" dirty="0"/>
          </a:p>
        </p:txBody>
      </p:sp>
      <p:sp>
        <p:nvSpPr>
          <p:cNvPr id="25" name="Title 24">
            <a:extLst>
              <a:ext uri="{FF2B5EF4-FFF2-40B4-BE49-F238E27FC236}">
                <a16:creationId xmlns:a16="http://schemas.microsoft.com/office/drawing/2014/main" id="{92202E90-4115-4A71-BED3-6BFEC1167CA8}"/>
              </a:ext>
            </a:extLst>
          </p:cNvPr>
          <p:cNvSpPr>
            <a:spLocks noGrp="1"/>
          </p:cNvSpPr>
          <p:nvPr>
            <p:ph type="title" idx="100"/>
          </p:nvPr>
        </p:nvSpPr>
        <p:spPr/>
        <p:txBody>
          <a:bodyPr/>
          <a:lstStyle/>
          <a:p>
            <a:endParaRPr lang="en-PH"/>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3600" b="1" dirty="0">
                <a:solidFill>
                  <a:schemeClr val="tx1"/>
                </a:solidFill>
              </a:rPr>
              <a:t>How the pieces connect</a:t>
            </a:r>
          </a:p>
        </p:txBody>
      </p:sp>
      <p:sp>
        <p:nvSpPr>
          <p:cNvPr id="3" name="Fog node container"/>
          <p:cNvSpPr/>
          <p:nvPr/>
        </p:nvSpPr>
        <p:spPr>
          <a:xfrm>
            <a:off x="1874520" y="1097280"/>
            <a:ext cx="5623560" cy="3246120"/>
          </a:xfrm>
          <a:prstGeom prst="roundRect">
            <a:avLst>
              <a:gd name="adj" fmla="val 10000"/>
            </a:avLst>
          </a:prstGeom>
          <a:noFill/>
          <a:ln w="15875">
            <a:solidFill>
              <a:schemeClr val="accent1"/>
            </a:solidFill>
            <a:prstDash val="dash"/>
          </a:ln>
        </p:spPr>
        <p:txBody>
          <a:bodyPr wrap="square" lIns="64008" tIns="36576" rIns="64008" bIns="36576" rtlCol="0" anchor="ctr"/>
          <a:lstStyle/>
          <a:p>
            <a:endParaRPr lang="en-US"/>
          </a:p>
        </p:txBody>
      </p:sp>
      <p:sp>
        <p:nvSpPr>
          <p:cNvPr id="4" name="Fog node label"/>
          <p:cNvSpPr txBox="1"/>
          <p:nvPr/>
        </p:nvSpPr>
        <p:spPr>
          <a:xfrm>
            <a:off x="2011680" y="1133856"/>
            <a:ext cx="4572000" cy="274320"/>
          </a:xfrm>
          <a:prstGeom prst="rect">
            <a:avLst/>
          </a:prstGeom>
          <a:noFill/>
        </p:spPr>
        <p:txBody>
          <a:bodyPr wrap="square" lIns="0" tIns="0" rIns="0" bIns="0" rtlCol="0" anchor="ctr"/>
          <a:lstStyle/>
          <a:p>
            <a:pPr algn="l">
              <a:buNone/>
            </a:pPr>
            <a:r>
              <a:rPr lang="en-US" sz="1000" b="1" dirty="0">
                <a:solidFill>
                  <a:schemeClr val="accent1"/>
                </a:solidFill>
              </a:rPr>
              <a:t>FOG NODE: LocusConnect edge server</a:t>
            </a:r>
          </a:p>
        </p:txBody>
      </p:sp>
      <p:sp>
        <p:nvSpPr>
          <p:cNvPr id="5" name="Edge devices label"/>
          <p:cNvSpPr txBox="1"/>
          <p:nvPr/>
        </p:nvSpPr>
        <p:spPr>
          <a:xfrm>
            <a:off x="365760" y="1133856"/>
            <a:ext cx="1463040" cy="274320"/>
          </a:xfrm>
          <a:prstGeom prst="rect">
            <a:avLst/>
          </a:prstGeom>
          <a:noFill/>
        </p:spPr>
        <p:txBody>
          <a:bodyPr wrap="square" lIns="0" tIns="0" rIns="0" bIns="0" rtlCol="0" anchor="ctr"/>
          <a:lstStyle/>
          <a:p>
            <a:pPr algn="l">
              <a:buNone/>
            </a:pPr>
            <a:r>
              <a:rPr lang="en-US" sz="1000" b="1" dirty="0">
                <a:solidFill>
                  <a:schemeClr val="accent4"/>
                </a:solidFill>
              </a:rPr>
              <a:t>EDGE DEVICES</a:t>
            </a:r>
          </a:p>
        </p:txBody>
      </p:sp>
      <p:sp>
        <p:nvSpPr>
          <p:cNvPr id="6" name="Phones block"/>
          <p:cNvSpPr/>
          <p:nvPr/>
        </p:nvSpPr>
        <p:spPr>
          <a:xfrm>
            <a:off x="365760" y="1463040"/>
            <a:ext cx="1325880" cy="1051560"/>
          </a:xfrm>
          <a:prstGeom prst="roundRect">
            <a:avLst>
              <a:gd name="adj" fmla="val 10000"/>
            </a:avLst>
          </a:prstGeom>
          <a:solidFill>
            <a:schemeClr val="bg2"/>
          </a:solidFill>
          <a:ln w="15875">
            <a:solidFill>
              <a:schemeClr val="accent4"/>
            </a:solidFill>
          </a:ln>
        </p:spPr>
        <p:txBody>
          <a:bodyPr wrap="square" lIns="64008" tIns="36576" rIns="64008" bIns="36576" rtlCol="0" anchor="ctr"/>
          <a:lstStyle/>
          <a:p>
            <a:pPr algn="ctr">
              <a:spcAft>
                <a:spcPts val="300"/>
              </a:spcAft>
              <a:buNone/>
            </a:pPr>
            <a:r>
              <a:rPr lang="en-US" sz="1300" b="1" dirty="0">
                <a:solidFill>
                  <a:schemeClr val="tx1"/>
                </a:solidFill>
              </a:rPr>
              <a:t>Phone cameras</a:t>
            </a:r>
          </a:p>
          <a:p>
            <a:pPr algn="ctr">
              <a:buNone/>
            </a:pPr>
            <a:r>
              <a:rPr lang="en-US" sz="1100" dirty="0">
                <a:solidFill>
                  <a:schemeClr val="tx1"/>
                </a:solidFill>
              </a:rPr>
              <a:t>1 to N; pose on device, keypoints only</a:t>
            </a:r>
          </a:p>
        </p:txBody>
      </p:sp>
      <p:sp>
        <p:nvSpPr>
          <p:cNvPr id="7" name="UWB block"/>
          <p:cNvSpPr/>
          <p:nvPr/>
        </p:nvSpPr>
        <p:spPr>
          <a:xfrm>
            <a:off x="365760" y="3291840"/>
            <a:ext cx="1325880" cy="868680"/>
          </a:xfrm>
          <a:prstGeom prst="roundRect">
            <a:avLst>
              <a:gd name="adj" fmla="val 10000"/>
            </a:avLst>
          </a:prstGeom>
          <a:solidFill>
            <a:schemeClr val="bg2"/>
          </a:solidFill>
          <a:ln w="15875">
            <a:solidFill>
              <a:schemeClr val="accent4"/>
            </a:solidFill>
          </a:ln>
        </p:spPr>
        <p:txBody>
          <a:bodyPr wrap="square" lIns="64008" tIns="36576" rIns="64008" bIns="36576" rtlCol="0" anchor="ctr"/>
          <a:lstStyle/>
          <a:p>
            <a:pPr algn="ctr">
              <a:spcAft>
                <a:spcPts val="300"/>
              </a:spcAft>
              <a:buNone/>
            </a:pPr>
            <a:r>
              <a:rPr lang="en-US" sz="1300" b="1" dirty="0">
                <a:solidFill>
                  <a:schemeClr val="tx1"/>
                </a:solidFill>
              </a:rPr>
              <a:t>UWB tags and anchors</a:t>
            </a:r>
          </a:p>
          <a:p>
            <a:pPr algn="ctr">
              <a:buNone/>
            </a:pPr>
            <a:r>
              <a:rPr lang="en-US" sz="1100" dirty="0">
                <a:solidFill>
                  <a:schemeClr val="tx1"/>
                </a:solidFill>
              </a:rPr>
              <a:t>ID, x, y, z, time</a:t>
            </a:r>
          </a:p>
        </p:txBody>
      </p:sp>
      <p:sp>
        <p:nvSpPr>
          <p:cNvPr id="8" name="Self-calibration block"/>
          <p:cNvSpPr/>
          <p:nvPr/>
        </p:nvSpPr>
        <p:spPr>
          <a:xfrm>
            <a:off x="2057400" y="1463040"/>
            <a:ext cx="1600200" cy="1051560"/>
          </a:xfrm>
          <a:prstGeom prst="roundRect">
            <a:avLst>
              <a:gd name="adj" fmla="val 10000"/>
            </a:avLst>
          </a:prstGeom>
          <a:solidFill>
            <a:schemeClr val="accent2"/>
          </a:solidFill>
          <a:ln>
            <a:noFill/>
          </a:ln>
        </p:spPr>
        <p:txBody>
          <a:bodyPr wrap="square" lIns="64008" tIns="36576" rIns="64008" bIns="36576" rtlCol="0" anchor="ctr"/>
          <a:lstStyle/>
          <a:p>
            <a:pPr algn="ctr">
              <a:spcAft>
                <a:spcPts val="300"/>
              </a:spcAft>
              <a:buNone/>
            </a:pPr>
            <a:r>
              <a:rPr lang="en-US" sz="1300" b="1" dirty="0">
                <a:solidFill>
                  <a:schemeClr val="tx2"/>
                </a:solidFill>
              </a:rPr>
              <a:t>Self-calibration</a:t>
            </a:r>
          </a:p>
          <a:p>
            <a:pPr algn="ctr">
              <a:buNone/>
            </a:pPr>
            <a:r>
              <a:rPr lang="en-US" sz="1100" dirty="0">
                <a:solidFill>
                  <a:schemeClr val="tx2"/>
                </a:solidFill>
              </a:rPr>
              <a:t>per camera, first minute: pose, focal length, clock offset</a:t>
            </a:r>
          </a:p>
        </p:txBody>
      </p:sp>
      <p:sp>
        <p:nvSpPr>
          <p:cNvPr id="9" name="Association block"/>
          <p:cNvSpPr/>
          <p:nvPr/>
        </p:nvSpPr>
        <p:spPr>
          <a:xfrm>
            <a:off x="3886200" y="1463040"/>
            <a:ext cx="1600200" cy="1051560"/>
          </a:xfrm>
          <a:prstGeom prst="roundRect">
            <a:avLst>
              <a:gd name="adj" fmla="val 10000"/>
            </a:avLst>
          </a:prstGeom>
          <a:solidFill>
            <a:schemeClr val="accent1"/>
          </a:solidFill>
          <a:ln>
            <a:noFill/>
          </a:ln>
        </p:spPr>
        <p:txBody>
          <a:bodyPr wrap="square" lIns="64008" tIns="36576" rIns="64008" bIns="36576" rtlCol="0" anchor="ctr"/>
          <a:lstStyle/>
          <a:p>
            <a:pPr algn="ctr">
              <a:spcAft>
                <a:spcPts val="300"/>
              </a:spcAft>
              <a:buNone/>
            </a:pPr>
            <a:r>
              <a:rPr lang="en-US" sz="1300" b="1" dirty="0">
                <a:solidFill>
                  <a:schemeClr val="bg1"/>
                </a:solidFill>
              </a:rPr>
              <a:t>Identity association</a:t>
            </a:r>
          </a:p>
          <a:p>
            <a:pPr algn="ctr">
              <a:buNone/>
            </a:pPr>
            <a:r>
              <a:rPr lang="en-US" sz="1100" dirty="0">
                <a:solidFill>
                  <a:schemeClr val="bg1"/>
                </a:solidFill>
              </a:rPr>
              <a:t>tags projected into every view, matched per frame</a:t>
            </a:r>
          </a:p>
        </p:txBody>
      </p:sp>
      <p:sp>
        <p:nvSpPr>
          <p:cNvPr id="10" name="Occlusion block"/>
          <p:cNvSpPr/>
          <p:nvPr/>
        </p:nvSpPr>
        <p:spPr>
          <a:xfrm>
            <a:off x="5715000" y="1463040"/>
            <a:ext cx="1600200" cy="1051560"/>
          </a:xfrm>
          <a:prstGeom prst="roundRect">
            <a:avLst>
              <a:gd name="adj" fmla="val 10000"/>
            </a:avLst>
          </a:prstGeom>
          <a:solidFill>
            <a:schemeClr val="accent1"/>
          </a:solidFill>
          <a:ln>
            <a:noFill/>
          </a:ln>
        </p:spPr>
        <p:txBody>
          <a:bodyPr wrap="square" lIns="64008" tIns="36576" rIns="64008" bIns="36576" rtlCol="0" anchor="ctr"/>
          <a:lstStyle/>
          <a:p>
            <a:pPr algn="ctr">
              <a:spcAft>
                <a:spcPts val="300"/>
              </a:spcAft>
              <a:buNone/>
            </a:pPr>
            <a:r>
              <a:rPr lang="en-US" sz="1300" b="1" dirty="0">
                <a:solidFill>
                  <a:schemeClr val="bg1"/>
                </a:solidFill>
              </a:rPr>
              <a:t>Occlusion switch</a:t>
            </a:r>
          </a:p>
          <a:p>
            <a:pPr algn="ctr">
              <a:buNone/>
            </a:pPr>
            <a:r>
              <a:rPr lang="en-US" sz="1100" dirty="0">
                <a:solidFill>
                  <a:schemeClr val="bg1"/>
                </a:solidFill>
              </a:rPr>
              <a:t>blocked view: switch to best other camera</a:t>
            </a:r>
          </a:p>
        </p:txBody>
      </p:sp>
      <p:sp>
        <p:nvSpPr>
          <p:cNvPr id="11" name="Outputs block"/>
          <p:cNvSpPr/>
          <p:nvPr/>
        </p:nvSpPr>
        <p:spPr>
          <a:xfrm>
            <a:off x="7726680" y="1463040"/>
            <a:ext cx="1051560" cy="1051560"/>
          </a:xfrm>
          <a:prstGeom prst="roundRect">
            <a:avLst>
              <a:gd name="adj" fmla="val 10000"/>
            </a:avLst>
          </a:prstGeom>
          <a:solidFill>
            <a:schemeClr val="tx2"/>
          </a:solidFill>
          <a:ln>
            <a:noFill/>
          </a:ln>
        </p:spPr>
        <p:txBody>
          <a:bodyPr wrap="square" lIns="64008" tIns="36576" rIns="64008" bIns="36576" rtlCol="0" anchor="ctr"/>
          <a:lstStyle/>
          <a:p>
            <a:pPr algn="ctr">
              <a:spcAft>
                <a:spcPts val="300"/>
              </a:spcAft>
              <a:buNone/>
            </a:pPr>
            <a:r>
              <a:rPr lang="en-US" sz="1300" b="1" dirty="0">
                <a:solidFill>
                  <a:schemeClr val="bg1"/>
                </a:solidFill>
              </a:rPr>
              <a:t>Outputs</a:t>
            </a:r>
          </a:p>
          <a:p>
            <a:pPr algn="ctr">
              <a:buNone/>
            </a:pPr>
            <a:r>
              <a:rPr lang="en-US" sz="1100" dirty="0">
                <a:solidFill>
                  <a:schemeClr val="bg1"/>
                </a:solidFill>
              </a:rPr>
              <a:t>named views, player clips</a:t>
            </a:r>
          </a:p>
        </p:txBody>
      </p:sp>
      <p:sp>
        <p:nvSpPr>
          <p:cNvPr id="12" name="Shared frame block"/>
          <p:cNvSpPr/>
          <p:nvPr/>
        </p:nvSpPr>
        <p:spPr>
          <a:xfrm>
            <a:off x="2057400" y="3291840"/>
            <a:ext cx="3429000" cy="868680"/>
          </a:xfrm>
          <a:prstGeom prst="roundRect">
            <a:avLst>
              <a:gd name="adj" fmla="val 10000"/>
            </a:avLst>
          </a:prstGeom>
          <a:solidFill>
            <a:schemeClr val="bg2"/>
          </a:solidFill>
          <a:ln w="15875">
            <a:solidFill>
              <a:schemeClr val="accent1"/>
            </a:solidFill>
          </a:ln>
        </p:spPr>
        <p:txBody>
          <a:bodyPr wrap="square" lIns="64008" tIns="36576" rIns="64008" bIns="36576" rtlCol="0" anchor="ctr"/>
          <a:lstStyle/>
          <a:p>
            <a:pPr algn="ctr">
              <a:spcAft>
                <a:spcPts val="300"/>
              </a:spcAft>
              <a:buNone/>
            </a:pPr>
            <a:r>
              <a:rPr lang="en-US" sz="1300" b="1" dirty="0">
                <a:solidFill>
                  <a:schemeClr val="tx1"/>
                </a:solidFill>
              </a:rPr>
              <a:t>Shared UWB world frame</a:t>
            </a:r>
          </a:p>
          <a:p>
            <a:pPr algn="ctr">
              <a:buNone/>
            </a:pPr>
            <a:r>
              <a:rPr lang="en-US" sz="1100" dirty="0">
                <a:solidFill>
                  <a:schemeClr val="tx1"/>
                </a:solidFill>
              </a:rPr>
              <a:t>smoothed 3D tag tracks link all cameras</a:t>
            </a:r>
          </a:p>
        </p:txBody>
      </p:sp>
      <p:sp>
        <p:nvSpPr>
          <p:cNvPr id="13" name="Stretch block"/>
          <p:cNvSpPr/>
          <p:nvPr/>
        </p:nvSpPr>
        <p:spPr>
          <a:xfrm>
            <a:off x="5715000" y="3291840"/>
            <a:ext cx="1600200" cy="868680"/>
          </a:xfrm>
          <a:prstGeom prst="roundRect">
            <a:avLst>
              <a:gd name="adj" fmla="val 10000"/>
            </a:avLst>
          </a:prstGeom>
          <a:noFill/>
          <a:ln w="15875">
            <a:solidFill>
              <a:schemeClr val="accent4"/>
            </a:solidFill>
            <a:prstDash val="dash"/>
          </a:ln>
        </p:spPr>
        <p:txBody>
          <a:bodyPr wrap="square" lIns="64008" tIns="36576" rIns="64008" bIns="36576" rtlCol="0" anchor="ctr"/>
          <a:lstStyle/>
          <a:p>
            <a:pPr algn="ctr">
              <a:spcAft>
                <a:spcPts val="300"/>
              </a:spcAft>
              <a:buNone/>
            </a:pPr>
            <a:r>
              <a:rPr lang="en-US" sz="1300" b="1" dirty="0">
                <a:solidFill>
                  <a:schemeClr val="accent4"/>
                </a:solidFill>
              </a:rPr>
              <a:t>Stretch goal</a:t>
            </a:r>
          </a:p>
          <a:p>
            <a:pPr algn="ctr">
              <a:buNone/>
            </a:pPr>
            <a:r>
              <a:rPr lang="en-US" sz="1100" i="1" dirty="0">
                <a:solidFill>
                  <a:schemeClr val="accent4"/>
                </a:solidFill>
              </a:rPr>
              <a:t>learned matching from its own labels</a:t>
            </a:r>
          </a:p>
        </p:txBody>
      </p:sp>
      <p:sp>
        <p:nvSpPr>
          <p:cNvPr id="14" name="Cloud block"/>
          <p:cNvSpPr/>
          <p:nvPr/>
        </p:nvSpPr>
        <p:spPr>
          <a:xfrm>
            <a:off x="7726680" y="3291840"/>
            <a:ext cx="1051560" cy="868680"/>
          </a:xfrm>
          <a:prstGeom prst="roundRect">
            <a:avLst>
              <a:gd name="adj" fmla="val 10000"/>
            </a:avLst>
          </a:prstGeom>
          <a:solidFill>
            <a:schemeClr val="bg1"/>
          </a:solidFill>
          <a:ln w="15875">
            <a:solidFill>
              <a:schemeClr val="accent4"/>
            </a:solidFill>
            <a:prstDash val="dash"/>
          </a:ln>
        </p:spPr>
        <p:txBody>
          <a:bodyPr wrap="square" lIns="64008" tIns="36576" rIns="64008" bIns="36576" rtlCol="0" anchor="ctr"/>
          <a:lstStyle/>
          <a:p>
            <a:pPr algn="ctr">
              <a:spcAft>
                <a:spcPts val="300"/>
              </a:spcAft>
              <a:buNone/>
            </a:pPr>
            <a:r>
              <a:rPr lang="en-US" sz="1300" b="1" dirty="0">
                <a:solidFill>
                  <a:schemeClr val="accent4"/>
                </a:solidFill>
              </a:rPr>
              <a:t>Cloud</a:t>
            </a:r>
          </a:p>
          <a:p>
            <a:pPr algn="ctr">
              <a:buNone/>
            </a:pPr>
            <a:r>
              <a:rPr lang="en-US" sz="1100" dirty="0">
                <a:solidFill>
                  <a:schemeClr val="accent4"/>
                </a:solidFill>
              </a:rPr>
              <a:t>latency test only</a:t>
            </a:r>
          </a:p>
        </p:txBody>
      </p:sp>
      <p:cxnSp>
        <p:nvCxnSpPr>
          <p:cNvPr id="15" name="Arrow phones to calibration"/>
          <p:cNvCxnSpPr/>
          <p:nvPr/>
        </p:nvCxnSpPr>
        <p:spPr>
          <a:xfrm>
            <a:off x="1691640" y="1988820"/>
            <a:ext cx="365760" cy="0"/>
          </a:xfrm>
          <a:prstGeom prst="straightConnector1">
            <a:avLst/>
          </a:prstGeom>
          <a:ln w="19050">
            <a:solidFill>
              <a:schemeClr val="accent4"/>
            </a:solidFill>
            <a:tailEnd type="triangle" w="med" len="med"/>
          </a:ln>
        </p:spPr>
      </p:cxnSp>
      <p:cxnSp>
        <p:nvCxnSpPr>
          <p:cNvPr id="16" name="Arrow calibration to association"/>
          <p:cNvCxnSpPr/>
          <p:nvPr/>
        </p:nvCxnSpPr>
        <p:spPr>
          <a:xfrm>
            <a:off x="3657600" y="1988820"/>
            <a:ext cx="228600" cy="0"/>
          </a:xfrm>
          <a:prstGeom prst="straightConnector1">
            <a:avLst/>
          </a:prstGeom>
          <a:ln w="19050">
            <a:solidFill>
              <a:schemeClr val="tx1"/>
            </a:solidFill>
            <a:tailEnd type="triangle" w="med" len="med"/>
          </a:ln>
        </p:spPr>
      </p:cxnSp>
      <p:cxnSp>
        <p:nvCxnSpPr>
          <p:cNvPr id="17" name="Arrow association to occlusion"/>
          <p:cNvCxnSpPr/>
          <p:nvPr/>
        </p:nvCxnSpPr>
        <p:spPr>
          <a:xfrm>
            <a:off x="5486400" y="1988820"/>
            <a:ext cx="228600" cy="0"/>
          </a:xfrm>
          <a:prstGeom prst="straightConnector1">
            <a:avLst/>
          </a:prstGeom>
          <a:ln w="19050">
            <a:solidFill>
              <a:schemeClr val="tx1"/>
            </a:solidFill>
            <a:tailEnd type="triangle" w="med" len="med"/>
          </a:ln>
        </p:spPr>
      </p:cxnSp>
      <p:cxnSp>
        <p:nvCxnSpPr>
          <p:cNvPr id="18" name="Arrow occlusion to outputs"/>
          <p:cNvCxnSpPr/>
          <p:nvPr/>
        </p:nvCxnSpPr>
        <p:spPr>
          <a:xfrm>
            <a:off x="7315200" y="1988820"/>
            <a:ext cx="411480" cy="0"/>
          </a:xfrm>
          <a:prstGeom prst="straightConnector1">
            <a:avLst/>
          </a:prstGeom>
          <a:ln w="19050">
            <a:solidFill>
              <a:schemeClr val="tx1"/>
            </a:solidFill>
            <a:tailEnd type="triangle" w="med" len="med"/>
          </a:ln>
        </p:spPr>
      </p:cxnSp>
      <p:cxnSp>
        <p:nvCxnSpPr>
          <p:cNvPr id="19" name="Arrow UWB to shared frame"/>
          <p:cNvCxnSpPr/>
          <p:nvPr/>
        </p:nvCxnSpPr>
        <p:spPr>
          <a:xfrm>
            <a:off x="1691640" y="3726180"/>
            <a:ext cx="365760" cy="0"/>
          </a:xfrm>
          <a:prstGeom prst="straightConnector1">
            <a:avLst/>
          </a:prstGeom>
          <a:ln w="19050">
            <a:solidFill>
              <a:schemeClr val="accent4"/>
            </a:solidFill>
            <a:tailEnd type="triangle" w="med" len="med"/>
          </a:ln>
        </p:spPr>
      </p:cxnSp>
      <p:cxnSp>
        <p:nvCxnSpPr>
          <p:cNvPr id="20" name="Arrow shared frame to calibration"/>
          <p:cNvCxnSpPr/>
          <p:nvPr/>
        </p:nvCxnSpPr>
        <p:spPr>
          <a:xfrm flipV="1">
            <a:off x="2857500" y="2514600"/>
            <a:ext cx="0" cy="777240"/>
          </a:xfrm>
          <a:prstGeom prst="straightConnector1">
            <a:avLst/>
          </a:prstGeom>
          <a:ln w="22225">
            <a:solidFill>
              <a:schemeClr val="accent2"/>
            </a:solidFill>
            <a:prstDash val="dash"/>
            <a:tailEnd type="triangle" w="med" len="med"/>
          </a:ln>
        </p:spPr>
      </p:cxnSp>
      <p:cxnSp>
        <p:nvCxnSpPr>
          <p:cNvPr id="21" name="Arrow shared frame to association"/>
          <p:cNvCxnSpPr/>
          <p:nvPr/>
        </p:nvCxnSpPr>
        <p:spPr>
          <a:xfrm flipV="1">
            <a:off x="4686300" y="2514600"/>
            <a:ext cx="0" cy="777240"/>
          </a:xfrm>
          <a:prstGeom prst="straightConnector1">
            <a:avLst/>
          </a:prstGeom>
          <a:ln w="22225">
            <a:solidFill>
              <a:schemeClr val="accent1"/>
            </a:solidFill>
            <a:tailEnd type="triangle" w="med" len="med"/>
          </a:ln>
        </p:spPr>
      </p:cxnSp>
      <p:cxnSp>
        <p:nvCxnSpPr>
          <p:cNvPr id="22" name="Arrow outputs to cloud"/>
          <p:cNvCxnSpPr/>
          <p:nvPr/>
        </p:nvCxnSpPr>
        <p:spPr>
          <a:xfrm>
            <a:off x="8252460" y="2514600"/>
            <a:ext cx="0" cy="777240"/>
          </a:xfrm>
          <a:prstGeom prst="straightConnector1">
            <a:avLst/>
          </a:prstGeom>
          <a:ln w="19050">
            <a:solidFill>
              <a:schemeClr val="accent4"/>
            </a:solidFill>
            <a:prstDash val="dash"/>
            <a:tailEnd type="triangle" w="med" len="med"/>
          </a:ln>
        </p:spPr>
      </p:cxnSp>
      <p:sp>
        <p:nvSpPr>
          <p:cNvPr id="23" name="Label once"/>
          <p:cNvSpPr txBox="1"/>
          <p:nvPr/>
        </p:nvSpPr>
        <p:spPr>
          <a:xfrm>
            <a:off x="2944368" y="2761488"/>
            <a:ext cx="822960" cy="274320"/>
          </a:xfrm>
          <a:prstGeom prst="rect">
            <a:avLst/>
          </a:prstGeom>
          <a:noFill/>
        </p:spPr>
        <p:txBody>
          <a:bodyPr wrap="square" lIns="0" tIns="0" rIns="0" bIns="0" rtlCol="0" anchor="ctr"/>
          <a:lstStyle/>
          <a:p>
            <a:pPr algn="l">
              <a:buNone/>
            </a:pPr>
            <a:r>
              <a:rPr lang="en-US" sz="1000" i="1" dirty="0">
                <a:solidFill>
                  <a:schemeClr val="accent4"/>
                </a:solidFill>
              </a:rPr>
              <a:t>once</a:t>
            </a:r>
          </a:p>
        </p:txBody>
      </p:sp>
      <p:sp>
        <p:nvSpPr>
          <p:cNvPr id="24" name="Label every frame"/>
          <p:cNvSpPr txBox="1"/>
          <p:nvPr/>
        </p:nvSpPr>
        <p:spPr>
          <a:xfrm>
            <a:off x="4773168" y="2761488"/>
            <a:ext cx="822960" cy="274320"/>
          </a:xfrm>
          <a:prstGeom prst="rect">
            <a:avLst/>
          </a:prstGeom>
          <a:noFill/>
        </p:spPr>
        <p:txBody>
          <a:bodyPr wrap="square" lIns="0" tIns="0" rIns="0" bIns="0" rtlCol="0" anchor="ctr"/>
          <a:lstStyle/>
          <a:p>
            <a:pPr algn="l">
              <a:buNone/>
            </a:pPr>
            <a:r>
              <a:rPr lang="en-US" sz="1000" i="1" dirty="0">
                <a:solidFill>
                  <a:schemeClr val="accent4"/>
                </a:solidFill>
              </a:rPr>
              <a:t>every frame</a:t>
            </a:r>
          </a:p>
        </p:txBody>
      </p:sp>
      <p:sp>
        <p:nvSpPr>
          <p:cNvPr id="25" name="Legend"/>
          <p:cNvSpPr txBox="1"/>
          <p:nvPr/>
        </p:nvSpPr>
        <p:spPr>
          <a:xfrm>
            <a:off x="365760" y="4389120"/>
            <a:ext cx="8412480" cy="256032"/>
          </a:xfrm>
          <a:prstGeom prst="rect">
            <a:avLst/>
          </a:prstGeom>
          <a:noFill/>
        </p:spPr>
        <p:txBody>
          <a:bodyPr wrap="square" lIns="0" tIns="0" rIns="0" bIns="0" rtlCol="0" anchor="ctr"/>
          <a:lstStyle/>
          <a:p>
            <a:pPr algn="l">
              <a:buNone/>
            </a:pPr>
            <a:r>
              <a:rPr lang="en-US" sz="1000" dirty="0">
                <a:solidFill>
                  <a:schemeClr val="accent4"/>
                </a:solidFill>
              </a:rPr>
              <a:t>Dashed amber: one-time setup per camera.   Solid: every frame.   Dashed grey: optional or comparison only.</a:t>
            </a:r>
          </a:p>
        </p:txBody>
      </p:sp>
    </p:spTree>
  </p:cSld>
  <p:clrMapOvr>
    <a:masterClrMapping/>
  </p:clrMapOvr>
</p:sld>
</file>

<file path=ppt/theme/theme1.xml><?xml version="1.0" encoding="utf-8"?>
<a:theme xmlns:a="http://schemas.openxmlformats.org/drawingml/2006/main" name="Pitch and Signal">
  <a:themeElements>
    <a:clrScheme name="Pitch and Signal">
      <a:dk1>
        <a:srgbClr val="14201B"/>
      </a:dk1>
      <a:lt1>
        <a:srgbClr val="FFFFFF"/>
      </a:lt1>
      <a:dk2>
        <a:srgbClr val="0E2A20"/>
      </a:dk2>
      <a:lt2>
        <a:srgbClr val="EEF4F0"/>
      </a:lt2>
      <a:accent1>
        <a:srgbClr val="1F7A4D"/>
      </a:accent1>
      <a:accent2>
        <a:srgbClr val="F5A524"/>
      </a:accent2>
      <a:accent3>
        <a:srgbClr val="D9433B"/>
      </a:accent3>
      <a:accent4>
        <a:srgbClr val="5B6B63"/>
      </a:accent4>
      <a:accent5>
        <a:srgbClr val="A7D8BC"/>
      </a:accent5>
      <a:accent6>
        <a:srgbClr val="3C8D6E"/>
      </a:accent6>
      <a:hlink>
        <a:srgbClr val="1F7A4D"/>
      </a:hlink>
      <a:folHlink>
        <a:srgbClr val="5B6B63"/>
      </a:folHlink>
    </a:clrScheme>
    <a:fontScheme name="Pitch and Sign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1056</Words>
  <Application>Microsoft Office PowerPoint</Application>
  <PresentationFormat>On-screen Show (16:9)</PresentationFormat>
  <Paragraphs>91</Paragraphs>
  <Slides>7</Slides>
  <Notes>7</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Pitch and Signal</vt:lpstr>
      <vt:lpstr>Names That Never Swap</vt:lpstr>
      <vt:lpstr>Trackers lose who is who</vt:lpstr>
      <vt:lpstr>UWB knows. Video doesn't.</vt:lpstr>
      <vt:lpstr>Players calibrate the cameras</vt:lpstr>
      <vt:lpstr>Video never leaves the phone</vt:lpstr>
      <vt:lpstr>What we will show live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Names That Never Swap</dc:title>
  <dc:subject>Term-project pitch: self-calibrating multi-camera UWB-to-video fusion on the edge</dc:subject>
  <dc:creator>PptxGenJS</dc:creator>
  <cp:lastModifiedBy>Jorich Loquero</cp:lastModifiedBy>
  <cp:revision>2</cp:revision>
  <dcterms:created xsi:type="dcterms:W3CDTF">2026-10-05T00:19:46Z</dcterms:created>
  <dcterms:modified xsi:type="dcterms:W3CDTF">2026-10-05T00:25:09Z</dcterms:modified>
</cp:coreProperties>
</file>